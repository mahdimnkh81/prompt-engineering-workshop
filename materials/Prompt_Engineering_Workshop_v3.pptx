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85" r:id="rId4"/>
    <p:sldId id="258" r:id="rId5"/>
    <p:sldId id="259" r:id="rId6"/>
    <p:sldId id="260" r:id="rId7"/>
    <p:sldId id="296" r:id="rId8"/>
    <p:sldId id="262" r:id="rId9"/>
    <p:sldId id="263" r:id="rId10"/>
    <p:sldId id="286" r:id="rId11"/>
    <p:sldId id="264" r:id="rId12"/>
    <p:sldId id="265" r:id="rId13"/>
    <p:sldId id="266" r:id="rId14"/>
    <p:sldId id="289" r:id="rId15"/>
    <p:sldId id="290" r:id="rId16"/>
    <p:sldId id="267" r:id="rId17"/>
    <p:sldId id="268" r:id="rId18"/>
    <p:sldId id="288" r:id="rId19"/>
    <p:sldId id="269" r:id="rId20"/>
    <p:sldId id="270" r:id="rId21"/>
    <p:sldId id="293" r:id="rId22"/>
    <p:sldId id="294" r:id="rId23"/>
    <p:sldId id="271" r:id="rId24"/>
    <p:sldId id="272" r:id="rId25"/>
    <p:sldId id="273" r:id="rId26"/>
    <p:sldId id="274" r:id="rId27"/>
    <p:sldId id="275" r:id="rId28"/>
    <p:sldId id="287" r:id="rId29"/>
    <p:sldId id="276" r:id="rId30"/>
    <p:sldId id="291" r:id="rId31"/>
    <p:sldId id="292" r:id="rId32"/>
    <p:sldId id="281" r:id="rId33"/>
    <p:sldId id="299" r:id="rId34"/>
    <p:sldId id="300" r:id="rId35"/>
    <p:sldId id="301" r:id="rId36"/>
    <p:sldId id="282" r:id="rId37"/>
    <p:sldId id="283" r:id="rId38"/>
    <p:sldId id="284"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196" autoAdjust="0"/>
  </p:normalViewPr>
  <p:slideViewPr>
    <p:cSldViewPr snapToGrid="0" snapToObjects="1">
      <p:cViewPr varScale="1">
        <p:scale>
          <a:sx n="81" d="100"/>
          <a:sy n="81" d="100"/>
        </p:scale>
        <p:origin x="725"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36D4FA-C6EB-479B-AD69-243C8B4BB426}" type="datetimeFigureOut">
              <a:rPr lang="en-US" smtClean="0"/>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3334BE-6928-41F9-BB12-6E03F3DCE038}" type="slidenum">
              <a:rPr lang="en-US" smtClean="0"/>
              <a:t>‹#›</a:t>
            </a:fld>
            <a:endParaRPr lang="en-US"/>
          </a:p>
        </p:txBody>
      </p:sp>
    </p:spTree>
    <p:extLst>
      <p:ext uri="{BB962C8B-B14F-4D97-AF65-F5344CB8AC3E}">
        <p14:creationId xmlns:p14="http://schemas.microsoft.com/office/powerpoint/2010/main" val="728322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sz="1200" b="1" i="0" kern="1200" dirty="0">
                <a:solidFill>
                  <a:schemeClr val="tx1"/>
                </a:solidFill>
                <a:effectLst/>
                <a:latin typeface="+mn-lt"/>
                <a:ea typeface="+mn-ea"/>
                <a:cs typeface="+mn-cs"/>
              </a:rPr>
              <a:t>دعای بدون سند:</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گفتنِ</a:t>
            </a:r>
            <a:r>
              <a:rPr lang="fa-IR" sz="1200" b="0" i="0" kern="1200" dirty="0">
                <a:solidFill>
                  <a:schemeClr val="tx1"/>
                </a:solidFill>
                <a:effectLst/>
                <a:latin typeface="+mn-lt"/>
                <a:ea typeface="+mn-ea"/>
                <a:cs typeface="+mn-cs"/>
              </a:rPr>
              <a:t> «من </a:t>
            </a:r>
            <a:r>
              <a:rPr lang="fa-IR" sz="1200" b="0" i="0" kern="1200" dirty="0" err="1">
                <a:solidFill>
                  <a:schemeClr val="tx1"/>
                </a:solidFill>
                <a:effectLst/>
                <a:latin typeface="+mn-lt"/>
                <a:ea typeface="+mn-ea"/>
                <a:cs typeface="+mn-cs"/>
              </a:rPr>
              <a:t>باهوشم</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نشانه‌ی</a:t>
            </a:r>
            <a:r>
              <a:rPr lang="fa-IR" sz="1200" b="0" i="0" kern="1200" dirty="0">
                <a:solidFill>
                  <a:schemeClr val="tx1"/>
                </a:solidFill>
                <a:effectLst/>
                <a:latin typeface="+mn-lt"/>
                <a:ea typeface="+mn-ea"/>
                <a:cs typeface="+mn-cs"/>
              </a:rPr>
              <a:t> غرور است، نه استعداد. اساتید به دنبال </a:t>
            </a:r>
            <a:r>
              <a:rPr lang="fa-IR" sz="1200" b="0" i="0" kern="1200" dirty="0" err="1">
                <a:solidFill>
                  <a:schemeClr val="tx1"/>
                </a:solidFill>
                <a:effectLst/>
                <a:latin typeface="+mn-lt"/>
                <a:ea typeface="+mn-ea"/>
                <a:cs typeface="+mn-cs"/>
              </a:rPr>
              <a:t>فکت</a:t>
            </a:r>
            <a:r>
              <a:rPr lang="fa-IR" sz="1200" b="0" i="0" kern="1200" dirty="0">
                <a:solidFill>
                  <a:schemeClr val="tx1"/>
                </a:solidFill>
                <a:effectLst/>
                <a:latin typeface="+mn-lt"/>
                <a:ea typeface="+mn-ea"/>
                <a:cs typeface="+mn-cs"/>
              </a:rPr>
              <a:t> و رزومه هستند، نه </a:t>
            </a:r>
            <a:r>
              <a:rPr lang="fa-IR" sz="1200" b="0" i="0" kern="1200" dirty="0" err="1">
                <a:solidFill>
                  <a:schemeClr val="tx1"/>
                </a:solidFill>
                <a:effectLst/>
                <a:latin typeface="+mn-lt"/>
                <a:ea typeface="+mn-ea"/>
                <a:cs typeface="+mn-cs"/>
              </a:rPr>
              <a:t>صفت‌های</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خودستایانه</a:t>
            </a:r>
            <a:r>
              <a:rPr lang="fa-IR" sz="1200" b="0" i="0" kern="1200" dirty="0">
                <a:solidFill>
                  <a:schemeClr val="tx1"/>
                </a:solidFill>
                <a:effectLst/>
                <a:latin typeface="+mn-lt"/>
                <a:ea typeface="+mn-ea"/>
                <a:cs typeface="+mn-cs"/>
              </a:rPr>
              <a:t>.</a:t>
            </a:r>
          </a:p>
          <a:p>
            <a:r>
              <a:rPr lang="fa-IR" sz="1200" b="1" i="0" kern="1200" dirty="0" err="1">
                <a:solidFill>
                  <a:schemeClr val="tx1"/>
                </a:solidFill>
                <a:effectLst/>
                <a:latin typeface="+mn-lt"/>
                <a:ea typeface="+mn-ea"/>
                <a:cs typeface="+mn-cs"/>
              </a:rPr>
              <a:t>خودمحوری</a:t>
            </a:r>
            <a:r>
              <a:rPr lang="fa-IR" sz="1200" b="1" i="0" kern="1200" dirty="0">
                <a:solidFill>
                  <a:schemeClr val="tx1"/>
                </a:solidFill>
                <a:effectLst/>
                <a:latin typeface="+mn-lt"/>
                <a:ea typeface="+mn-ea"/>
                <a:cs typeface="+mn-cs"/>
              </a:rPr>
              <a:t>:</a:t>
            </a:r>
            <a:r>
              <a:rPr lang="fa-IR" sz="1200" b="0" i="0" kern="1200" dirty="0">
                <a:solidFill>
                  <a:schemeClr val="tx1"/>
                </a:solidFill>
                <a:effectLst/>
                <a:latin typeface="+mn-lt"/>
                <a:ea typeface="+mn-ea"/>
                <a:cs typeface="+mn-cs"/>
              </a:rPr>
              <a:t> دانشجو فقط در مورد نیاز خودش صحبت کرده و اصلاً اشاره نکرده که چرا این </a:t>
            </a:r>
            <a:r>
              <a:rPr lang="fa-IR" sz="1200" b="0" i="0" kern="1200" dirty="0" err="1">
                <a:solidFill>
                  <a:schemeClr val="tx1"/>
                </a:solidFill>
                <a:effectLst/>
                <a:latin typeface="+mn-lt"/>
                <a:ea typeface="+mn-ea"/>
                <a:cs typeface="+mn-cs"/>
              </a:rPr>
              <a:t>استادِ</a:t>
            </a:r>
            <a:r>
              <a:rPr lang="fa-IR" sz="1200" b="0" i="0" kern="1200" dirty="0">
                <a:solidFill>
                  <a:schemeClr val="tx1"/>
                </a:solidFill>
                <a:effectLst/>
                <a:latin typeface="+mn-lt"/>
                <a:ea typeface="+mn-ea"/>
                <a:cs typeface="+mn-cs"/>
              </a:rPr>
              <a:t> خاص را انتخاب کرده است.</a:t>
            </a:r>
          </a:p>
          <a:p>
            <a:r>
              <a:rPr lang="fa-IR" sz="1200" b="1" i="0" kern="1200" dirty="0" err="1">
                <a:solidFill>
                  <a:schemeClr val="tx1"/>
                </a:solidFill>
                <a:effectLst/>
                <a:latin typeface="+mn-lt"/>
                <a:ea typeface="+mn-ea"/>
                <a:cs typeface="+mn-cs"/>
              </a:rPr>
              <a:t>ایمیلِ</a:t>
            </a:r>
            <a:r>
              <a:rPr lang="fa-IR" sz="1200" b="1" i="0" kern="1200" dirty="0">
                <a:solidFill>
                  <a:schemeClr val="tx1"/>
                </a:solidFill>
                <a:effectLst/>
                <a:latin typeface="+mn-lt"/>
                <a:ea typeface="+mn-ea"/>
                <a:cs typeface="+mn-cs"/>
              </a:rPr>
              <a:t> کپی-</a:t>
            </a:r>
            <a:r>
              <a:rPr lang="fa-IR" sz="1200" b="1" i="0" kern="1200" dirty="0" err="1">
                <a:solidFill>
                  <a:schemeClr val="tx1"/>
                </a:solidFill>
                <a:effectLst/>
                <a:latin typeface="+mn-lt"/>
                <a:ea typeface="+mn-ea"/>
                <a:cs typeface="+mn-cs"/>
              </a:rPr>
              <a:t>پیستی</a:t>
            </a:r>
            <a:r>
              <a:rPr lang="fa-IR" sz="1200" b="1"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Generic):</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این ایمیل را </a:t>
            </a:r>
            <a:r>
              <a:rPr lang="fa-IR" sz="1200" b="0" i="0" kern="1200" dirty="0" err="1">
                <a:solidFill>
                  <a:schemeClr val="tx1"/>
                </a:solidFill>
                <a:effectLst/>
                <a:latin typeface="+mn-lt"/>
                <a:ea typeface="+mn-ea"/>
                <a:cs typeface="+mn-cs"/>
              </a:rPr>
              <a:t>می‌شود</a:t>
            </a:r>
            <a:r>
              <a:rPr lang="fa-IR" sz="1200" b="0" i="0" kern="1200" dirty="0">
                <a:solidFill>
                  <a:schemeClr val="tx1"/>
                </a:solidFill>
                <a:effectLst/>
                <a:latin typeface="+mn-lt"/>
                <a:ea typeface="+mn-ea"/>
                <a:cs typeface="+mn-cs"/>
              </a:rPr>
              <a:t> برای ۱۰۰ استاد مختلف فرستاد. اساتید روزانه </a:t>
            </a:r>
            <a:r>
              <a:rPr lang="fa-IR" sz="1200" b="0" i="0" kern="1200" dirty="0" err="1">
                <a:solidFill>
                  <a:schemeClr val="tx1"/>
                </a:solidFill>
                <a:effectLst/>
                <a:latin typeface="+mn-lt"/>
                <a:ea typeface="+mn-ea"/>
                <a:cs typeface="+mn-cs"/>
              </a:rPr>
              <a:t>ده‌ها</a:t>
            </a:r>
            <a:r>
              <a:rPr lang="fa-IR" sz="1200" b="0" i="0" kern="1200" dirty="0">
                <a:solidFill>
                  <a:schemeClr val="tx1"/>
                </a:solidFill>
                <a:effectLst/>
                <a:latin typeface="+mn-lt"/>
                <a:ea typeface="+mn-ea"/>
                <a:cs typeface="+mn-cs"/>
              </a:rPr>
              <a:t> ایمیل مشابه دریافت و نخوانده حذف </a:t>
            </a:r>
            <a:r>
              <a:rPr lang="fa-IR" sz="1200" b="0" i="0" kern="1200" dirty="0" err="1">
                <a:solidFill>
                  <a:schemeClr val="tx1"/>
                </a:solidFill>
                <a:effectLst/>
                <a:latin typeface="+mn-lt"/>
                <a:ea typeface="+mn-ea"/>
                <a:cs typeface="+mn-cs"/>
              </a:rPr>
              <a:t>می‌کنن</a:t>
            </a:r>
            <a:endParaRPr lang="fa-IR"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3</a:t>
            </a:fld>
            <a:endParaRPr lang="en-US"/>
          </a:p>
        </p:txBody>
      </p:sp>
    </p:spTree>
    <p:extLst>
      <p:ext uri="{BB962C8B-B14F-4D97-AF65-F5344CB8AC3E}">
        <p14:creationId xmlns:p14="http://schemas.microsoft.com/office/powerpoint/2010/main" val="3442723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sz="1200" b="1" i="0" kern="1200" dirty="0">
                <a:solidFill>
                  <a:schemeClr val="tx1"/>
                </a:solidFill>
                <a:effectLst/>
                <a:latin typeface="+mn-lt"/>
                <a:ea typeface="+mn-ea"/>
                <a:cs typeface="+mn-cs"/>
              </a:rPr>
              <a:t>ل </a:t>
            </a:r>
            <a:r>
              <a:rPr lang="en-US" sz="1200" b="1" i="0" kern="1200" dirty="0">
                <a:solidFill>
                  <a:schemeClr val="tx1"/>
                </a:solidFill>
                <a:effectLst/>
                <a:latin typeface="+mn-lt"/>
                <a:ea typeface="+mn-ea"/>
                <a:cs typeface="+mn-cs"/>
              </a:rPr>
              <a:t>Show, Don't Tell:</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به جای اینکه بگوید «من </a:t>
            </a:r>
            <a:r>
              <a:rPr lang="fa-IR" sz="1200" b="0" i="0" kern="1200" dirty="0" err="1">
                <a:solidFill>
                  <a:schemeClr val="tx1"/>
                </a:solidFill>
                <a:effectLst/>
                <a:latin typeface="+mn-lt"/>
                <a:ea typeface="+mn-ea"/>
                <a:cs typeface="+mn-cs"/>
              </a:rPr>
              <a:t>مستعدم</a:t>
            </a:r>
            <a:r>
              <a:rPr lang="fa-IR" sz="1200" b="0" i="0" kern="1200" dirty="0">
                <a:solidFill>
                  <a:schemeClr val="tx1"/>
                </a:solidFill>
                <a:effectLst/>
                <a:latin typeface="+mn-lt"/>
                <a:ea typeface="+mn-ea"/>
                <a:cs typeface="+mn-cs"/>
              </a:rPr>
              <a:t>»، معدل بالا، </a:t>
            </a:r>
            <a:r>
              <a:rPr lang="fa-IR" sz="1200" b="0" i="0" kern="1200" dirty="0" err="1">
                <a:solidFill>
                  <a:schemeClr val="tx1"/>
                </a:solidFill>
                <a:effectLst/>
                <a:latin typeface="+mn-lt"/>
                <a:ea typeface="+mn-ea"/>
                <a:cs typeface="+mn-cs"/>
              </a:rPr>
              <a:t>مهارت‌های</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برنامه‌نویسی</a:t>
            </a:r>
            <a:r>
              <a:rPr lang="fa-IR" sz="1200" b="0" i="0" kern="1200" dirty="0">
                <a:solidFill>
                  <a:schemeClr val="tx1"/>
                </a:solidFill>
                <a:effectLst/>
                <a:latin typeface="+mn-lt"/>
                <a:ea typeface="+mn-ea"/>
                <a:cs typeface="+mn-cs"/>
              </a:rPr>
              <a:t> و </a:t>
            </a:r>
            <a:r>
              <a:rPr lang="fa-IR" sz="1200" b="0" i="0" kern="1200" dirty="0" err="1">
                <a:solidFill>
                  <a:schemeClr val="tx1"/>
                </a:solidFill>
                <a:effectLst/>
                <a:latin typeface="+mn-lt"/>
                <a:ea typeface="+mn-ea"/>
                <a:cs typeface="+mn-cs"/>
              </a:rPr>
              <a:t>مقاله‌اش</a:t>
            </a:r>
            <a:r>
              <a:rPr lang="fa-IR" sz="1200" b="0" i="0" kern="1200" dirty="0">
                <a:solidFill>
                  <a:schemeClr val="tx1"/>
                </a:solidFill>
                <a:effectLst/>
                <a:latin typeface="+mn-lt"/>
                <a:ea typeface="+mn-ea"/>
                <a:cs typeface="+mn-cs"/>
              </a:rPr>
              <a:t> را به عنوان </a:t>
            </a:r>
            <a:r>
              <a:rPr lang="fa-IR" sz="1200" b="0" i="0" kern="1200" dirty="0" err="1">
                <a:solidFill>
                  <a:schemeClr val="tx1"/>
                </a:solidFill>
                <a:effectLst/>
                <a:latin typeface="+mn-lt"/>
                <a:ea typeface="+mn-ea"/>
                <a:cs typeface="+mn-cs"/>
              </a:rPr>
              <a:t>اثباتِ</a:t>
            </a:r>
            <a:r>
              <a:rPr lang="fa-IR" sz="1200" b="0" i="0" kern="1200" dirty="0">
                <a:solidFill>
                  <a:schemeClr val="tx1"/>
                </a:solidFill>
                <a:effectLst/>
                <a:latin typeface="+mn-lt"/>
                <a:ea typeface="+mn-ea"/>
                <a:cs typeface="+mn-cs"/>
              </a:rPr>
              <a:t> استعدادش ارائه کرد.</a:t>
            </a:r>
          </a:p>
          <a:p>
            <a:pPr algn="r" rtl="1"/>
            <a:r>
              <a:rPr lang="fa-IR" sz="1200" b="1" i="0" kern="1200" dirty="0" err="1">
                <a:solidFill>
                  <a:schemeClr val="tx1"/>
                </a:solidFill>
                <a:effectLst/>
                <a:latin typeface="+mn-lt"/>
                <a:ea typeface="+mn-ea"/>
                <a:cs typeface="+mn-cs"/>
              </a:rPr>
              <a:t>شخصی‌سازی</a:t>
            </a:r>
            <a:r>
              <a:rPr lang="fa-IR" sz="1200" b="1" i="0" kern="1200" dirty="0">
                <a:solidFill>
                  <a:schemeClr val="tx1"/>
                </a:solidFill>
                <a:effectLst/>
                <a:latin typeface="+mn-lt"/>
                <a:ea typeface="+mn-ea"/>
                <a:cs typeface="+mn-cs"/>
              </a:rPr>
              <a:t> عمیق (</a:t>
            </a:r>
            <a:r>
              <a:rPr lang="en-US" sz="1200" b="1" i="0" kern="1200" dirty="0">
                <a:solidFill>
                  <a:schemeClr val="tx1"/>
                </a:solidFill>
                <a:effectLst/>
                <a:latin typeface="+mn-lt"/>
                <a:ea typeface="+mn-ea"/>
                <a:cs typeface="+mn-cs"/>
              </a:rPr>
              <a:t>Hyper-personalized):</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در همان خط اول ثابت کرد که </a:t>
            </a:r>
            <a:r>
              <a:rPr lang="fa-IR" sz="1200" b="0" i="0" u="sng" kern="1200" dirty="0" err="1">
                <a:solidFill>
                  <a:srgbClr val="FF0000"/>
                </a:solidFill>
                <a:effectLst/>
                <a:latin typeface="+mn-lt"/>
                <a:ea typeface="+mn-ea"/>
                <a:cs typeface="+mn-cs"/>
              </a:rPr>
              <a:t>مقاله‌ی</a:t>
            </a:r>
            <a:r>
              <a:rPr lang="fa-IR" sz="1200" b="0" i="0" u="sng" kern="1200" dirty="0">
                <a:solidFill>
                  <a:srgbClr val="FF0000"/>
                </a:solidFill>
                <a:effectLst/>
                <a:latin typeface="+mn-lt"/>
                <a:ea typeface="+mn-ea"/>
                <a:cs typeface="+mn-cs"/>
              </a:rPr>
              <a:t> اخیر استاد را خوانده است </a:t>
            </a:r>
            <a:r>
              <a:rPr lang="fa-IR" sz="1200" b="0" i="0" kern="1200" dirty="0">
                <a:solidFill>
                  <a:schemeClr val="tx1"/>
                </a:solidFill>
                <a:effectLst/>
                <a:latin typeface="+mn-lt"/>
                <a:ea typeface="+mn-ea"/>
                <a:cs typeface="+mn-cs"/>
              </a:rPr>
              <a:t>(بزرگترین نقطه ضعف اساتید، توجه به کارهای </a:t>
            </a:r>
            <a:r>
              <a:rPr lang="fa-IR" sz="1200" b="0" i="0" kern="1200" dirty="0" err="1">
                <a:solidFill>
                  <a:schemeClr val="tx1"/>
                </a:solidFill>
                <a:effectLst/>
                <a:latin typeface="+mn-lt"/>
                <a:ea typeface="+mn-ea"/>
                <a:cs typeface="+mn-cs"/>
              </a:rPr>
              <a:t>پژوهشیِ</a:t>
            </a:r>
            <a:r>
              <a:rPr lang="fa-IR" sz="1200" b="0" i="0" kern="1200" dirty="0">
                <a:solidFill>
                  <a:schemeClr val="tx1"/>
                </a:solidFill>
                <a:effectLst/>
                <a:latin typeface="+mn-lt"/>
                <a:ea typeface="+mn-ea"/>
                <a:cs typeface="+mn-cs"/>
              </a:rPr>
              <a:t> اخیرشان است).</a:t>
            </a:r>
          </a:p>
          <a:p>
            <a:pPr algn="r" rtl="1"/>
            <a:r>
              <a:rPr lang="fa-IR" sz="1200" b="1" i="0" kern="1200" dirty="0" err="1">
                <a:solidFill>
                  <a:schemeClr val="tx1"/>
                </a:solidFill>
                <a:effectLst/>
                <a:latin typeface="+mn-lt"/>
                <a:ea typeface="+mn-ea"/>
                <a:cs typeface="+mn-cs"/>
              </a:rPr>
              <a:t>ارزش‌آفرینی</a:t>
            </a:r>
            <a:r>
              <a:rPr lang="fa-IR" sz="1200" b="1" i="0" kern="1200" dirty="0">
                <a:solidFill>
                  <a:schemeClr val="tx1"/>
                </a:solidFill>
                <a:effectLst/>
                <a:latin typeface="+mn-lt"/>
                <a:ea typeface="+mn-ea"/>
                <a:cs typeface="+mn-cs"/>
              </a:rPr>
              <a:t>:</a:t>
            </a:r>
            <a:r>
              <a:rPr lang="fa-IR" sz="1200" b="0" i="0" kern="1200" dirty="0">
                <a:solidFill>
                  <a:schemeClr val="tx1"/>
                </a:solidFill>
                <a:effectLst/>
                <a:latin typeface="+mn-lt"/>
                <a:ea typeface="+mn-ea"/>
                <a:cs typeface="+mn-cs"/>
              </a:rPr>
              <a:t> نشان داد که </a:t>
            </a:r>
            <a:r>
              <a:rPr lang="fa-IR" sz="1200" b="0" i="0" kern="1200" dirty="0" err="1">
                <a:solidFill>
                  <a:schemeClr val="tx1"/>
                </a:solidFill>
                <a:effectLst/>
                <a:latin typeface="+mn-lt"/>
                <a:ea typeface="+mn-ea"/>
                <a:cs typeface="+mn-cs"/>
              </a:rPr>
              <a:t>مهارت‌هایش</a:t>
            </a:r>
            <a:r>
              <a:rPr lang="fa-IR"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PyTorch</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و </a:t>
            </a:r>
            <a:r>
              <a:rPr lang="en-US" sz="1200" b="0" i="0" u="sng" kern="1200" dirty="0">
                <a:solidFill>
                  <a:schemeClr val="tx1"/>
                </a:solidFill>
                <a:effectLst/>
                <a:latin typeface="+mn-lt"/>
                <a:ea typeface="+mn-ea"/>
                <a:cs typeface="+mn-cs"/>
              </a:rPr>
              <a:t>Federated Learning) </a:t>
            </a:r>
            <a:r>
              <a:rPr lang="fa-IR" sz="1200" b="0" i="0" u="sng" kern="1200" dirty="0">
                <a:solidFill>
                  <a:schemeClr val="tx1"/>
                </a:solidFill>
                <a:effectLst/>
                <a:latin typeface="+mn-lt"/>
                <a:ea typeface="+mn-ea"/>
                <a:cs typeface="+mn-cs"/>
              </a:rPr>
              <a:t>چطور </a:t>
            </a:r>
            <a:r>
              <a:rPr lang="fa-IR" sz="1200" b="0" i="0" u="sng" kern="1200" dirty="0" err="1">
                <a:solidFill>
                  <a:schemeClr val="tx1"/>
                </a:solidFill>
                <a:effectLst/>
                <a:latin typeface="+mn-lt"/>
                <a:ea typeface="+mn-ea"/>
                <a:cs typeface="+mn-cs"/>
              </a:rPr>
              <a:t>می‌تواند</a:t>
            </a:r>
            <a:r>
              <a:rPr lang="fa-IR" sz="1200" b="0" i="0" u="sng" kern="1200" dirty="0">
                <a:solidFill>
                  <a:schemeClr val="tx1"/>
                </a:solidFill>
                <a:effectLst/>
                <a:latin typeface="+mn-lt"/>
                <a:ea typeface="+mn-ea"/>
                <a:cs typeface="+mn-cs"/>
              </a:rPr>
              <a:t> به </a:t>
            </a:r>
            <a:r>
              <a:rPr lang="fa-IR" sz="1200" b="0" i="0" u="sng" kern="1200" dirty="0" err="1">
                <a:solidFill>
                  <a:schemeClr val="tx1"/>
                </a:solidFill>
                <a:effectLst/>
                <a:latin typeface="+mn-lt"/>
                <a:ea typeface="+mn-ea"/>
                <a:cs typeface="+mn-cs"/>
              </a:rPr>
              <a:t>پروژه‌های</a:t>
            </a:r>
            <a:r>
              <a:rPr lang="fa-IR" sz="1200" b="0" i="0" u="sng" kern="1200" dirty="0">
                <a:solidFill>
                  <a:schemeClr val="tx1"/>
                </a:solidFill>
                <a:effectLst/>
                <a:latin typeface="+mn-lt"/>
                <a:ea typeface="+mn-ea"/>
                <a:cs typeface="+mn-cs"/>
              </a:rPr>
              <a:t> </a:t>
            </a:r>
            <a:r>
              <a:rPr lang="fa-IR" sz="1200" b="0" i="0" u="sng" kern="1200" dirty="0" err="1">
                <a:solidFill>
                  <a:schemeClr val="tx1"/>
                </a:solidFill>
                <a:effectLst/>
                <a:latin typeface="+mn-lt"/>
                <a:ea typeface="+mn-ea"/>
                <a:cs typeface="+mn-cs"/>
              </a:rPr>
              <a:t>فعلیِ</a:t>
            </a:r>
            <a:r>
              <a:rPr lang="fa-IR" sz="1200" b="0" i="0" u="sng" kern="1200" dirty="0">
                <a:solidFill>
                  <a:schemeClr val="tx1"/>
                </a:solidFill>
                <a:effectLst/>
                <a:latin typeface="+mn-lt"/>
                <a:ea typeface="+mn-ea"/>
                <a:cs typeface="+mn-cs"/>
              </a:rPr>
              <a:t> استاد کمک کند</a:t>
            </a:r>
            <a:r>
              <a:rPr lang="fa-IR" sz="1200" b="0" i="0" kern="1200" dirty="0">
                <a:solidFill>
                  <a:schemeClr val="tx1"/>
                </a:solidFill>
                <a:effectLst/>
                <a:latin typeface="+mn-lt"/>
                <a:ea typeface="+mn-ea"/>
                <a:cs typeface="+mn-cs"/>
              </a:rPr>
              <a:t>. او نیامده فقط چیزی بگیرد، بلکه </a:t>
            </a:r>
            <a:r>
              <a:rPr lang="fa-IR" sz="1200" b="0" i="0" kern="1200" dirty="0" err="1">
                <a:solidFill>
                  <a:schemeClr val="tx1"/>
                </a:solidFill>
                <a:effectLst/>
                <a:latin typeface="+mn-lt"/>
                <a:ea typeface="+mn-ea"/>
                <a:cs typeface="+mn-cs"/>
              </a:rPr>
              <a:t>می‌خواهد</a:t>
            </a:r>
            <a:r>
              <a:rPr lang="fa-IR" sz="1200" b="0" i="0" kern="1200" dirty="0">
                <a:solidFill>
                  <a:schemeClr val="tx1"/>
                </a:solidFill>
                <a:effectLst/>
                <a:latin typeface="+mn-lt"/>
                <a:ea typeface="+mn-ea"/>
                <a:cs typeface="+mn-cs"/>
              </a:rPr>
              <a:t> باری از دوش استاد بردارد.</a:t>
            </a:r>
          </a:p>
          <a:p>
            <a:pPr algn="r" rtl="1"/>
            <a:r>
              <a:rPr lang="fa-IR" sz="1200" b="1" i="0" kern="1200" dirty="0" err="1">
                <a:solidFill>
                  <a:schemeClr val="tx1"/>
                </a:solidFill>
                <a:effectLst/>
                <a:latin typeface="+mn-lt"/>
                <a:ea typeface="+mn-ea"/>
                <a:cs typeface="+mn-cs"/>
              </a:rPr>
              <a:t>درخواستِ</a:t>
            </a:r>
            <a:r>
              <a:rPr lang="fa-IR" sz="1200" b="1" i="0" kern="1200" dirty="0">
                <a:solidFill>
                  <a:schemeClr val="tx1"/>
                </a:solidFill>
                <a:effectLst/>
                <a:latin typeface="+mn-lt"/>
                <a:ea typeface="+mn-ea"/>
                <a:cs typeface="+mn-cs"/>
              </a:rPr>
              <a:t> </a:t>
            </a:r>
            <a:r>
              <a:rPr lang="fa-IR" sz="1200" b="1" i="0" kern="1200" dirty="0" err="1">
                <a:solidFill>
                  <a:schemeClr val="tx1"/>
                </a:solidFill>
                <a:effectLst/>
                <a:latin typeface="+mn-lt"/>
                <a:ea typeface="+mn-ea"/>
                <a:cs typeface="+mn-cs"/>
              </a:rPr>
              <a:t>کم‌هزینه</a:t>
            </a:r>
            <a:r>
              <a:rPr lang="fa-IR" sz="1200" b="1"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به جای اینکه مستقیماً بپرسد «استاد من </a:t>
            </a:r>
            <a:r>
              <a:rPr lang="fa-IR" sz="1200" b="0" i="0" kern="1200" dirty="0" err="1">
                <a:solidFill>
                  <a:schemeClr val="tx1"/>
                </a:solidFill>
                <a:effectLst/>
                <a:latin typeface="+mn-lt"/>
                <a:ea typeface="+mn-ea"/>
                <a:cs typeface="+mn-cs"/>
              </a:rPr>
              <a:t>می‌شوید</a:t>
            </a:r>
            <a:r>
              <a:rPr lang="fa-IR" sz="1200" b="0" i="0" kern="1200" dirty="0">
                <a:solidFill>
                  <a:schemeClr val="tx1"/>
                </a:solidFill>
                <a:effectLst/>
                <a:latin typeface="+mn-lt"/>
                <a:ea typeface="+mn-ea"/>
                <a:cs typeface="+mn-cs"/>
              </a:rPr>
              <a:t>؟» (که پاسخ دادن به آن سخت است)، فقط درخواست ۱۵ دقیقه گپ کوتاه کرده که رد کردنش بسیار دشوارتر است.</a:t>
            </a:r>
          </a:p>
          <a:p>
            <a:pPr algn="r" rtl="1"/>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pPr algn="r" rtl="1"/>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4</a:t>
            </a:fld>
            <a:endParaRPr lang="en-US"/>
          </a:p>
        </p:txBody>
      </p:sp>
    </p:spTree>
    <p:extLst>
      <p:ext uri="{BB962C8B-B14F-4D97-AF65-F5344CB8AC3E}">
        <p14:creationId xmlns:p14="http://schemas.microsoft.com/office/powerpoint/2010/main" val="4284889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سه روز </a:t>
            </a:r>
            <a:r>
              <a:rPr lang="fa-IR" dirty="0" err="1"/>
              <a:t>ازمایشی</a:t>
            </a:r>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5</a:t>
            </a:fld>
            <a:endParaRPr lang="en-US"/>
          </a:p>
        </p:txBody>
      </p:sp>
    </p:spTree>
    <p:extLst>
      <p:ext uri="{BB962C8B-B14F-4D97-AF65-F5344CB8AC3E}">
        <p14:creationId xmlns:p14="http://schemas.microsoft.com/office/powerpoint/2010/main" val="836117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اگر حافظه نداره پس چجوری اسم ما و ویژگی های ما رو میدونه؟</a:t>
            </a:r>
          </a:p>
          <a:p>
            <a:r>
              <a:rPr lang="pl-PL" dirty="0">
                <a:effectLst/>
              </a:rPr>
              <a:t>P</a:t>
            </a:r>
            <a:r>
              <a:rPr lang="pl-PL" dirty="0"/>
              <a:t>(</a:t>
            </a:r>
            <a:r>
              <a:rPr lang="pl-PL" dirty="0">
                <a:effectLst/>
              </a:rPr>
              <a:t>wt</a:t>
            </a:r>
            <a:r>
              <a:rPr lang="pl-PL" dirty="0"/>
              <a:t>​∣</a:t>
            </a:r>
            <a:r>
              <a:rPr lang="pl-PL" dirty="0">
                <a:effectLst/>
              </a:rPr>
              <a:t>w1</a:t>
            </a:r>
            <a:r>
              <a:rPr lang="pl-PL" dirty="0"/>
              <a:t>​,</a:t>
            </a:r>
            <a:r>
              <a:rPr lang="pl-PL" dirty="0">
                <a:effectLst/>
              </a:rPr>
              <a:t>w2</a:t>
            </a:r>
            <a:r>
              <a:rPr lang="pl-PL" dirty="0"/>
              <a:t>​,…,</a:t>
            </a:r>
            <a:r>
              <a:rPr lang="pl-PL" dirty="0">
                <a:effectLst/>
              </a:rPr>
              <a:t>wt−1</a:t>
            </a:r>
            <a:r>
              <a:rPr lang="pl-PL" dirty="0"/>
              <a:t>​)</a:t>
            </a:r>
            <a:endParaRPr lang="fa-IR" dirty="0"/>
          </a:p>
          <a:p>
            <a:r>
              <a:rPr lang="fa-IR" dirty="0"/>
              <a:t>علت پدیده  </a:t>
            </a:r>
            <a:r>
              <a:rPr lang="en-US" dirty="0"/>
              <a:t>Hallucination</a:t>
            </a:r>
            <a:endParaRPr lang="fa-IR" dirty="0"/>
          </a:p>
          <a:p>
            <a:r>
              <a:rPr lang="fa-IR" dirty="0"/>
              <a:t>خواجه نصیرالدین همدانی</a:t>
            </a:r>
          </a:p>
          <a:p>
            <a:r>
              <a:rPr lang="fa-IR" dirty="0"/>
              <a:t>خواجه نصیرالدین چراغ دهلی</a:t>
            </a:r>
          </a:p>
          <a:p>
            <a:endParaRPr lang="fa-IR" dirty="0"/>
          </a:p>
          <a:p>
            <a:r>
              <a:rPr lang="fa-IR" dirty="0"/>
              <a:t>فرآیند </a:t>
            </a:r>
          </a:p>
          <a:p>
            <a:pPr rtl="1"/>
            <a:endParaRPr lang="fa-IR" dirty="0"/>
          </a:p>
          <a:p>
            <a:pPr rtl="1"/>
            <a:r>
              <a:rPr lang="fa-IR" dirty="0"/>
              <a:t>معماری </a:t>
            </a:r>
            <a:r>
              <a:rPr lang="fa-IR" dirty="0" err="1"/>
              <a:t>ترنسفورمر</a:t>
            </a:r>
            <a:r>
              <a:rPr lang="fa-IR" dirty="0"/>
              <a:t> :</a:t>
            </a:r>
          </a:p>
          <a:p>
            <a:pPr rtl="1"/>
            <a:r>
              <a:rPr lang="fa-IR" dirty="0" err="1"/>
              <a:t>جای‌گذاری</a:t>
            </a:r>
            <a:r>
              <a:rPr lang="fa-IR" dirty="0"/>
              <a:t> (</a:t>
            </a:r>
            <a:r>
              <a:rPr lang="en-US" dirty="0"/>
              <a:t>Embedding + Positional Encoding)</a:t>
            </a:r>
            <a:endParaRPr lang="fa-IR" dirty="0"/>
          </a:p>
          <a:p>
            <a:pPr marL="0" marR="0" lvl="0" indent="0" algn="l" defTabSz="914400" rtl="1" eaLnBrk="1" fontAlgn="auto" latinLnBrk="0" hangingPunct="1">
              <a:lnSpc>
                <a:spcPct val="100000"/>
              </a:lnSpc>
              <a:spcBef>
                <a:spcPts val="0"/>
              </a:spcBef>
              <a:spcAft>
                <a:spcPts val="0"/>
              </a:spcAft>
              <a:buClrTx/>
              <a:buSzTx/>
              <a:buFontTx/>
              <a:buNone/>
              <a:tabLst/>
              <a:defRPr/>
            </a:pPr>
            <a:r>
              <a:rPr lang="fa-IR" dirty="0"/>
              <a:t>«علی سگ را زد» با «سگ علی را زد» کاملاً فرق دارد!</a:t>
            </a:r>
          </a:p>
          <a:p>
            <a:pPr marL="0" marR="0" lvl="0" indent="0" algn="l" defTabSz="914400" rtl="1" eaLnBrk="1" fontAlgn="auto" latinLnBrk="0" hangingPunct="1">
              <a:lnSpc>
                <a:spcPct val="100000"/>
              </a:lnSpc>
              <a:spcBef>
                <a:spcPts val="0"/>
              </a:spcBef>
              <a:spcAft>
                <a:spcPts val="0"/>
              </a:spcAft>
              <a:buClrTx/>
              <a:buSzTx/>
              <a:buFontTx/>
              <a:buNone/>
              <a:tabLst/>
              <a:defRPr/>
            </a:pPr>
            <a:endParaRPr lang="fa-IR" b="1" dirty="0"/>
          </a:p>
          <a:p>
            <a:pPr marL="0" marR="0" lvl="0" indent="0" algn="l" defTabSz="914400" rtl="1" eaLnBrk="1" fontAlgn="auto" latinLnBrk="0" hangingPunct="1">
              <a:lnSpc>
                <a:spcPct val="100000"/>
              </a:lnSpc>
              <a:spcBef>
                <a:spcPts val="0"/>
              </a:spcBef>
              <a:spcAft>
                <a:spcPts val="0"/>
              </a:spcAft>
              <a:buClrTx/>
              <a:buSzTx/>
              <a:buFontTx/>
              <a:buNone/>
              <a:tabLst/>
              <a:defRPr/>
            </a:pPr>
            <a:r>
              <a:rPr lang="fa-IR" b="1" dirty="0"/>
              <a:t>مکانیزم توجه (</a:t>
            </a:r>
            <a:r>
              <a:rPr lang="fa-IR" b="1" dirty="0" err="1"/>
              <a:t>Attention</a:t>
            </a:r>
            <a:r>
              <a:rPr lang="fa-IR" b="1" dirty="0"/>
              <a:t> و </a:t>
            </a:r>
            <a:r>
              <a:rPr lang="fa-IR" b="1" dirty="0" err="1"/>
              <a:t>Self-Attention</a:t>
            </a:r>
            <a:r>
              <a:rPr lang="fa-IR" b="1" dirty="0"/>
              <a:t>)</a:t>
            </a:r>
            <a:endParaRPr lang="fa-IR" dirty="0"/>
          </a:p>
          <a:p>
            <a:pPr rtl="1"/>
            <a:r>
              <a:rPr lang="en-US" dirty="0"/>
              <a:t>Attention </a:t>
            </a:r>
            <a:r>
              <a:rPr lang="fa-IR" dirty="0"/>
              <a:t>یعنی: </a:t>
            </a:r>
            <a:r>
              <a:rPr lang="fa-IR" b="1" dirty="0"/>
              <a:t>«برای فهمیدن معنای </a:t>
            </a:r>
            <a:r>
              <a:rPr lang="fa-IR" b="1" dirty="0" err="1"/>
              <a:t>توکن</a:t>
            </a:r>
            <a:r>
              <a:rPr lang="fa-IR" b="1" dirty="0"/>
              <a:t> فعلی، باید چقدر به سایر </a:t>
            </a:r>
            <a:r>
              <a:rPr lang="fa-IR" b="1" dirty="0" err="1"/>
              <a:t>توکن‌های</a:t>
            </a:r>
            <a:r>
              <a:rPr lang="fa-IR" b="1" dirty="0"/>
              <a:t> جمله دقت و وزن اختصاص بدهم؟»</a:t>
            </a:r>
          </a:p>
          <a:p>
            <a:pPr rtl="1"/>
            <a:r>
              <a:rPr lang="fa-IR" dirty="0"/>
              <a:t>حیوان از خیابان رد نشد چون </a:t>
            </a:r>
            <a:r>
              <a:rPr lang="fa-IR" b="1" dirty="0"/>
              <a:t>آن</a:t>
            </a:r>
            <a:r>
              <a:rPr lang="fa-IR" dirty="0"/>
              <a:t> خیلی خسته بود.»</a:t>
            </a:r>
          </a:p>
          <a:p>
            <a:pPr rtl="1"/>
            <a:r>
              <a:rPr lang="en-US" dirty="0"/>
              <a:t>Self-Attention </a:t>
            </a:r>
            <a:r>
              <a:rPr lang="fa-IR" dirty="0"/>
              <a:t>به هر کلمه در متن اجازه </a:t>
            </a:r>
            <a:r>
              <a:rPr lang="fa-IR" dirty="0" err="1"/>
              <a:t>می‌دهد</a:t>
            </a:r>
            <a:r>
              <a:rPr lang="fa-IR" dirty="0"/>
              <a:t> با توجه به تمام کلمات دیگر همان متن، معنای خودش را </a:t>
            </a:r>
            <a:r>
              <a:rPr lang="fa-IR" dirty="0" err="1"/>
              <a:t>بازتعریف</a:t>
            </a:r>
            <a:r>
              <a:rPr lang="fa-IR" dirty="0"/>
              <a:t> و </a:t>
            </a:r>
            <a:r>
              <a:rPr lang="fa-IR" dirty="0" err="1"/>
              <a:t>دقیق‌تر</a:t>
            </a:r>
            <a:r>
              <a:rPr lang="fa-IR" dirty="0"/>
              <a:t> کند.</a:t>
            </a:r>
          </a:p>
          <a:p>
            <a:pPr rtl="1"/>
            <a:r>
              <a:rPr lang="fa-IR" dirty="0"/>
              <a:t>شیر</a:t>
            </a:r>
          </a:p>
          <a:p>
            <a:pPr rtl="1"/>
            <a:endParaRPr lang="fa-IR" dirty="0"/>
          </a:p>
          <a:p>
            <a:r>
              <a:rPr lang="fa-IR" dirty="0"/>
              <a:t>2.</a:t>
            </a:r>
          </a:p>
          <a:p>
            <a:r>
              <a:rPr lang="fa-IR" dirty="0"/>
              <a:t>در لایه آخر مدل، برای </a:t>
            </a:r>
            <a:r>
              <a:rPr lang="fa-IR" dirty="0" err="1"/>
              <a:t>تک‌تک</a:t>
            </a:r>
            <a:r>
              <a:rPr lang="fa-IR" dirty="0"/>
              <a:t> </a:t>
            </a:r>
            <a:r>
              <a:rPr lang="fa-IR" dirty="0" err="1"/>
              <a:t>واژه‌های</a:t>
            </a:r>
            <a:r>
              <a:rPr lang="fa-IR" dirty="0"/>
              <a:t> فرهنگ لغت (</a:t>
            </a:r>
            <a:r>
              <a:rPr lang="en-US" dirty="0"/>
              <a:t>Vocabulary Size </a:t>
            </a:r>
            <a:r>
              <a:rPr lang="fa-IR" dirty="0"/>
              <a:t>معمولاً بین ۳۲,۰۰۰ تا ۱۲۸,۰۰۰ </a:t>
            </a:r>
            <a:r>
              <a:rPr lang="fa-IR" dirty="0" err="1"/>
              <a:t>توکن</a:t>
            </a:r>
            <a:r>
              <a:rPr lang="fa-IR" dirty="0"/>
              <a:t>)، یک امتیاز عددی خام (</a:t>
            </a:r>
            <a:r>
              <a:rPr lang="en-US" dirty="0"/>
              <a:t>Logit) </a:t>
            </a:r>
            <a:r>
              <a:rPr lang="fa-IR" dirty="0"/>
              <a:t>محاسبه </a:t>
            </a:r>
            <a:r>
              <a:rPr lang="fa-IR" dirty="0" err="1"/>
              <a:t>می‌شود</a:t>
            </a:r>
            <a:r>
              <a:rPr lang="fa-IR" dirty="0"/>
              <a:t>.</a:t>
            </a:r>
          </a:p>
          <a:p>
            <a:r>
              <a:rPr lang="fa-IR" dirty="0"/>
              <a:t>3.</a:t>
            </a:r>
          </a:p>
          <a:p>
            <a:r>
              <a:rPr lang="fa-IR" dirty="0"/>
              <a:t>با تابع </a:t>
            </a:r>
            <a:r>
              <a:rPr lang="en-US" dirty="0" err="1"/>
              <a:t>Softmax</a:t>
            </a:r>
            <a:r>
              <a:rPr lang="en-US" dirty="0"/>
              <a:t>، </a:t>
            </a:r>
            <a:r>
              <a:rPr lang="fa-IR" dirty="0"/>
              <a:t>این امتیازها تبدیل به یک توزیع </a:t>
            </a:r>
            <a:r>
              <a:rPr lang="fa-IR" dirty="0" err="1"/>
              <a:t>احتمالاتی</a:t>
            </a:r>
            <a:r>
              <a:rPr lang="fa-IR" dirty="0"/>
              <a:t> </a:t>
            </a:r>
            <a:r>
              <a:rPr lang="fa-IR" dirty="0" err="1"/>
              <a:t>می‌شوند</a:t>
            </a:r>
            <a:r>
              <a:rPr lang="fa-IR" dirty="0"/>
              <a:t> که </a:t>
            </a:r>
            <a:r>
              <a:rPr lang="fa-IR" dirty="0" err="1"/>
              <a:t>مجموعشان</a:t>
            </a:r>
            <a:r>
              <a:rPr lang="fa-IR" dirty="0"/>
              <a:t> برابر با ۱ است</a:t>
            </a:r>
          </a:p>
          <a:p>
            <a:r>
              <a:rPr lang="fa-IR" dirty="0"/>
              <a:t>4.</a:t>
            </a:r>
          </a:p>
          <a:p>
            <a:r>
              <a:rPr lang="fa-IR" dirty="0"/>
              <a:t>مدل </a:t>
            </a:r>
            <a:r>
              <a:rPr lang="fa-IR" dirty="0" err="1"/>
              <a:t>الزماً</a:t>
            </a:r>
            <a:r>
              <a:rPr lang="fa-IR" dirty="0"/>
              <a:t> </a:t>
            </a:r>
            <a:r>
              <a:rPr lang="fa-IR" dirty="0" err="1"/>
              <a:t>پر‌احتمال‌ترین</a:t>
            </a:r>
            <a:r>
              <a:rPr lang="fa-IR" dirty="0"/>
              <a:t> گزینه (</a:t>
            </a:r>
            <a:r>
              <a:rPr lang="en-US" dirty="0"/>
              <a:t>Greedy) </a:t>
            </a:r>
            <a:r>
              <a:rPr lang="fa-IR" dirty="0"/>
              <a:t>را انتخاب </a:t>
            </a:r>
            <a:r>
              <a:rPr lang="fa-IR" dirty="0" err="1"/>
              <a:t>نمی‌کند</a:t>
            </a:r>
            <a:r>
              <a:rPr lang="fa-IR" dirty="0"/>
              <a:t>؛ پارامترهایی مثل </a:t>
            </a:r>
            <a:r>
              <a:rPr lang="en-US" b="1" dirty="0"/>
              <a:t>Temperature</a:t>
            </a:r>
            <a:r>
              <a:rPr lang="en-US" dirty="0"/>
              <a:t> </a:t>
            </a:r>
            <a:r>
              <a:rPr lang="fa-IR" dirty="0"/>
              <a:t>و </a:t>
            </a:r>
            <a:r>
              <a:rPr lang="en-US" b="1" dirty="0"/>
              <a:t>Top-p / Top-k</a:t>
            </a:r>
            <a:r>
              <a:rPr lang="en-US" dirty="0"/>
              <a:t> </a:t>
            </a:r>
            <a:r>
              <a:rPr lang="fa-IR" dirty="0"/>
              <a:t>کنترل </a:t>
            </a:r>
            <a:r>
              <a:rPr lang="fa-IR" dirty="0" err="1"/>
              <a:t>می‌کنند</a:t>
            </a:r>
            <a:r>
              <a:rPr lang="fa-IR" dirty="0"/>
              <a:t> که انتخاب تا چه حد خلاقانه، قطعی یا تصادفی باشد:.</a:t>
            </a:r>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6</a:t>
            </a:fld>
            <a:endParaRPr lang="en-US"/>
          </a:p>
        </p:txBody>
      </p:sp>
    </p:spTree>
    <p:extLst>
      <p:ext uri="{BB962C8B-B14F-4D97-AF65-F5344CB8AC3E}">
        <p14:creationId xmlns:p14="http://schemas.microsoft.com/office/powerpoint/2010/main" val="2037913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F0B42-350E-1B71-C51E-DB512BF792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CEA3DB-91FE-0CD3-B1FC-AA1D538F97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E81D9D-0760-A13B-D9EA-AC962F4C030E}"/>
              </a:ext>
            </a:extLst>
          </p:cNvPr>
          <p:cNvSpPr>
            <a:spLocks noGrp="1"/>
          </p:cNvSpPr>
          <p:nvPr>
            <p:ph type="body" idx="1"/>
          </p:nvPr>
        </p:nvSpPr>
        <p:spPr/>
        <p:txBody>
          <a:bodyPr/>
          <a:lstStyle/>
          <a:p>
            <a:r>
              <a:rPr lang="fa-IR" dirty="0"/>
              <a:t>2500 صفحه کتاب میشه</a:t>
            </a:r>
            <a:endParaRPr lang="en-US" dirty="0"/>
          </a:p>
        </p:txBody>
      </p:sp>
      <p:sp>
        <p:nvSpPr>
          <p:cNvPr id="4" name="Slide Number Placeholder 3">
            <a:extLst>
              <a:ext uri="{FF2B5EF4-FFF2-40B4-BE49-F238E27FC236}">
                <a16:creationId xmlns:a16="http://schemas.microsoft.com/office/drawing/2014/main" id="{4A0FD0E6-7F67-2C9E-1FF8-41EACEE8006B}"/>
              </a:ext>
            </a:extLst>
          </p:cNvPr>
          <p:cNvSpPr>
            <a:spLocks noGrp="1"/>
          </p:cNvSpPr>
          <p:nvPr>
            <p:ph type="sldNum" sz="quarter" idx="5"/>
          </p:nvPr>
        </p:nvSpPr>
        <p:spPr/>
        <p:txBody>
          <a:bodyPr/>
          <a:lstStyle/>
          <a:p>
            <a:fld id="{053334BE-6928-41F9-BB12-6E03F3DCE038}" type="slidenum">
              <a:rPr lang="en-US" smtClean="0"/>
              <a:t>7</a:t>
            </a:fld>
            <a:endParaRPr lang="en-US"/>
          </a:p>
        </p:txBody>
      </p:sp>
    </p:spTree>
    <p:extLst>
      <p:ext uri="{BB962C8B-B14F-4D97-AF65-F5344CB8AC3E}">
        <p14:creationId xmlns:p14="http://schemas.microsoft.com/office/powerpoint/2010/main" val="1930569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چرا</a:t>
            </a:r>
            <a:r>
              <a:rPr dirty="0"/>
              <a:t> </a:t>
            </a:r>
            <a:r>
              <a:rPr dirty="0" err="1"/>
              <a:t>تعیین</a:t>
            </a:r>
            <a:r>
              <a:rPr dirty="0"/>
              <a:t> </a:t>
            </a:r>
            <a:r>
              <a:rPr dirty="0" err="1"/>
              <a:t>نقش</a:t>
            </a:r>
            <a:r>
              <a:rPr dirty="0"/>
              <a:t> (Role Prompting / Persona Assignment) </a:t>
            </a:r>
            <a:r>
              <a:rPr dirty="0" err="1"/>
              <a:t>کار</a:t>
            </a:r>
            <a:r>
              <a:rPr dirty="0"/>
              <a:t> </a:t>
            </a:r>
            <a:r>
              <a:rPr dirty="0" err="1"/>
              <a:t>می‌کند</a:t>
            </a:r>
            <a:r>
              <a:rPr dirty="0"/>
              <a:t>؟</a:t>
            </a:r>
          </a:p>
          <a:p>
            <a:r>
              <a:rPr dirty="0" err="1"/>
              <a:t>شاید</a:t>
            </a:r>
            <a:r>
              <a:rPr dirty="0"/>
              <a:t> </a:t>
            </a:r>
            <a:r>
              <a:rPr dirty="0" err="1"/>
              <a:t>به</a:t>
            </a:r>
            <a:r>
              <a:rPr dirty="0"/>
              <a:t> </a:t>
            </a:r>
            <a:r>
              <a:rPr dirty="0" err="1"/>
              <a:t>نظر</a:t>
            </a:r>
            <a:r>
              <a:rPr dirty="0"/>
              <a:t> </a:t>
            </a:r>
            <a:r>
              <a:rPr dirty="0" err="1"/>
              <a:t>برسد</a:t>
            </a:r>
            <a:r>
              <a:rPr dirty="0"/>
              <a:t> </a:t>
            </a:r>
            <a:r>
              <a:rPr dirty="0" err="1"/>
              <a:t>مدل</a:t>
            </a:r>
            <a:r>
              <a:rPr dirty="0"/>
              <a:t> </a:t>
            </a:r>
            <a:r>
              <a:rPr dirty="0" err="1"/>
              <a:t>فقط</a:t>
            </a:r>
            <a:r>
              <a:rPr dirty="0"/>
              <a:t> «</a:t>
            </a:r>
            <a:r>
              <a:rPr dirty="0" err="1"/>
              <a:t>بازیگری</a:t>
            </a:r>
            <a:r>
              <a:rPr dirty="0"/>
              <a:t>» </a:t>
            </a:r>
            <a:r>
              <a:rPr dirty="0" err="1"/>
              <a:t>می‌کند</a:t>
            </a:r>
            <a:r>
              <a:rPr dirty="0"/>
              <a:t>، </a:t>
            </a:r>
            <a:r>
              <a:rPr dirty="0" err="1"/>
              <a:t>اما</a:t>
            </a:r>
            <a:r>
              <a:rPr dirty="0"/>
              <a:t> </a:t>
            </a:r>
            <a:r>
              <a:rPr dirty="0" err="1"/>
              <a:t>از</a:t>
            </a:r>
            <a:r>
              <a:rPr dirty="0"/>
              <a:t> </a:t>
            </a:r>
            <a:r>
              <a:rPr dirty="0" err="1"/>
              <a:t>دید</a:t>
            </a:r>
            <a:r>
              <a:rPr dirty="0"/>
              <a:t> </a:t>
            </a:r>
            <a:r>
              <a:rPr dirty="0" err="1"/>
              <a:t>معماری</a:t>
            </a:r>
            <a:r>
              <a:rPr dirty="0"/>
              <a:t> LLM، </a:t>
            </a:r>
            <a:r>
              <a:rPr dirty="0" err="1"/>
              <a:t>نقش</a:t>
            </a:r>
            <a:r>
              <a:rPr dirty="0"/>
              <a:t> </a:t>
            </a:r>
            <a:r>
              <a:rPr dirty="0" err="1"/>
              <a:t>مستقیماً</a:t>
            </a:r>
            <a:r>
              <a:rPr dirty="0"/>
              <a:t> </a:t>
            </a:r>
            <a:r>
              <a:rPr dirty="0" err="1"/>
              <a:t>روی</a:t>
            </a:r>
            <a:r>
              <a:rPr dirty="0"/>
              <a:t> </a:t>
            </a:r>
            <a:r>
              <a:rPr dirty="0" err="1"/>
              <a:t>احتمالات</a:t>
            </a:r>
            <a:r>
              <a:rPr dirty="0"/>
              <a:t> </a:t>
            </a:r>
            <a:r>
              <a:rPr dirty="0" err="1"/>
              <a:t>آماری</a:t>
            </a:r>
            <a:r>
              <a:rPr dirty="0"/>
              <a:t> </a:t>
            </a:r>
            <a:r>
              <a:rPr dirty="0" err="1"/>
              <a:t>انتخاب</a:t>
            </a:r>
            <a:r>
              <a:rPr dirty="0"/>
              <a:t> </a:t>
            </a:r>
            <a:r>
              <a:rPr dirty="0" err="1"/>
              <a:t>کلمات</a:t>
            </a:r>
            <a:r>
              <a:rPr dirty="0"/>
              <a:t> و </a:t>
            </a:r>
            <a:r>
              <a:rPr dirty="0" err="1"/>
              <a:t>فضای</a:t>
            </a:r>
            <a:r>
              <a:rPr dirty="0"/>
              <a:t> </a:t>
            </a:r>
            <a:r>
              <a:rPr dirty="0" err="1"/>
              <a:t>معنایی</a:t>
            </a:r>
            <a:r>
              <a:rPr dirty="0"/>
              <a:t> </a:t>
            </a:r>
            <a:r>
              <a:rPr dirty="0" err="1"/>
              <a:t>فعال</a:t>
            </a:r>
            <a:r>
              <a:rPr dirty="0"/>
              <a:t> </a:t>
            </a:r>
            <a:r>
              <a:rPr dirty="0" err="1"/>
              <a:t>در</a:t>
            </a:r>
            <a:r>
              <a:rPr dirty="0"/>
              <a:t> </a:t>
            </a:r>
            <a:r>
              <a:rPr dirty="0" err="1"/>
              <a:t>مدل</a:t>
            </a:r>
            <a:r>
              <a:rPr dirty="0"/>
              <a:t> </a:t>
            </a:r>
            <a:r>
              <a:rPr dirty="0" err="1"/>
              <a:t>اثر</a:t>
            </a:r>
            <a:r>
              <a:rPr dirty="0"/>
              <a:t> </a:t>
            </a:r>
            <a:r>
              <a:rPr dirty="0" err="1"/>
              <a:t>می‌گذارد</a:t>
            </a:r>
            <a:r>
              <a:rPr dirty="0"/>
              <a:t>.</a:t>
            </a:r>
          </a:p>
          <a:p>
            <a:endParaRPr dirty="0"/>
          </a:p>
          <a:p>
            <a:r>
              <a:rPr dirty="0"/>
              <a:t>۱. </a:t>
            </a:r>
            <a:r>
              <a:rPr dirty="0" err="1"/>
              <a:t>محدود</a:t>
            </a:r>
            <a:r>
              <a:rPr dirty="0"/>
              <a:t> </a:t>
            </a:r>
            <a:r>
              <a:rPr dirty="0" err="1"/>
              <a:t>کردن</a:t>
            </a:r>
            <a:r>
              <a:rPr dirty="0"/>
              <a:t> </a:t>
            </a:r>
            <a:r>
              <a:rPr dirty="0" err="1"/>
              <a:t>فضای</a:t>
            </a:r>
            <a:r>
              <a:rPr dirty="0"/>
              <a:t> </a:t>
            </a:r>
            <a:r>
              <a:rPr dirty="0" err="1"/>
              <a:t>جستجو</a:t>
            </a:r>
            <a:r>
              <a:rPr dirty="0"/>
              <a:t> و </a:t>
            </a:r>
            <a:r>
              <a:rPr dirty="0" err="1"/>
              <a:t>توزیع</a:t>
            </a:r>
            <a:r>
              <a:rPr dirty="0"/>
              <a:t> </a:t>
            </a:r>
            <a:r>
              <a:rPr dirty="0" err="1"/>
              <a:t>احتمالات</a:t>
            </a:r>
            <a:r>
              <a:rPr dirty="0"/>
              <a:t> (Conditioning the Latent Space)</a:t>
            </a:r>
          </a:p>
          <a:p>
            <a:r>
              <a:rPr dirty="0" err="1"/>
              <a:t>مدل</a:t>
            </a:r>
            <a:r>
              <a:rPr dirty="0"/>
              <a:t> </a:t>
            </a:r>
            <a:r>
              <a:rPr dirty="0" err="1"/>
              <a:t>حجم</a:t>
            </a:r>
            <a:r>
              <a:rPr dirty="0"/>
              <a:t> </a:t>
            </a:r>
            <a:r>
              <a:rPr dirty="0" err="1"/>
              <a:t>عظیمی</a:t>
            </a:r>
            <a:r>
              <a:rPr dirty="0"/>
              <a:t> </a:t>
            </a:r>
            <a:r>
              <a:rPr dirty="0" err="1"/>
              <a:t>از</a:t>
            </a:r>
            <a:r>
              <a:rPr dirty="0"/>
              <a:t> </a:t>
            </a:r>
            <a:r>
              <a:rPr dirty="0" err="1"/>
              <a:t>داده</a:t>
            </a:r>
            <a:r>
              <a:rPr dirty="0"/>
              <a:t> </a:t>
            </a:r>
            <a:r>
              <a:rPr dirty="0" err="1"/>
              <a:t>را</a:t>
            </a:r>
            <a:r>
              <a:rPr dirty="0"/>
              <a:t> </a:t>
            </a:r>
            <a:r>
              <a:rPr dirty="0" err="1"/>
              <a:t>دیده</a:t>
            </a:r>
            <a:r>
              <a:rPr dirty="0"/>
              <a:t> </a:t>
            </a:r>
            <a:r>
              <a:rPr dirty="0" err="1"/>
              <a:t>است</a:t>
            </a:r>
            <a:r>
              <a:rPr dirty="0"/>
              <a:t>؛ </a:t>
            </a:r>
            <a:r>
              <a:rPr dirty="0" err="1"/>
              <a:t>از</a:t>
            </a:r>
            <a:r>
              <a:rPr dirty="0"/>
              <a:t> </a:t>
            </a:r>
            <a:r>
              <a:rPr dirty="0" err="1"/>
              <a:t>مکالمات</a:t>
            </a:r>
            <a:r>
              <a:rPr dirty="0"/>
              <a:t> </a:t>
            </a:r>
            <a:r>
              <a:rPr dirty="0" err="1"/>
              <a:t>روزمره</a:t>
            </a:r>
            <a:r>
              <a:rPr dirty="0"/>
              <a:t> </a:t>
            </a:r>
            <a:r>
              <a:rPr dirty="0" err="1"/>
              <a:t>در</a:t>
            </a:r>
            <a:r>
              <a:rPr dirty="0"/>
              <a:t> </a:t>
            </a:r>
            <a:r>
              <a:rPr dirty="0" err="1"/>
              <a:t>فروم‌ها</a:t>
            </a:r>
            <a:r>
              <a:rPr dirty="0"/>
              <a:t> </a:t>
            </a:r>
            <a:r>
              <a:rPr dirty="0" err="1"/>
              <a:t>تا</a:t>
            </a:r>
            <a:r>
              <a:rPr dirty="0"/>
              <a:t> </a:t>
            </a:r>
            <a:r>
              <a:rPr dirty="0" err="1"/>
              <a:t>مقالات</a:t>
            </a:r>
            <a:r>
              <a:rPr dirty="0"/>
              <a:t> </a:t>
            </a:r>
            <a:r>
              <a:rPr dirty="0" err="1"/>
              <a:t>عمیق</a:t>
            </a:r>
            <a:r>
              <a:rPr dirty="0"/>
              <a:t> </a:t>
            </a:r>
            <a:r>
              <a:rPr dirty="0" err="1"/>
              <a:t>دانشگاهی</a:t>
            </a:r>
            <a:r>
              <a:rPr dirty="0"/>
              <a:t>. </a:t>
            </a:r>
            <a:r>
              <a:rPr dirty="0" err="1"/>
              <a:t>وقتی</a:t>
            </a:r>
            <a:r>
              <a:rPr dirty="0"/>
              <a:t> </a:t>
            </a:r>
            <a:r>
              <a:rPr dirty="0" err="1"/>
              <a:t>فقط</a:t>
            </a:r>
            <a:r>
              <a:rPr dirty="0"/>
              <a:t> </a:t>
            </a:r>
            <a:r>
              <a:rPr dirty="0" err="1"/>
              <a:t>می‌پرسید</a:t>
            </a:r>
            <a:r>
              <a:rPr dirty="0"/>
              <a:t> «</a:t>
            </a:r>
            <a:r>
              <a:rPr dirty="0" err="1"/>
              <a:t>نظریه</a:t>
            </a:r>
            <a:r>
              <a:rPr dirty="0"/>
              <a:t> </a:t>
            </a:r>
            <a:r>
              <a:rPr dirty="0" err="1"/>
              <a:t>نسبیت</a:t>
            </a:r>
            <a:r>
              <a:rPr dirty="0"/>
              <a:t> </a:t>
            </a:r>
            <a:r>
              <a:rPr dirty="0" err="1"/>
              <a:t>انیشتین</a:t>
            </a:r>
            <a:r>
              <a:rPr dirty="0"/>
              <a:t> </a:t>
            </a:r>
            <a:r>
              <a:rPr dirty="0" err="1"/>
              <a:t>چیست</a:t>
            </a:r>
            <a:r>
              <a:rPr dirty="0"/>
              <a:t>؟» </a:t>
            </a:r>
            <a:r>
              <a:rPr dirty="0" err="1"/>
              <a:t>فضای</a:t>
            </a:r>
            <a:r>
              <a:rPr dirty="0"/>
              <a:t> </a:t>
            </a:r>
            <a:r>
              <a:rPr dirty="0" err="1"/>
              <a:t>جواب</a:t>
            </a:r>
            <a:r>
              <a:rPr dirty="0"/>
              <a:t> </a:t>
            </a:r>
            <a:r>
              <a:rPr dirty="0" err="1"/>
              <a:t>بسیار</a:t>
            </a:r>
            <a:r>
              <a:rPr dirty="0"/>
              <a:t> </a:t>
            </a:r>
            <a:r>
              <a:rPr dirty="0" err="1"/>
              <a:t>باز</a:t>
            </a:r>
            <a:r>
              <a:rPr dirty="0"/>
              <a:t> </a:t>
            </a:r>
            <a:r>
              <a:rPr dirty="0" err="1"/>
              <a:t>است</a:t>
            </a:r>
            <a:r>
              <a:rPr dirty="0"/>
              <a:t>؛ </a:t>
            </a:r>
            <a:r>
              <a:rPr dirty="0" err="1"/>
              <a:t>ممکن</a:t>
            </a:r>
            <a:r>
              <a:rPr dirty="0"/>
              <a:t> </a:t>
            </a:r>
            <a:r>
              <a:rPr dirty="0" err="1"/>
              <a:t>است</a:t>
            </a:r>
            <a:r>
              <a:rPr dirty="0"/>
              <a:t> </a:t>
            </a:r>
            <a:r>
              <a:rPr dirty="0" err="1"/>
              <a:t>پاسخی</a:t>
            </a:r>
            <a:r>
              <a:rPr dirty="0"/>
              <a:t> </a:t>
            </a:r>
            <a:r>
              <a:rPr dirty="0" err="1"/>
              <a:t>شبیه</a:t>
            </a:r>
            <a:r>
              <a:rPr dirty="0"/>
              <a:t> </a:t>
            </a:r>
            <a:r>
              <a:rPr dirty="0" err="1"/>
              <a:t>کتاب</a:t>
            </a:r>
            <a:r>
              <a:rPr dirty="0"/>
              <a:t> </a:t>
            </a:r>
            <a:r>
              <a:rPr dirty="0" err="1"/>
              <a:t>کودکان</a:t>
            </a:r>
            <a:r>
              <a:rPr dirty="0"/>
              <a:t>، </a:t>
            </a:r>
            <a:r>
              <a:rPr dirty="0" err="1"/>
              <a:t>خلاصه</a:t>
            </a:r>
            <a:r>
              <a:rPr dirty="0"/>
              <a:t> </a:t>
            </a:r>
            <a:r>
              <a:rPr dirty="0" err="1"/>
              <a:t>ویکی‌پدیا</a:t>
            </a:r>
            <a:r>
              <a:rPr dirty="0"/>
              <a:t> </a:t>
            </a:r>
            <a:r>
              <a:rPr dirty="0" err="1"/>
              <a:t>یا</a:t>
            </a:r>
            <a:r>
              <a:rPr dirty="0"/>
              <a:t> </a:t>
            </a:r>
            <a:r>
              <a:rPr dirty="0" err="1"/>
              <a:t>بحثی</a:t>
            </a:r>
            <a:r>
              <a:rPr dirty="0"/>
              <a:t> </a:t>
            </a:r>
            <a:r>
              <a:rPr dirty="0" err="1"/>
              <a:t>فنی</a:t>
            </a:r>
            <a:r>
              <a:rPr dirty="0"/>
              <a:t> </a:t>
            </a:r>
            <a:r>
              <a:rPr dirty="0" err="1"/>
              <a:t>بدهد</a:t>
            </a:r>
            <a:r>
              <a:rPr dirty="0"/>
              <a:t>. </a:t>
            </a:r>
            <a:r>
              <a:rPr dirty="0" err="1"/>
              <a:t>اما</a:t>
            </a:r>
            <a:r>
              <a:rPr dirty="0"/>
              <a:t> </a:t>
            </a:r>
            <a:r>
              <a:rPr dirty="0" err="1"/>
              <a:t>وقتی</a:t>
            </a:r>
            <a:r>
              <a:rPr dirty="0"/>
              <a:t> </a:t>
            </a:r>
            <a:r>
              <a:rPr dirty="0" err="1"/>
              <a:t>می‌گویید</a:t>
            </a:r>
            <a:r>
              <a:rPr dirty="0"/>
              <a:t> «</a:t>
            </a:r>
            <a:r>
              <a:rPr dirty="0" err="1"/>
              <a:t>تو</a:t>
            </a:r>
            <a:r>
              <a:rPr dirty="0"/>
              <a:t> </a:t>
            </a:r>
            <a:r>
              <a:rPr dirty="0" err="1"/>
              <a:t>یک</a:t>
            </a:r>
            <a:r>
              <a:rPr dirty="0"/>
              <a:t> </a:t>
            </a:r>
            <a:r>
              <a:rPr dirty="0" err="1"/>
              <a:t>استاد</a:t>
            </a:r>
            <a:r>
              <a:rPr dirty="0"/>
              <a:t> </a:t>
            </a:r>
            <a:r>
              <a:rPr dirty="0" err="1"/>
              <a:t>فیزیک</a:t>
            </a:r>
            <a:r>
              <a:rPr dirty="0"/>
              <a:t> </a:t>
            </a:r>
            <a:r>
              <a:rPr dirty="0" err="1"/>
              <a:t>نظری</a:t>
            </a:r>
            <a:r>
              <a:rPr dirty="0"/>
              <a:t> </a:t>
            </a:r>
            <a:r>
              <a:rPr dirty="0" err="1"/>
              <a:t>در</a:t>
            </a:r>
            <a:r>
              <a:rPr dirty="0"/>
              <a:t> </a:t>
            </a:r>
            <a:r>
              <a:rPr dirty="0" err="1"/>
              <a:t>دانشگاه</a:t>
            </a:r>
            <a:r>
              <a:rPr dirty="0"/>
              <a:t> </a:t>
            </a:r>
            <a:r>
              <a:rPr dirty="0" err="1"/>
              <a:t>پرینستون</a:t>
            </a:r>
            <a:r>
              <a:rPr dirty="0"/>
              <a:t> </a:t>
            </a:r>
            <a:r>
              <a:rPr dirty="0" err="1"/>
              <a:t>هستی</a:t>
            </a:r>
            <a:r>
              <a:rPr dirty="0"/>
              <a:t>…» </a:t>
            </a:r>
            <a:r>
              <a:rPr dirty="0" err="1"/>
              <a:t>یک</a:t>
            </a:r>
            <a:r>
              <a:rPr dirty="0"/>
              <a:t> </a:t>
            </a:r>
            <a:r>
              <a:rPr dirty="0" err="1"/>
              <a:t>شرطِ</a:t>
            </a:r>
            <a:r>
              <a:rPr dirty="0"/>
              <a:t> </a:t>
            </a:r>
            <a:r>
              <a:rPr dirty="0" err="1"/>
              <a:t>سفت‌وسخت</a:t>
            </a:r>
            <a:r>
              <a:rPr dirty="0"/>
              <a:t> </a:t>
            </a:r>
            <a:r>
              <a:rPr dirty="0" err="1"/>
              <a:t>آماری</a:t>
            </a:r>
            <a:r>
              <a:rPr dirty="0"/>
              <a:t> </a:t>
            </a:r>
            <a:r>
              <a:rPr dirty="0" err="1"/>
              <a:t>برای</a:t>
            </a:r>
            <a:r>
              <a:rPr dirty="0"/>
              <a:t> </a:t>
            </a:r>
            <a:r>
              <a:rPr dirty="0" err="1"/>
              <a:t>پیش‌بینی</a:t>
            </a:r>
            <a:r>
              <a:rPr dirty="0"/>
              <a:t> </a:t>
            </a:r>
            <a:r>
              <a:rPr dirty="0" err="1"/>
              <a:t>توکن‌های</a:t>
            </a:r>
            <a:r>
              <a:rPr dirty="0"/>
              <a:t> </a:t>
            </a:r>
            <a:r>
              <a:rPr dirty="0" err="1"/>
              <a:t>بعدی</a:t>
            </a:r>
            <a:r>
              <a:rPr dirty="0"/>
              <a:t> </a:t>
            </a:r>
            <a:r>
              <a:rPr dirty="0" err="1"/>
              <a:t>می‌گذارید</a:t>
            </a:r>
            <a:r>
              <a:rPr dirty="0"/>
              <a:t>: </a:t>
            </a:r>
            <a:r>
              <a:rPr dirty="0" err="1"/>
              <a:t>احتمال</a:t>
            </a:r>
            <a:r>
              <a:rPr dirty="0"/>
              <a:t> </a:t>
            </a:r>
            <a:r>
              <a:rPr dirty="0" err="1"/>
              <a:t>کلمات</a:t>
            </a:r>
            <a:r>
              <a:rPr dirty="0"/>
              <a:t> </a:t>
            </a:r>
            <a:r>
              <a:rPr dirty="0" err="1"/>
              <a:t>سطحی</a:t>
            </a:r>
            <a:r>
              <a:rPr dirty="0"/>
              <a:t> و </a:t>
            </a:r>
            <a:r>
              <a:rPr dirty="0" err="1"/>
              <a:t>عامیانه</a:t>
            </a:r>
            <a:r>
              <a:rPr dirty="0"/>
              <a:t> </a:t>
            </a:r>
            <a:r>
              <a:rPr dirty="0" err="1"/>
              <a:t>کم</a:t>
            </a:r>
            <a:r>
              <a:rPr dirty="0"/>
              <a:t> </a:t>
            </a:r>
            <a:r>
              <a:rPr dirty="0" err="1"/>
              <a:t>می‌شود</a:t>
            </a:r>
            <a:r>
              <a:rPr dirty="0"/>
              <a:t> و </a:t>
            </a:r>
            <a:r>
              <a:rPr dirty="0" err="1"/>
              <a:t>اصطلاحات</a:t>
            </a:r>
            <a:r>
              <a:rPr dirty="0"/>
              <a:t>، </a:t>
            </a:r>
            <a:r>
              <a:rPr dirty="0" err="1"/>
              <a:t>استدلال</a:t>
            </a:r>
            <a:r>
              <a:rPr dirty="0"/>
              <a:t> </a:t>
            </a:r>
            <a:r>
              <a:rPr dirty="0" err="1"/>
              <a:t>دقیق</a:t>
            </a:r>
            <a:r>
              <a:rPr dirty="0"/>
              <a:t> و </a:t>
            </a:r>
            <a:r>
              <a:rPr dirty="0" err="1"/>
              <a:t>چارچوب‌های</a:t>
            </a:r>
            <a:r>
              <a:rPr dirty="0"/>
              <a:t> </a:t>
            </a:r>
            <a:r>
              <a:rPr dirty="0" err="1"/>
              <a:t>فکری</a:t>
            </a:r>
            <a:r>
              <a:rPr dirty="0"/>
              <a:t> </a:t>
            </a:r>
            <a:r>
              <a:rPr dirty="0" err="1"/>
              <a:t>آکادمیک</a:t>
            </a:r>
            <a:r>
              <a:rPr dirty="0"/>
              <a:t> </a:t>
            </a:r>
            <a:r>
              <a:rPr dirty="0" err="1"/>
              <a:t>وزن</a:t>
            </a:r>
            <a:r>
              <a:rPr dirty="0"/>
              <a:t> </a:t>
            </a:r>
            <a:r>
              <a:rPr dirty="0" err="1"/>
              <a:t>بیشتری</a:t>
            </a:r>
            <a:r>
              <a:rPr dirty="0"/>
              <a:t> </a:t>
            </a:r>
            <a:r>
              <a:rPr dirty="0" err="1"/>
              <a:t>می‌گیرند</a:t>
            </a:r>
            <a:r>
              <a:rPr dirty="0"/>
              <a:t>.</a:t>
            </a:r>
          </a:p>
          <a:p>
            <a:endParaRPr dirty="0"/>
          </a:p>
          <a:p>
            <a:r>
              <a:rPr dirty="0"/>
              <a:t>۲. </a:t>
            </a:r>
            <a:r>
              <a:rPr dirty="0" err="1"/>
              <a:t>فعال‌سازی</a:t>
            </a:r>
            <a:r>
              <a:rPr dirty="0"/>
              <a:t> </a:t>
            </a:r>
            <a:r>
              <a:rPr dirty="0" err="1"/>
              <a:t>واژگان</a:t>
            </a:r>
            <a:r>
              <a:rPr dirty="0"/>
              <a:t> </a:t>
            </a:r>
            <a:r>
              <a:rPr dirty="0" err="1"/>
              <a:t>تخصصی</a:t>
            </a:r>
            <a:r>
              <a:rPr dirty="0"/>
              <a:t> (Vocabulary Prioritization)</a:t>
            </a:r>
          </a:p>
          <a:p>
            <a:r>
              <a:rPr dirty="0" err="1"/>
              <a:t>هر</a:t>
            </a:r>
            <a:r>
              <a:rPr dirty="0"/>
              <a:t> </a:t>
            </a:r>
            <a:r>
              <a:rPr dirty="0" err="1"/>
              <a:t>حوزه</a:t>
            </a:r>
            <a:r>
              <a:rPr dirty="0"/>
              <a:t> </a:t>
            </a:r>
            <a:r>
              <a:rPr dirty="0" err="1"/>
              <a:t>ادبیات</a:t>
            </a:r>
            <a:r>
              <a:rPr dirty="0"/>
              <a:t> و </a:t>
            </a:r>
            <a:r>
              <a:rPr dirty="0" err="1"/>
              <a:t>الگوهای</a:t>
            </a:r>
            <a:r>
              <a:rPr dirty="0"/>
              <a:t> </a:t>
            </a:r>
            <a:r>
              <a:rPr dirty="0" err="1"/>
              <a:t>بیانی</a:t>
            </a:r>
            <a:r>
              <a:rPr dirty="0"/>
              <a:t> </a:t>
            </a:r>
            <a:r>
              <a:rPr dirty="0" err="1"/>
              <a:t>خودش</a:t>
            </a:r>
            <a:r>
              <a:rPr dirty="0"/>
              <a:t> </a:t>
            </a:r>
            <a:r>
              <a:rPr dirty="0" err="1"/>
              <a:t>را</a:t>
            </a:r>
            <a:r>
              <a:rPr dirty="0"/>
              <a:t> </a:t>
            </a:r>
            <a:r>
              <a:rPr dirty="0" err="1"/>
              <a:t>دارد</a:t>
            </a:r>
            <a:r>
              <a:rPr dirty="0"/>
              <a:t>. </a:t>
            </a:r>
            <a:r>
              <a:rPr dirty="0" err="1"/>
              <a:t>نقش</a:t>
            </a:r>
            <a:r>
              <a:rPr dirty="0"/>
              <a:t> «</a:t>
            </a:r>
            <a:r>
              <a:rPr dirty="0" err="1"/>
              <a:t>متخصص</a:t>
            </a:r>
            <a:r>
              <a:rPr dirty="0"/>
              <a:t> </a:t>
            </a:r>
            <a:r>
              <a:rPr dirty="0" err="1"/>
              <a:t>امنیت</a:t>
            </a:r>
            <a:r>
              <a:rPr dirty="0"/>
              <a:t> </a:t>
            </a:r>
            <a:r>
              <a:rPr dirty="0" err="1"/>
              <a:t>نرم‌افزار</a:t>
            </a:r>
            <a:r>
              <a:rPr dirty="0"/>
              <a:t>» </a:t>
            </a:r>
            <a:r>
              <a:rPr dirty="0" err="1"/>
              <a:t>احتمال</a:t>
            </a:r>
            <a:r>
              <a:rPr dirty="0"/>
              <a:t> </a:t>
            </a:r>
            <a:r>
              <a:rPr dirty="0" err="1"/>
              <a:t>توکن‌هایی</a:t>
            </a:r>
            <a:r>
              <a:rPr dirty="0"/>
              <a:t> </a:t>
            </a:r>
            <a:r>
              <a:rPr dirty="0" err="1"/>
              <a:t>مثل</a:t>
            </a:r>
            <a:r>
              <a:rPr dirty="0"/>
              <a:t> Vulnerability، Attack Surface، Threat Modeling و Zero Trust </a:t>
            </a:r>
            <a:r>
              <a:rPr dirty="0" err="1"/>
              <a:t>را</a:t>
            </a:r>
            <a:r>
              <a:rPr dirty="0"/>
              <a:t> </a:t>
            </a:r>
            <a:r>
              <a:rPr dirty="0" err="1"/>
              <a:t>بالا</a:t>
            </a:r>
            <a:r>
              <a:rPr dirty="0"/>
              <a:t> </a:t>
            </a:r>
            <a:r>
              <a:rPr dirty="0" err="1"/>
              <a:t>می‌برد</a:t>
            </a:r>
            <a:r>
              <a:rPr dirty="0"/>
              <a:t>. </a:t>
            </a:r>
            <a:r>
              <a:rPr dirty="0" err="1"/>
              <a:t>نقش</a:t>
            </a:r>
            <a:r>
              <a:rPr dirty="0"/>
              <a:t> «</a:t>
            </a:r>
            <a:r>
              <a:rPr dirty="0" err="1"/>
              <a:t>معمار</a:t>
            </a:r>
            <a:r>
              <a:rPr dirty="0"/>
              <a:t> </a:t>
            </a:r>
            <a:r>
              <a:rPr dirty="0" err="1"/>
              <a:t>سیستم‌های</a:t>
            </a:r>
            <a:r>
              <a:rPr dirty="0"/>
              <a:t> </a:t>
            </a:r>
            <a:r>
              <a:rPr dirty="0" err="1"/>
              <a:t>توزیع‌شده</a:t>
            </a:r>
            <a:r>
              <a:rPr dirty="0"/>
              <a:t>» </a:t>
            </a:r>
            <a:r>
              <a:rPr dirty="0" err="1"/>
              <a:t>مدل</a:t>
            </a:r>
            <a:r>
              <a:rPr dirty="0"/>
              <a:t> </a:t>
            </a:r>
            <a:r>
              <a:rPr dirty="0" err="1"/>
              <a:t>را</a:t>
            </a:r>
            <a:r>
              <a:rPr dirty="0"/>
              <a:t> </a:t>
            </a:r>
            <a:r>
              <a:rPr dirty="0" err="1"/>
              <a:t>به</a:t>
            </a:r>
            <a:r>
              <a:rPr dirty="0"/>
              <a:t> </a:t>
            </a:r>
            <a:r>
              <a:rPr dirty="0" err="1"/>
              <a:t>سمت</a:t>
            </a:r>
            <a:r>
              <a:rPr dirty="0"/>
              <a:t> Throughput، Latency، Consistency و Idempotency </a:t>
            </a:r>
            <a:r>
              <a:rPr dirty="0" err="1"/>
              <a:t>می‌برد</a:t>
            </a:r>
            <a:r>
              <a:rPr dirty="0"/>
              <a:t>. </a:t>
            </a:r>
            <a:r>
              <a:rPr dirty="0" err="1"/>
              <a:t>نتیجه</a:t>
            </a:r>
            <a:r>
              <a:rPr dirty="0"/>
              <a:t>: </a:t>
            </a:r>
            <a:r>
              <a:rPr dirty="0" err="1"/>
              <a:t>پاسخ</a:t>
            </a:r>
            <a:r>
              <a:rPr dirty="0"/>
              <a:t> </a:t>
            </a:r>
            <a:r>
              <a:rPr dirty="0" err="1"/>
              <a:t>از</a:t>
            </a:r>
            <a:r>
              <a:rPr dirty="0"/>
              <a:t> </a:t>
            </a:r>
            <a:r>
              <a:rPr dirty="0" err="1"/>
              <a:t>کلی‌گویی</a:t>
            </a:r>
            <a:r>
              <a:rPr dirty="0"/>
              <a:t> و </a:t>
            </a:r>
            <a:r>
              <a:rPr dirty="0" err="1"/>
              <a:t>بدیهیات</a:t>
            </a:r>
            <a:r>
              <a:rPr dirty="0"/>
              <a:t> </a:t>
            </a:r>
            <a:r>
              <a:rPr dirty="0" err="1"/>
              <a:t>خارج</a:t>
            </a:r>
            <a:r>
              <a:rPr dirty="0"/>
              <a:t> </a:t>
            </a:r>
            <a:r>
              <a:rPr dirty="0" err="1"/>
              <a:t>می‌شود</a:t>
            </a:r>
            <a:r>
              <a:rPr dirty="0"/>
              <a:t> و </a:t>
            </a:r>
            <a:r>
              <a:rPr dirty="0" err="1"/>
              <a:t>عمق</a:t>
            </a:r>
            <a:r>
              <a:rPr dirty="0"/>
              <a:t> </a:t>
            </a:r>
            <a:r>
              <a:rPr dirty="0" err="1"/>
              <a:t>فنی</a:t>
            </a:r>
            <a:r>
              <a:rPr dirty="0"/>
              <a:t> </a:t>
            </a:r>
            <a:r>
              <a:rPr dirty="0" err="1"/>
              <a:t>پیدا</a:t>
            </a:r>
            <a:r>
              <a:rPr dirty="0"/>
              <a:t> </a:t>
            </a:r>
            <a:r>
              <a:rPr dirty="0" err="1"/>
              <a:t>می‌کند</a:t>
            </a:r>
            <a:r>
              <a:rPr dirty="0"/>
              <a:t>.</a:t>
            </a:r>
          </a:p>
          <a:p>
            <a:endParaRPr dirty="0"/>
          </a:p>
          <a:p>
            <a:r>
              <a:rPr dirty="0"/>
              <a:t>۳. </a:t>
            </a:r>
            <a:r>
              <a:rPr dirty="0" err="1"/>
              <a:t>جهت‌دهی</a:t>
            </a:r>
            <a:r>
              <a:rPr dirty="0"/>
              <a:t> </a:t>
            </a:r>
            <a:r>
              <a:rPr dirty="0" err="1"/>
              <a:t>به</a:t>
            </a:r>
            <a:r>
              <a:rPr dirty="0"/>
              <a:t> </a:t>
            </a:r>
            <a:r>
              <a:rPr dirty="0" err="1"/>
              <a:t>استدلال</a:t>
            </a:r>
            <a:r>
              <a:rPr dirty="0"/>
              <a:t> و </a:t>
            </a:r>
            <a:r>
              <a:rPr dirty="0" err="1"/>
              <a:t>پیش‌فرض‌ها</a:t>
            </a:r>
            <a:r>
              <a:rPr dirty="0"/>
              <a:t> (Shaping Reasoning &amp; Assumptions)</a:t>
            </a:r>
          </a:p>
          <a:p>
            <a:r>
              <a:rPr dirty="0" err="1"/>
              <a:t>نقش</a:t>
            </a:r>
            <a:r>
              <a:rPr dirty="0"/>
              <a:t> </a:t>
            </a:r>
            <a:r>
              <a:rPr dirty="0" err="1"/>
              <a:t>فقط</a:t>
            </a:r>
            <a:r>
              <a:rPr dirty="0"/>
              <a:t> </a:t>
            </a:r>
            <a:r>
              <a:rPr dirty="0" err="1"/>
              <a:t>لحن</a:t>
            </a:r>
            <a:r>
              <a:rPr dirty="0"/>
              <a:t> </a:t>
            </a:r>
            <a:r>
              <a:rPr dirty="0" err="1"/>
              <a:t>را</a:t>
            </a:r>
            <a:r>
              <a:rPr dirty="0"/>
              <a:t> </a:t>
            </a:r>
            <a:r>
              <a:rPr dirty="0" err="1"/>
              <a:t>عوض</a:t>
            </a:r>
            <a:r>
              <a:rPr dirty="0"/>
              <a:t> </a:t>
            </a:r>
            <a:r>
              <a:rPr dirty="0" err="1"/>
              <a:t>نمی‌کند</a:t>
            </a:r>
            <a:r>
              <a:rPr dirty="0"/>
              <a:t>، </a:t>
            </a:r>
            <a:r>
              <a:rPr dirty="0" err="1">
                <a:solidFill>
                  <a:srgbClr val="FFFF00"/>
                </a:solidFill>
              </a:rPr>
              <a:t>زاویه</a:t>
            </a:r>
            <a:r>
              <a:rPr dirty="0">
                <a:solidFill>
                  <a:srgbClr val="FFFF00"/>
                </a:solidFill>
              </a:rPr>
              <a:t> </a:t>
            </a:r>
            <a:r>
              <a:rPr dirty="0" err="1">
                <a:solidFill>
                  <a:srgbClr val="FFFF00"/>
                </a:solidFill>
              </a:rPr>
              <a:t>دید</a:t>
            </a:r>
            <a:r>
              <a:rPr dirty="0">
                <a:solidFill>
                  <a:srgbClr val="FFFF00"/>
                </a:solidFill>
              </a:rPr>
              <a:t> </a:t>
            </a:r>
            <a:r>
              <a:rPr dirty="0" err="1"/>
              <a:t>را</a:t>
            </a:r>
            <a:r>
              <a:rPr dirty="0"/>
              <a:t> </a:t>
            </a:r>
            <a:r>
              <a:rPr dirty="0" err="1"/>
              <a:t>تعیین</a:t>
            </a:r>
            <a:r>
              <a:rPr dirty="0"/>
              <a:t> </a:t>
            </a:r>
            <a:r>
              <a:rPr dirty="0" err="1"/>
              <a:t>می‌کند</a:t>
            </a:r>
            <a:r>
              <a:rPr dirty="0"/>
              <a:t>. </a:t>
            </a:r>
            <a:r>
              <a:rPr dirty="0" err="1"/>
              <a:t>سؤال</a:t>
            </a:r>
            <a:r>
              <a:rPr dirty="0"/>
              <a:t>: «</a:t>
            </a:r>
            <a:r>
              <a:rPr dirty="0" err="1"/>
              <a:t>آیا</a:t>
            </a:r>
            <a:r>
              <a:rPr dirty="0"/>
              <a:t> </a:t>
            </a:r>
            <a:r>
              <a:rPr dirty="0" err="1"/>
              <a:t>باید</a:t>
            </a:r>
            <a:r>
              <a:rPr dirty="0"/>
              <a:t> </a:t>
            </a:r>
            <a:r>
              <a:rPr dirty="0" err="1"/>
              <a:t>سرویس‌مان</a:t>
            </a:r>
            <a:r>
              <a:rPr dirty="0"/>
              <a:t> </a:t>
            </a:r>
            <a:r>
              <a:rPr dirty="0" err="1"/>
              <a:t>را</a:t>
            </a:r>
            <a:r>
              <a:rPr dirty="0"/>
              <a:t> </a:t>
            </a:r>
            <a:r>
              <a:rPr dirty="0" err="1"/>
              <a:t>میکروفرانت‌اند</a:t>
            </a:r>
            <a:r>
              <a:rPr dirty="0"/>
              <a:t> </a:t>
            </a:r>
            <a:r>
              <a:rPr dirty="0" err="1"/>
              <a:t>کنیم</a:t>
            </a:r>
            <a:r>
              <a:rPr dirty="0"/>
              <a:t>؟»</a:t>
            </a:r>
          </a:p>
          <a:p>
            <a:r>
              <a:rPr dirty="0"/>
              <a:t>- </a:t>
            </a:r>
            <a:r>
              <a:rPr dirty="0" err="1"/>
              <a:t>توسعه‌دهنده</a:t>
            </a:r>
            <a:r>
              <a:rPr dirty="0"/>
              <a:t> </a:t>
            </a:r>
            <a:r>
              <a:rPr dirty="0" err="1"/>
              <a:t>تازه‌کار</a:t>
            </a:r>
            <a:r>
              <a:rPr dirty="0"/>
              <a:t>: </a:t>
            </a:r>
            <a:r>
              <a:rPr dirty="0" err="1"/>
              <a:t>روی</a:t>
            </a:r>
            <a:r>
              <a:rPr dirty="0"/>
              <a:t> </a:t>
            </a:r>
            <a:r>
              <a:rPr dirty="0" err="1"/>
              <a:t>تکنولوژی‌های</a:t>
            </a:r>
            <a:r>
              <a:rPr dirty="0"/>
              <a:t> </a:t>
            </a:r>
            <a:r>
              <a:rPr dirty="0" err="1"/>
              <a:t>ترند</a:t>
            </a:r>
            <a:r>
              <a:rPr dirty="0"/>
              <a:t> و </a:t>
            </a:r>
            <a:r>
              <a:rPr dirty="0" err="1"/>
              <a:t>جذابیت</a:t>
            </a:r>
            <a:r>
              <a:rPr dirty="0"/>
              <a:t> </a:t>
            </a:r>
            <a:r>
              <a:rPr dirty="0" err="1"/>
              <a:t>یادگیری</a:t>
            </a:r>
            <a:r>
              <a:rPr dirty="0"/>
              <a:t> </a:t>
            </a:r>
            <a:r>
              <a:rPr dirty="0" err="1"/>
              <a:t>تمرکز</a:t>
            </a:r>
            <a:r>
              <a:rPr dirty="0"/>
              <a:t> </a:t>
            </a:r>
            <a:r>
              <a:rPr dirty="0" err="1"/>
              <a:t>می‌کند</a:t>
            </a:r>
            <a:r>
              <a:rPr dirty="0"/>
              <a:t>.</a:t>
            </a:r>
          </a:p>
          <a:p>
            <a:r>
              <a:rPr dirty="0"/>
              <a:t>- CTO </a:t>
            </a:r>
            <a:r>
              <a:rPr dirty="0" err="1"/>
              <a:t>باسابقه</a:t>
            </a:r>
            <a:r>
              <a:rPr dirty="0"/>
              <a:t>: </a:t>
            </a:r>
            <a:r>
              <a:rPr dirty="0" err="1"/>
              <a:t>روی</a:t>
            </a:r>
            <a:r>
              <a:rPr dirty="0"/>
              <a:t> </a:t>
            </a:r>
            <a:r>
              <a:rPr dirty="0" err="1"/>
              <a:t>هزینه</a:t>
            </a:r>
            <a:r>
              <a:rPr dirty="0"/>
              <a:t> </a:t>
            </a:r>
            <a:r>
              <a:rPr dirty="0" err="1"/>
              <a:t>دیپلوی</a:t>
            </a:r>
            <a:r>
              <a:rPr dirty="0"/>
              <a:t>، </a:t>
            </a:r>
            <a:r>
              <a:rPr dirty="0" err="1"/>
              <a:t>سربار</a:t>
            </a:r>
            <a:r>
              <a:rPr dirty="0"/>
              <a:t> </a:t>
            </a:r>
            <a:r>
              <a:rPr dirty="0" err="1"/>
              <a:t>نگهداری</a:t>
            </a:r>
            <a:r>
              <a:rPr dirty="0"/>
              <a:t>، </a:t>
            </a:r>
            <a:r>
              <a:rPr dirty="0" err="1"/>
              <a:t>اندازه</a:t>
            </a:r>
            <a:r>
              <a:rPr dirty="0"/>
              <a:t> </a:t>
            </a:r>
            <a:r>
              <a:rPr dirty="0" err="1"/>
              <a:t>تیم</a:t>
            </a:r>
            <a:r>
              <a:rPr dirty="0"/>
              <a:t>، </a:t>
            </a:r>
            <a:r>
              <a:rPr dirty="0" err="1"/>
              <a:t>پیچیدگی</a:t>
            </a:r>
            <a:r>
              <a:rPr dirty="0"/>
              <a:t> </a:t>
            </a:r>
            <a:r>
              <a:rPr dirty="0" err="1"/>
              <a:t>تست</a:t>
            </a:r>
            <a:r>
              <a:rPr dirty="0"/>
              <a:t> و </a:t>
            </a:r>
            <a:r>
              <a:rPr dirty="0" err="1"/>
              <a:t>بازگشت</a:t>
            </a:r>
            <a:r>
              <a:rPr dirty="0"/>
              <a:t> </a:t>
            </a:r>
            <a:r>
              <a:rPr dirty="0" err="1"/>
              <a:t>سرمایه</a:t>
            </a:r>
            <a:r>
              <a:rPr dirty="0"/>
              <a:t> </a:t>
            </a:r>
            <a:r>
              <a:rPr dirty="0" err="1"/>
              <a:t>تمرکز</a:t>
            </a:r>
            <a:r>
              <a:rPr dirty="0"/>
              <a:t> </a:t>
            </a:r>
            <a:r>
              <a:rPr dirty="0" err="1"/>
              <a:t>می‌کند</a:t>
            </a:r>
            <a:r>
              <a:rPr dirty="0"/>
              <a:t>.</a:t>
            </a:r>
          </a:p>
          <a:p>
            <a:r>
              <a:rPr dirty="0" err="1"/>
              <a:t>نقش</a:t>
            </a:r>
            <a:r>
              <a:rPr dirty="0"/>
              <a:t> </a:t>
            </a:r>
            <a:r>
              <a:rPr dirty="0" err="1"/>
              <a:t>به</a:t>
            </a:r>
            <a:r>
              <a:rPr dirty="0"/>
              <a:t> </a:t>
            </a:r>
            <a:r>
              <a:rPr dirty="0" err="1"/>
              <a:t>مدل</a:t>
            </a:r>
            <a:r>
              <a:rPr dirty="0"/>
              <a:t> </a:t>
            </a:r>
            <a:r>
              <a:rPr dirty="0" err="1"/>
              <a:t>می‌گوید</a:t>
            </a:r>
            <a:r>
              <a:rPr dirty="0"/>
              <a:t> </a:t>
            </a:r>
            <a:r>
              <a:rPr dirty="0" err="1"/>
              <a:t>به</a:t>
            </a:r>
            <a:r>
              <a:rPr dirty="0"/>
              <a:t> </a:t>
            </a:r>
            <a:r>
              <a:rPr dirty="0" err="1"/>
              <a:t>چه</a:t>
            </a:r>
            <a:r>
              <a:rPr dirty="0"/>
              <a:t> </a:t>
            </a:r>
            <a:r>
              <a:rPr dirty="0" err="1"/>
              <a:t>متغیرهایی</a:t>
            </a:r>
            <a:r>
              <a:rPr dirty="0"/>
              <a:t> </a:t>
            </a:r>
            <a:r>
              <a:rPr dirty="0" err="1"/>
              <a:t>اولویت</a:t>
            </a:r>
            <a:r>
              <a:rPr dirty="0"/>
              <a:t> </a:t>
            </a:r>
            <a:r>
              <a:rPr dirty="0" err="1"/>
              <a:t>بدهد</a:t>
            </a:r>
            <a:r>
              <a:rPr dirty="0"/>
              <a:t> و </a:t>
            </a:r>
            <a:r>
              <a:rPr dirty="0" err="1"/>
              <a:t>کدام</a:t>
            </a:r>
            <a:r>
              <a:rPr dirty="0"/>
              <a:t> </a:t>
            </a:r>
            <a:r>
              <a:rPr dirty="0" err="1"/>
              <a:t>فاکتورها</a:t>
            </a:r>
            <a:r>
              <a:rPr dirty="0"/>
              <a:t> </a:t>
            </a:r>
            <a:r>
              <a:rPr dirty="0" err="1"/>
              <a:t>را</a:t>
            </a:r>
            <a:r>
              <a:rPr dirty="0"/>
              <a:t> </a:t>
            </a:r>
            <a:r>
              <a:rPr dirty="0" err="1"/>
              <a:t>نادیده</a:t>
            </a:r>
            <a:r>
              <a:rPr dirty="0"/>
              <a:t> </a:t>
            </a:r>
            <a:r>
              <a:rPr dirty="0" err="1"/>
              <a:t>بگیرد</a:t>
            </a:r>
            <a:r>
              <a:rPr dirty="0"/>
              <a:t>.</a:t>
            </a:r>
          </a:p>
          <a:p>
            <a:endParaRPr dirty="0"/>
          </a:p>
          <a:p>
            <a:r>
              <a:rPr dirty="0"/>
              <a:t>۴. </a:t>
            </a:r>
            <a:r>
              <a:rPr dirty="0" err="1"/>
              <a:t>هم‌راستایی</a:t>
            </a:r>
            <a:r>
              <a:rPr dirty="0"/>
              <a:t> </a:t>
            </a:r>
            <a:r>
              <a:rPr dirty="0" err="1"/>
              <a:t>با</a:t>
            </a:r>
            <a:r>
              <a:rPr dirty="0"/>
              <a:t> </a:t>
            </a:r>
            <a:r>
              <a:rPr dirty="0" err="1"/>
              <a:t>انتظارات</a:t>
            </a:r>
            <a:r>
              <a:rPr dirty="0"/>
              <a:t> </a:t>
            </a:r>
            <a:r>
              <a:rPr dirty="0" err="1"/>
              <a:t>بدون</a:t>
            </a:r>
            <a:r>
              <a:rPr dirty="0"/>
              <a:t> </a:t>
            </a:r>
            <a:r>
              <a:rPr dirty="0" err="1"/>
              <a:t>توضیح</a:t>
            </a:r>
            <a:r>
              <a:rPr dirty="0"/>
              <a:t> </a:t>
            </a:r>
            <a:r>
              <a:rPr dirty="0" err="1"/>
              <a:t>طولانی</a:t>
            </a:r>
            <a:r>
              <a:rPr dirty="0"/>
              <a:t> (Prompt Compression)</a:t>
            </a:r>
          </a:p>
          <a:p>
            <a:r>
              <a:rPr dirty="0" err="1"/>
              <a:t>بدون</a:t>
            </a:r>
            <a:r>
              <a:rPr dirty="0"/>
              <a:t> </a:t>
            </a:r>
            <a:r>
              <a:rPr dirty="0" err="1"/>
              <a:t>نقش</a:t>
            </a:r>
            <a:r>
              <a:rPr dirty="0"/>
              <a:t> </a:t>
            </a:r>
            <a:r>
              <a:rPr dirty="0" err="1"/>
              <a:t>باید</a:t>
            </a:r>
            <a:r>
              <a:rPr dirty="0"/>
              <a:t> </a:t>
            </a:r>
            <a:r>
              <a:rPr dirty="0" err="1"/>
              <a:t>بنویسید</a:t>
            </a:r>
            <a:r>
              <a:rPr dirty="0"/>
              <a:t>: «</a:t>
            </a:r>
            <a:r>
              <a:rPr dirty="0" err="1"/>
              <a:t>با</a:t>
            </a:r>
            <a:r>
              <a:rPr dirty="0"/>
              <a:t> </a:t>
            </a:r>
            <a:r>
              <a:rPr dirty="0" err="1"/>
              <a:t>لحن</a:t>
            </a:r>
            <a:r>
              <a:rPr dirty="0"/>
              <a:t> </a:t>
            </a:r>
            <a:r>
              <a:rPr dirty="0" err="1"/>
              <a:t>کاملاً</a:t>
            </a:r>
            <a:r>
              <a:rPr dirty="0"/>
              <a:t> </a:t>
            </a:r>
            <a:r>
              <a:rPr dirty="0" err="1"/>
              <a:t>حرفه‌ای</a:t>
            </a:r>
            <a:r>
              <a:rPr dirty="0"/>
              <a:t> </a:t>
            </a:r>
            <a:r>
              <a:rPr dirty="0" err="1"/>
              <a:t>جواب</a:t>
            </a:r>
            <a:r>
              <a:rPr dirty="0"/>
              <a:t> </a:t>
            </a:r>
            <a:r>
              <a:rPr dirty="0" err="1"/>
              <a:t>بده</a:t>
            </a:r>
            <a:r>
              <a:rPr dirty="0"/>
              <a:t>، </a:t>
            </a:r>
            <a:r>
              <a:rPr dirty="0" err="1"/>
              <a:t>از</a:t>
            </a:r>
            <a:r>
              <a:rPr dirty="0"/>
              <a:t> </a:t>
            </a:r>
            <a:r>
              <a:rPr dirty="0" err="1"/>
              <a:t>اصطلاحات</a:t>
            </a:r>
            <a:r>
              <a:rPr dirty="0"/>
              <a:t> </a:t>
            </a:r>
            <a:r>
              <a:rPr dirty="0" err="1"/>
              <a:t>حوزه</a:t>
            </a:r>
            <a:r>
              <a:rPr dirty="0"/>
              <a:t> </a:t>
            </a:r>
            <a:r>
              <a:rPr dirty="0" err="1"/>
              <a:t>کلود</a:t>
            </a:r>
            <a:r>
              <a:rPr dirty="0"/>
              <a:t> </a:t>
            </a:r>
            <a:r>
              <a:rPr dirty="0" err="1"/>
              <a:t>استفاده</a:t>
            </a:r>
            <a:r>
              <a:rPr dirty="0"/>
              <a:t> </a:t>
            </a:r>
            <a:r>
              <a:rPr dirty="0" err="1"/>
              <a:t>کن</a:t>
            </a:r>
            <a:r>
              <a:rPr dirty="0"/>
              <a:t>، </a:t>
            </a:r>
            <a:r>
              <a:rPr dirty="0" err="1"/>
              <a:t>به</a:t>
            </a:r>
            <a:r>
              <a:rPr dirty="0"/>
              <a:t> </a:t>
            </a:r>
            <a:r>
              <a:rPr dirty="0" err="1"/>
              <a:t>دسترس‌پذیری</a:t>
            </a:r>
            <a:r>
              <a:rPr dirty="0"/>
              <a:t> </a:t>
            </a:r>
            <a:r>
              <a:rPr dirty="0" err="1"/>
              <a:t>بالا</a:t>
            </a:r>
            <a:r>
              <a:rPr dirty="0"/>
              <a:t> </a:t>
            </a:r>
            <a:r>
              <a:rPr dirty="0" err="1"/>
              <a:t>اشاره</a:t>
            </a:r>
            <a:r>
              <a:rPr dirty="0"/>
              <a:t> </a:t>
            </a:r>
            <a:r>
              <a:rPr dirty="0" err="1"/>
              <a:t>کن</a:t>
            </a:r>
            <a:r>
              <a:rPr dirty="0"/>
              <a:t>، </a:t>
            </a:r>
            <a:r>
              <a:rPr dirty="0" err="1"/>
              <a:t>کدها</a:t>
            </a:r>
            <a:r>
              <a:rPr dirty="0"/>
              <a:t> </a:t>
            </a:r>
            <a:r>
              <a:rPr dirty="0" err="1"/>
              <a:t>را</a:t>
            </a:r>
            <a:r>
              <a:rPr dirty="0"/>
              <a:t> </a:t>
            </a:r>
            <a:r>
              <a:rPr dirty="0" err="1"/>
              <a:t>ماژولار</a:t>
            </a:r>
            <a:r>
              <a:rPr dirty="0"/>
              <a:t> </a:t>
            </a:r>
            <a:r>
              <a:rPr dirty="0" err="1"/>
              <a:t>بنویس</a:t>
            </a:r>
            <a:r>
              <a:rPr dirty="0"/>
              <a:t> و </a:t>
            </a:r>
            <a:r>
              <a:rPr dirty="0" err="1"/>
              <a:t>از</a:t>
            </a:r>
            <a:r>
              <a:rPr dirty="0"/>
              <a:t> </a:t>
            </a:r>
            <a:r>
              <a:rPr dirty="0" err="1"/>
              <a:t>کلیشه‌ها</a:t>
            </a:r>
            <a:r>
              <a:rPr dirty="0"/>
              <a:t> </a:t>
            </a:r>
            <a:r>
              <a:rPr dirty="0" err="1"/>
              <a:t>پرهیز</a:t>
            </a:r>
            <a:r>
              <a:rPr dirty="0"/>
              <a:t> </a:t>
            </a:r>
            <a:r>
              <a:rPr dirty="0" err="1"/>
              <a:t>کن</a:t>
            </a:r>
            <a:r>
              <a:rPr dirty="0"/>
              <a:t>.»</a:t>
            </a:r>
          </a:p>
          <a:p>
            <a:r>
              <a:rPr dirty="0" err="1"/>
              <a:t>جمله</a:t>
            </a:r>
            <a:r>
              <a:rPr dirty="0"/>
              <a:t> «</a:t>
            </a:r>
            <a:r>
              <a:rPr dirty="0" err="1"/>
              <a:t>تو</a:t>
            </a:r>
            <a:r>
              <a:rPr dirty="0"/>
              <a:t> </a:t>
            </a:r>
            <a:r>
              <a:rPr dirty="0" err="1"/>
              <a:t>یک</a:t>
            </a:r>
            <a:r>
              <a:rPr dirty="0"/>
              <a:t> Senior Cloud Solutions Architect </a:t>
            </a:r>
            <a:r>
              <a:rPr dirty="0" err="1"/>
              <a:t>هستی</a:t>
            </a:r>
            <a:r>
              <a:rPr dirty="0"/>
              <a:t>.» </a:t>
            </a:r>
            <a:r>
              <a:rPr dirty="0" err="1"/>
              <a:t>همه</a:t>
            </a:r>
            <a:r>
              <a:rPr dirty="0"/>
              <a:t> </a:t>
            </a:r>
            <a:r>
              <a:rPr dirty="0" err="1"/>
              <a:t>این</a:t>
            </a:r>
            <a:r>
              <a:rPr dirty="0"/>
              <a:t> </a:t>
            </a:r>
            <a:r>
              <a:rPr dirty="0" err="1"/>
              <a:t>پیش‌فرض‌ها</a:t>
            </a:r>
            <a:r>
              <a:rPr dirty="0"/>
              <a:t> </a:t>
            </a:r>
            <a:r>
              <a:rPr dirty="0" err="1"/>
              <a:t>را</a:t>
            </a:r>
            <a:r>
              <a:rPr dirty="0"/>
              <a:t> </a:t>
            </a:r>
            <a:r>
              <a:rPr dirty="0" err="1"/>
              <a:t>فشرده</a:t>
            </a:r>
            <a:r>
              <a:rPr dirty="0"/>
              <a:t> </a:t>
            </a:r>
            <a:r>
              <a:rPr dirty="0" err="1"/>
              <a:t>در</a:t>
            </a:r>
            <a:r>
              <a:rPr dirty="0"/>
              <a:t> </a:t>
            </a:r>
            <a:r>
              <a:rPr dirty="0" err="1"/>
              <a:t>خود</a:t>
            </a:r>
            <a:r>
              <a:rPr dirty="0"/>
              <a:t> </a:t>
            </a:r>
            <a:r>
              <a:rPr dirty="0" err="1"/>
              <a:t>دارد</a:t>
            </a:r>
            <a:r>
              <a:rPr dirty="0"/>
              <a:t>، </a:t>
            </a:r>
            <a:r>
              <a:rPr dirty="0" err="1"/>
              <a:t>چون</a:t>
            </a:r>
            <a:r>
              <a:rPr dirty="0"/>
              <a:t> </a:t>
            </a:r>
            <a:r>
              <a:rPr dirty="0" err="1"/>
              <a:t>مدل</a:t>
            </a:r>
            <a:r>
              <a:rPr dirty="0"/>
              <a:t> </a:t>
            </a:r>
            <a:r>
              <a:rPr dirty="0" err="1"/>
              <a:t>در</a:t>
            </a:r>
            <a:r>
              <a:rPr dirty="0"/>
              <a:t> </a:t>
            </a:r>
            <a:r>
              <a:rPr dirty="0" err="1"/>
              <a:t>داده‌های</a:t>
            </a:r>
            <a:r>
              <a:rPr dirty="0"/>
              <a:t> </a:t>
            </a:r>
            <a:r>
              <a:rPr dirty="0" err="1"/>
              <a:t>آموزشی</a:t>
            </a:r>
            <a:r>
              <a:rPr dirty="0"/>
              <a:t> </a:t>
            </a:r>
            <a:r>
              <a:rPr dirty="0" err="1"/>
              <a:t>بارها</a:t>
            </a:r>
            <a:r>
              <a:rPr dirty="0"/>
              <a:t> </a:t>
            </a:r>
            <a:r>
              <a:rPr dirty="0" err="1"/>
              <a:t>دیده</a:t>
            </a:r>
            <a:r>
              <a:rPr dirty="0"/>
              <a:t> </a:t>
            </a:r>
            <a:r>
              <a:rPr dirty="0" err="1"/>
              <a:t>این</a:t>
            </a:r>
            <a:r>
              <a:rPr dirty="0"/>
              <a:t> </a:t>
            </a:r>
            <a:r>
              <a:rPr dirty="0" err="1"/>
              <a:t>عنوان</a:t>
            </a:r>
            <a:r>
              <a:rPr dirty="0"/>
              <a:t> </a:t>
            </a:r>
            <a:r>
              <a:rPr dirty="0" err="1"/>
              <a:t>شغلی</a:t>
            </a:r>
            <a:r>
              <a:rPr dirty="0"/>
              <a:t> </a:t>
            </a:r>
            <a:r>
              <a:rPr dirty="0" err="1"/>
              <a:t>معمولاً</a:t>
            </a:r>
            <a:r>
              <a:rPr dirty="0"/>
              <a:t> </a:t>
            </a:r>
            <a:r>
              <a:rPr dirty="0" err="1"/>
              <a:t>چه</a:t>
            </a:r>
            <a:r>
              <a:rPr dirty="0"/>
              <a:t> </a:t>
            </a:r>
            <a:r>
              <a:rPr dirty="0" err="1"/>
              <a:t>کیفیتی</a:t>
            </a:r>
            <a:r>
              <a:rPr dirty="0"/>
              <a:t> </a:t>
            </a:r>
            <a:r>
              <a:rPr dirty="0" err="1"/>
              <a:t>از</a:t>
            </a:r>
            <a:r>
              <a:rPr dirty="0"/>
              <a:t> </a:t>
            </a:r>
            <a:r>
              <a:rPr dirty="0" err="1"/>
              <a:t>محتوا</a:t>
            </a:r>
            <a:r>
              <a:rPr dirty="0"/>
              <a:t> و </a:t>
            </a:r>
            <a:r>
              <a:rPr dirty="0" err="1"/>
              <a:t>تحلیل</a:t>
            </a:r>
            <a:r>
              <a:rPr dirty="0"/>
              <a:t> </a:t>
            </a:r>
            <a:r>
              <a:rPr dirty="0" err="1"/>
              <a:t>ارائه</a:t>
            </a:r>
            <a:r>
              <a:rPr dirty="0"/>
              <a:t> </a:t>
            </a:r>
            <a:r>
              <a:rPr dirty="0" err="1"/>
              <a:t>می‌دهد</a:t>
            </a:r>
            <a:r>
              <a:rPr dirty="0"/>
              <a:t>.</a:t>
            </a:r>
          </a:p>
          <a:p>
            <a:endParaRPr dirty="0"/>
          </a:p>
          <a:p>
            <a:r>
              <a:rPr dirty="0" err="1"/>
              <a:t>نکته</a:t>
            </a:r>
            <a:r>
              <a:rPr dirty="0"/>
              <a:t> </a:t>
            </a:r>
            <a:r>
              <a:rPr dirty="0" err="1"/>
              <a:t>مهم</a:t>
            </a:r>
            <a:r>
              <a:rPr dirty="0"/>
              <a:t> (</a:t>
            </a:r>
            <a:r>
              <a:rPr dirty="0" err="1"/>
              <a:t>محدودیت‌ها</a:t>
            </a:r>
            <a:r>
              <a:rPr dirty="0"/>
              <a:t>):</a:t>
            </a:r>
          </a:p>
          <a:p>
            <a:r>
              <a:rPr dirty="0"/>
              <a:t>- </a:t>
            </a:r>
            <a:r>
              <a:rPr dirty="0" err="1"/>
              <a:t>نقش</a:t>
            </a:r>
            <a:r>
              <a:rPr dirty="0"/>
              <a:t> </a:t>
            </a:r>
            <a:r>
              <a:rPr dirty="0" err="1"/>
              <a:t>معجزه</a:t>
            </a:r>
            <a:r>
              <a:rPr dirty="0"/>
              <a:t> </a:t>
            </a:r>
            <a:r>
              <a:rPr dirty="0" err="1"/>
              <a:t>نمی‌کند</a:t>
            </a:r>
            <a:r>
              <a:rPr dirty="0"/>
              <a:t>: </a:t>
            </a:r>
            <a:r>
              <a:rPr dirty="0" err="1"/>
              <a:t>دانش</a:t>
            </a:r>
            <a:r>
              <a:rPr dirty="0"/>
              <a:t> </a:t>
            </a:r>
            <a:r>
              <a:rPr dirty="0" err="1"/>
              <a:t>جدیدی</a:t>
            </a:r>
            <a:r>
              <a:rPr dirty="0"/>
              <a:t> </a:t>
            </a:r>
            <a:r>
              <a:rPr dirty="0" err="1"/>
              <a:t>به</a:t>
            </a:r>
            <a:r>
              <a:rPr dirty="0"/>
              <a:t> </a:t>
            </a:r>
            <a:r>
              <a:rPr dirty="0" err="1"/>
              <a:t>مدل</a:t>
            </a:r>
            <a:r>
              <a:rPr dirty="0"/>
              <a:t> </a:t>
            </a:r>
            <a:r>
              <a:rPr dirty="0" err="1"/>
              <a:t>تزریق</a:t>
            </a:r>
            <a:r>
              <a:rPr dirty="0"/>
              <a:t> </a:t>
            </a:r>
            <a:r>
              <a:rPr dirty="0" err="1"/>
              <a:t>نمی‌کند</a:t>
            </a:r>
            <a:r>
              <a:rPr dirty="0"/>
              <a:t> </a:t>
            </a:r>
            <a:r>
              <a:rPr dirty="0" err="1"/>
              <a:t>که</a:t>
            </a:r>
            <a:r>
              <a:rPr dirty="0"/>
              <a:t> </a:t>
            </a:r>
            <a:r>
              <a:rPr dirty="0" err="1"/>
              <a:t>از</a:t>
            </a:r>
            <a:r>
              <a:rPr dirty="0"/>
              <a:t> </a:t>
            </a:r>
            <a:r>
              <a:rPr dirty="0" err="1"/>
              <a:t>قبل</a:t>
            </a:r>
            <a:r>
              <a:rPr dirty="0"/>
              <a:t> </a:t>
            </a:r>
            <a:r>
              <a:rPr dirty="0" err="1"/>
              <a:t>بلد</a:t>
            </a:r>
            <a:r>
              <a:rPr dirty="0"/>
              <a:t> </a:t>
            </a:r>
            <a:r>
              <a:rPr dirty="0" err="1"/>
              <a:t>نباشد</a:t>
            </a:r>
            <a:r>
              <a:rPr dirty="0"/>
              <a:t>.</a:t>
            </a:r>
          </a:p>
          <a:p>
            <a:r>
              <a:rPr dirty="0"/>
              <a:t>- </a:t>
            </a:r>
            <a:r>
              <a:rPr dirty="0" err="1"/>
              <a:t>گاهی</a:t>
            </a:r>
            <a:r>
              <a:rPr dirty="0"/>
              <a:t> </a:t>
            </a:r>
            <a:r>
              <a:rPr dirty="0" err="1"/>
              <a:t>توهم</a:t>
            </a:r>
            <a:r>
              <a:rPr dirty="0"/>
              <a:t> </a:t>
            </a:r>
            <a:r>
              <a:rPr dirty="0" err="1"/>
              <a:t>ایجاد</a:t>
            </a:r>
            <a:r>
              <a:rPr dirty="0"/>
              <a:t> </a:t>
            </a:r>
            <a:r>
              <a:rPr dirty="0" err="1"/>
              <a:t>می‌کند</a:t>
            </a:r>
            <a:r>
              <a:rPr dirty="0"/>
              <a:t>: </a:t>
            </a:r>
            <a:r>
              <a:rPr dirty="0" err="1"/>
              <a:t>نقش</a:t>
            </a:r>
            <a:r>
              <a:rPr dirty="0"/>
              <a:t> </a:t>
            </a:r>
            <a:r>
              <a:rPr dirty="0" err="1"/>
              <a:t>اغراق‌آمیز</a:t>
            </a:r>
            <a:r>
              <a:rPr dirty="0"/>
              <a:t> (</a:t>
            </a:r>
            <a:r>
              <a:rPr dirty="0" err="1"/>
              <a:t>مثلاً</a:t>
            </a:r>
            <a:r>
              <a:rPr dirty="0"/>
              <a:t> «</a:t>
            </a:r>
            <a:r>
              <a:rPr dirty="0" err="1"/>
              <a:t>تو</a:t>
            </a:r>
            <a:r>
              <a:rPr dirty="0"/>
              <a:t> </a:t>
            </a:r>
            <a:r>
              <a:rPr dirty="0" err="1"/>
              <a:t>نابغه‌ترین</a:t>
            </a:r>
            <a:r>
              <a:rPr dirty="0"/>
              <a:t> </a:t>
            </a:r>
            <a:r>
              <a:rPr dirty="0" err="1"/>
              <a:t>دانشمند</a:t>
            </a:r>
            <a:r>
              <a:rPr dirty="0"/>
              <a:t> </a:t>
            </a:r>
            <a:r>
              <a:rPr dirty="0" err="1"/>
              <a:t>کوانتوم</a:t>
            </a:r>
            <a:r>
              <a:rPr dirty="0"/>
              <a:t> </a:t>
            </a:r>
            <a:r>
              <a:rPr dirty="0" err="1"/>
              <a:t>تاریخ</a:t>
            </a:r>
            <a:r>
              <a:rPr dirty="0"/>
              <a:t> </a:t>
            </a:r>
            <a:r>
              <a:rPr dirty="0" err="1"/>
              <a:t>هستی</a:t>
            </a:r>
            <a:r>
              <a:rPr dirty="0"/>
              <a:t>») </a:t>
            </a:r>
            <a:r>
              <a:rPr dirty="0" err="1"/>
              <a:t>ممکن</a:t>
            </a:r>
            <a:r>
              <a:rPr dirty="0"/>
              <a:t> </a:t>
            </a:r>
            <a:r>
              <a:rPr dirty="0" err="1"/>
              <a:t>است</a:t>
            </a:r>
            <a:r>
              <a:rPr dirty="0"/>
              <a:t> </a:t>
            </a:r>
            <a:r>
              <a:rPr dirty="0" err="1"/>
              <a:t>به</a:t>
            </a:r>
            <a:r>
              <a:rPr dirty="0"/>
              <a:t> </a:t>
            </a:r>
            <a:r>
              <a:rPr dirty="0" err="1"/>
              <a:t>جای</a:t>
            </a:r>
            <a:r>
              <a:rPr dirty="0"/>
              <a:t> </a:t>
            </a:r>
            <a:r>
              <a:rPr dirty="0" err="1"/>
              <a:t>دقت</a:t>
            </a:r>
            <a:r>
              <a:rPr dirty="0"/>
              <a:t> </a:t>
            </a:r>
            <a:r>
              <a:rPr dirty="0" err="1"/>
              <a:t>بیشتر</a:t>
            </a:r>
            <a:r>
              <a:rPr dirty="0"/>
              <a:t>، </a:t>
            </a:r>
            <a:r>
              <a:rPr dirty="0" err="1"/>
              <a:t>پاسخ‌های</a:t>
            </a:r>
            <a:r>
              <a:rPr dirty="0"/>
              <a:t> </a:t>
            </a:r>
            <a:r>
              <a:rPr dirty="0" err="1"/>
              <a:t>پرطمطراق</a:t>
            </a:r>
            <a:r>
              <a:rPr dirty="0"/>
              <a:t> و </a:t>
            </a:r>
            <a:r>
              <a:rPr dirty="0" err="1"/>
              <a:t>متوهمانه</a:t>
            </a:r>
            <a:r>
              <a:rPr dirty="0"/>
              <a:t> </a:t>
            </a:r>
            <a:r>
              <a:rPr dirty="0" err="1"/>
              <a:t>تولید</a:t>
            </a:r>
            <a:r>
              <a:rPr dirty="0"/>
              <a:t> </a:t>
            </a:r>
            <a:r>
              <a:rPr dirty="0" err="1"/>
              <a:t>کند</a:t>
            </a:r>
            <a:r>
              <a:rPr dirty="0"/>
              <a:t>.</a:t>
            </a:r>
          </a:p>
          <a:p>
            <a:r>
              <a:rPr dirty="0"/>
              <a:t>- </a:t>
            </a:r>
            <a:r>
              <a:rPr dirty="0" err="1"/>
              <a:t>بهترین</a:t>
            </a:r>
            <a:r>
              <a:rPr dirty="0"/>
              <a:t> </a:t>
            </a:r>
            <a:r>
              <a:rPr dirty="0" err="1"/>
              <a:t>اثرگذاری</a:t>
            </a:r>
            <a:r>
              <a:rPr dirty="0"/>
              <a:t>: </a:t>
            </a:r>
            <a:r>
              <a:rPr dirty="0" err="1"/>
              <a:t>وقتی</a:t>
            </a:r>
            <a:r>
              <a:rPr dirty="0"/>
              <a:t> </a:t>
            </a:r>
            <a:r>
              <a:rPr dirty="0" err="1"/>
              <a:t>نقش</a:t>
            </a:r>
            <a:r>
              <a:rPr dirty="0"/>
              <a:t> </a:t>
            </a:r>
            <a:r>
              <a:rPr dirty="0" err="1"/>
              <a:t>با</a:t>
            </a:r>
            <a:r>
              <a:rPr dirty="0"/>
              <a:t> </a:t>
            </a:r>
            <a:r>
              <a:rPr dirty="0" err="1"/>
              <a:t>یک</a:t>
            </a:r>
            <a:r>
              <a:rPr dirty="0"/>
              <a:t> </a:t>
            </a:r>
            <a:r>
              <a:rPr dirty="0" err="1"/>
              <a:t>مأموریت</a:t>
            </a:r>
            <a:r>
              <a:rPr dirty="0"/>
              <a:t> </a:t>
            </a:r>
            <a:r>
              <a:rPr dirty="0" err="1"/>
              <a:t>مشخص</a:t>
            </a:r>
            <a:r>
              <a:rPr dirty="0"/>
              <a:t>، </a:t>
            </a:r>
            <a:r>
              <a:rPr dirty="0" err="1"/>
              <a:t>مخاطب</a:t>
            </a:r>
            <a:r>
              <a:rPr dirty="0"/>
              <a:t> </a:t>
            </a:r>
            <a:r>
              <a:rPr dirty="0" err="1"/>
              <a:t>هدف</a:t>
            </a:r>
            <a:r>
              <a:rPr dirty="0"/>
              <a:t> و </a:t>
            </a:r>
            <a:r>
              <a:rPr dirty="0" err="1"/>
              <a:t>خروجی</a:t>
            </a:r>
            <a:r>
              <a:rPr dirty="0"/>
              <a:t> </a:t>
            </a:r>
            <a:r>
              <a:rPr dirty="0" err="1"/>
              <a:t>ساختاریافته</a:t>
            </a:r>
            <a:r>
              <a:rPr dirty="0"/>
              <a:t> </a:t>
            </a:r>
            <a:r>
              <a:rPr dirty="0" err="1"/>
              <a:t>ترکیب</a:t>
            </a:r>
            <a:r>
              <a:rPr dirty="0"/>
              <a:t> </a:t>
            </a:r>
            <a:r>
              <a:rPr dirty="0" err="1"/>
              <a:t>شود</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11</a:t>
            </a:fld>
            <a:endParaRPr lang="en-US"/>
          </a:p>
        </p:txBody>
      </p:sp>
    </p:spTree>
    <p:extLst>
      <p:ext uri="{BB962C8B-B14F-4D97-AF65-F5344CB8AC3E}">
        <p14:creationId xmlns:p14="http://schemas.microsoft.com/office/powerpoint/2010/main" val="1093015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پدیده</a:t>
            </a:r>
            <a:r>
              <a:rPr dirty="0"/>
              <a:t> Recency Bias و Order Sensitivity </a:t>
            </a:r>
            <a:r>
              <a:rPr dirty="0" err="1"/>
              <a:t>در</a:t>
            </a:r>
            <a:r>
              <a:rPr dirty="0"/>
              <a:t> </a:t>
            </a:r>
            <a:r>
              <a:rPr dirty="0" err="1"/>
              <a:t>مدل‌های</a:t>
            </a:r>
            <a:r>
              <a:rPr dirty="0"/>
              <a:t> </a:t>
            </a:r>
            <a:r>
              <a:rPr dirty="0" err="1"/>
              <a:t>زبانی</a:t>
            </a:r>
            <a:r>
              <a:rPr dirty="0"/>
              <a:t>:</a:t>
            </a:r>
          </a:p>
          <a:p>
            <a:endParaRPr dirty="0"/>
          </a:p>
          <a:p>
            <a:r>
              <a:rPr dirty="0" err="1"/>
              <a:t>مشاهده</a:t>
            </a:r>
            <a:r>
              <a:rPr dirty="0"/>
              <a:t> </a:t>
            </a:r>
            <a:r>
              <a:rPr dirty="0" err="1"/>
              <a:t>تجربی</a:t>
            </a:r>
            <a:r>
              <a:rPr dirty="0"/>
              <a:t>:</a:t>
            </a:r>
          </a:p>
          <a:p>
            <a:r>
              <a:rPr dirty="0" err="1"/>
              <a:t>وقتی</a:t>
            </a:r>
            <a:r>
              <a:rPr dirty="0"/>
              <a:t> </a:t>
            </a:r>
            <a:r>
              <a:rPr dirty="0" err="1"/>
              <a:t>ترتیب</a:t>
            </a:r>
            <a:r>
              <a:rPr dirty="0"/>
              <a:t> </a:t>
            </a:r>
            <a:r>
              <a:rPr dirty="0" err="1"/>
              <a:t>استدلال‌ها</a:t>
            </a:r>
            <a:r>
              <a:rPr dirty="0"/>
              <a:t> </a:t>
            </a:r>
            <a:r>
              <a:rPr dirty="0" err="1"/>
              <a:t>را</a:t>
            </a:r>
            <a:r>
              <a:rPr dirty="0"/>
              <a:t> </a:t>
            </a:r>
            <a:r>
              <a:rPr dirty="0" err="1"/>
              <a:t>عوض</a:t>
            </a:r>
            <a:r>
              <a:rPr dirty="0"/>
              <a:t> </a:t>
            </a:r>
            <a:r>
              <a:rPr dirty="0" err="1"/>
              <a:t>می‌کنیم</a:t>
            </a:r>
            <a:r>
              <a:rPr dirty="0"/>
              <a:t> و </a:t>
            </a:r>
            <a:r>
              <a:rPr dirty="0" err="1"/>
              <a:t>استدلال</a:t>
            </a:r>
            <a:r>
              <a:rPr dirty="0"/>
              <a:t> </a:t>
            </a:r>
            <a:r>
              <a:rPr dirty="0" err="1"/>
              <a:t>مثبت</a:t>
            </a:r>
            <a:r>
              <a:rPr dirty="0"/>
              <a:t> </a:t>
            </a:r>
            <a:r>
              <a:rPr dirty="0" err="1"/>
              <a:t>را</a:t>
            </a:r>
            <a:r>
              <a:rPr dirty="0"/>
              <a:t> </a:t>
            </a:r>
            <a:r>
              <a:rPr dirty="0" err="1"/>
              <a:t>در</a:t>
            </a:r>
            <a:r>
              <a:rPr dirty="0"/>
              <a:t> </a:t>
            </a:r>
            <a:r>
              <a:rPr dirty="0" err="1"/>
              <a:t>انتها</a:t>
            </a:r>
            <a:r>
              <a:rPr dirty="0"/>
              <a:t> </a:t>
            </a:r>
            <a:r>
              <a:rPr dirty="0" err="1"/>
              <a:t>می‌آوریم</a:t>
            </a:r>
            <a:r>
              <a:rPr dirty="0"/>
              <a:t>، </a:t>
            </a:r>
            <a:r>
              <a:rPr dirty="0" err="1"/>
              <a:t>خروجی</a:t>
            </a:r>
            <a:r>
              <a:rPr dirty="0"/>
              <a:t> </a:t>
            </a:r>
            <a:r>
              <a:rPr dirty="0" err="1"/>
              <a:t>مدل</a:t>
            </a:r>
            <a:r>
              <a:rPr dirty="0"/>
              <a:t> </a:t>
            </a:r>
            <a:r>
              <a:rPr dirty="0" err="1"/>
              <a:t>ممکن</a:t>
            </a:r>
            <a:r>
              <a:rPr dirty="0"/>
              <a:t> </a:t>
            </a:r>
            <a:r>
              <a:rPr dirty="0" err="1"/>
              <a:t>است</a:t>
            </a:r>
            <a:r>
              <a:rPr dirty="0"/>
              <a:t> </a:t>
            </a:r>
            <a:r>
              <a:rPr dirty="0" err="1"/>
              <a:t>کاملاً</a:t>
            </a:r>
            <a:r>
              <a:rPr dirty="0"/>
              <a:t> </a:t>
            </a:r>
            <a:r>
              <a:rPr dirty="0" err="1"/>
              <a:t>مثبت</a:t>
            </a:r>
            <a:r>
              <a:rPr dirty="0"/>
              <a:t> </a:t>
            </a:r>
            <a:r>
              <a:rPr dirty="0" err="1"/>
              <a:t>شود</a:t>
            </a:r>
            <a:r>
              <a:rPr dirty="0"/>
              <a:t>. </a:t>
            </a:r>
            <a:r>
              <a:rPr dirty="0" err="1"/>
              <a:t>در</a:t>
            </a:r>
            <a:r>
              <a:rPr dirty="0"/>
              <a:t> </a:t>
            </a:r>
            <a:r>
              <a:rPr dirty="0" err="1"/>
              <a:t>اکثر</a:t>
            </a:r>
            <a:r>
              <a:rPr dirty="0"/>
              <a:t> </a:t>
            </a:r>
            <a:r>
              <a:rPr dirty="0" err="1"/>
              <a:t>مواقع</a:t>
            </a:r>
            <a:r>
              <a:rPr dirty="0"/>
              <a:t>، </a:t>
            </a:r>
            <a:r>
              <a:rPr dirty="0" err="1"/>
              <a:t>مدل‌ها</a:t>
            </a:r>
            <a:r>
              <a:rPr dirty="0"/>
              <a:t> </a:t>
            </a:r>
            <a:r>
              <a:rPr dirty="0" err="1"/>
              <a:t>تمایل</a:t>
            </a:r>
            <a:r>
              <a:rPr dirty="0"/>
              <a:t> </a:t>
            </a:r>
            <a:r>
              <a:rPr dirty="0" err="1"/>
              <a:t>بیشتری</a:t>
            </a:r>
            <a:r>
              <a:rPr dirty="0"/>
              <a:t> </a:t>
            </a:r>
            <a:r>
              <a:rPr dirty="0" err="1"/>
              <a:t>دارند</a:t>
            </a:r>
            <a:r>
              <a:rPr dirty="0"/>
              <a:t> </a:t>
            </a:r>
            <a:r>
              <a:rPr dirty="0" err="1"/>
              <a:t>که</a:t>
            </a:r>
            <a:r>
              <a:rPr dirty="0"/>
              <a:t> </a:t>
            </a:r>
            <a:r>
              <a:rPr dirty="0" err="1"/>
              <a:t>گزینه</a:t>
            </a:r>
            <a:r>
              <a:rPr dirty="0"/>
              <a:t> </a:t>
            </a:r>
            <a:r>
              <a:rPr dirty="0" err="1"/>
              <a:t>دوم</a:t>
            </a:r>
            <a:r>
              <a:rPr dirty="0"/>
              <a:t> </a:t>
            </a:r>
            <a:r>
              <a:rPr dirty="0" err="1"/>
              <a:t>را</a:t>
            </a:r>
            <a:r>
              <a:rPr dirty="0"/>
              <a:t> </a:t>
            </a:r>
            <a:r>
              <a:rPr dirty="0" err="1"/>
              <a:t>انتخاب</a:t>
            </a:r>
            <a:r>
              <a:rPr dirty="0"/>
              <a:t> </a:t>
            </a:r>
            <a:r>
              <a:rPr dirty="0" err="1"/>
              <a:t>کنند</a:t>
            </a:r>
            <a:r>
              <a:rPr dirty="0"/>
              <a:t>.</a:t>
            </a:r>
          </a:p>
          <a:p>
            <a:endParaRPr dirty="0"/>
          </a:p>
          <a:p>
            <a:r>
              <a:rPr dirty="0" err="1"/>
              <a:t>چرا</a:t>
            </a:r>
            <a:r>
              <a:rPr dirty="0"/>
              <a:t> </a:t>
            </a:r>
            <a:r>
              <a:rPr dirty="0" err="1"/>
              <a:t>این</a:t>
            </a:r>
            <a:r>
              <a:rPr dirty="0"/>
              <a:t> </a:t>
            </a:r>
            <a:r>
              <a:rPr dirty="0" err="1"/>
              <a:t>اتفاق</a:t>
            </a:r>
            <a:r>
              <a:rPr dirty="0"/>
              <a:t> </a:t>
            </a:r>
            <a:r>
              <a:rPr dirty="0" err="1"/>
              <a:t>می‌افتد</a:t>
            </a:r>
            <a:r>
              <a:rPr dirty="0"/>
              <a:t>؟</a:t>
            </a:r>
          </a:p>
          <a:p>
            <a:r>
              <a:rPr dirty="0"/>
              <a:t>۱. </a:t>
            </a:r>
            <a:r>
              <a:rPr dirty="0" err="1"/>
              <a:t>ماهیت</a:t>
            </a:r>
            <a:r>
              <a:rPr dirty="0"/>
              <a:t> </a:t>
            </a:r>
            <a:r>
              <a:rPr dirty="0" err="1"/>
              <a:t>خودبازگشتی</a:t>
            </a:r>
            <a:r>
              <a:rPr dirty="0"/>
              <a:t> (Autoregressive Attention):</a:t>
            </a:r>
          </a:p>
          <a:p>
            <a:pPr algn="r" rtl="1"/>
            <a:r>
              <a:rPr dirty="0" err="1"/>
              <a:t>مدل‌ها</a:t>
            </a:r>
            <a:r>
              <a:rPr dirty="0"/>
              <a:t> </a:t>
            </a:r>
            <a:r>
              <a:rPr dirty="0" err="1"/>
              <a:t>متن</a:t>
            </a:r>
            <a:r>
              <a:rPr dirty="0"/>
              <a:t> </a:t>
            </a:r>
            <a:r>
              <a:rPr dirty="0" err="1"/>
              <a:t>را</a:t>
            </a:r>
            <a:r>
              <a:rPr dirty="0"/>
              <a:t> </a:t>
            </a:r>
            <a:r>
              <a:rPr dirty="0" err="1"/>
              <a:t>توکن</a:t>
            </a:r>
            <a:r>
              <a:rPr dirty="0"/>
              <a:t> </a:t>
            </a:r>
            <a:r>
              <a:rPr dirty="0" err="1"/>
              <a:t>به</a:t>
            </a:r>
            <a:r>
              <a:rPr dirty="0"/>
              <a:t> </a:t>
            </a:r>
            <a:r>
              <a:rPr dirty="0" err="1"/>
              <a:t>توکن</a:t>
            </a:r>
            <a:r>
              <a:rPr dirty="0"/>
              <a:t> </a:t>
            </a:r>
            <a:r>
              <a:rPr dirty="0" err="1"/>
              <a:t>پردازش</a:t>
            </a:r>
            <a:r>
              <a:rPr dirty="0"/>
              <a:t> </a:t>
            </a:r>
            <a:r>
              <a:rPr dirty="0" err="1"/>
              <a:t>می‌کنند</a:t>
            </a:r>
            <a:r>
              <a:rPr dirty="0"/>
              <a:t>. </a:t>
            </a:r>
            <a:r>
              <a:rPr dirty="0" err="1"/>
              <a:t>توکن‌هایی</a:t>
            </a:r>
            <a:r>
              <a:rPr dirty="0"/>
              <a:t> </a:t>
            </a:r>
            <a:r>
              <a:rPr dirty="0" err="1"/>
              <a:t>که</a:t>
            </a:r>
            <a:r>
              <a:rPr dirty="0"/>
              <a:t> </a:t>
            </a:r>
            <a:r>
              <a:rPr dirty="0" err="1"/>
              <a:t>در</a:t>
            </a:r>
            <a:r>
              <a:rPr dirty="0"/>
              <a:t> </a:t>
            </a:r>
            <a:r>
              <a:rPr dirty="0" err="1"/>
              <a:t>انتهای</a:t>
            </a:r>
            <a:r>
              <a:rPr dirty="0"/>
              <a:t> </a:t>
            </a:r>
            <a:r>
              <a:rPr dirty="0" err="1"/>
              <a:t>کانتکست</a:t>
            </a:r>
            <a:r>
              <a:rPr dirty="0"/>
              <a:t> (</a:t>
            </a:r>
            <a:r>
              <a:rPr dirty="0" err="1"/>
              <a:t>نزدیک‌ترین</a:t>
            </a:r>
            <a:r>
              <a:rPr dirty="0"/>
              <a:t> </a:t>
            </a:r>
            <a:r>
              <a:rPr dirty="0" err="1"/>
              <a:t>نقطه</a:t>
            </a:r>
            <a:r>
              <a:rPr dirty="0"/>
              <a:t> </a:t>
            </a:r>
            <a:r>
              <a:rPr dirty="0" err="1"/>
              <a:t>به</a:t>
            </a:r>
            <a:r>
              <a:rPr dirty="0"/>
              <a:t> </a:t>
            </a:r>
            <a:r>
              <a:rPr dirty="0" err="1"/>
              <a:t>زمان</a:t>
            </a:r>
            <a:r>
              <a:rPr dirty="0"/>
              <a:t> </a:t>
            </a:r>
            <a:r>
              <a:rPr dirty="0" err="1"/>
              <a:t>تولید</a:t>
            </a:r>
            <a:r>
              <a:rPr dirty="0"/>
              <a:t> </a:t>
            </a:r>
            <a:r>
              <a:rPr dirty="0" err="1"/>
              <a:t>خروجی</a:t>
            </a:r>
            <a:r>
              <a:rPr dirty="0"/>
              <a:t>) </a:t>
            </a:r>
            <a:r>
              <a:rPr dirty="0" err="1"/>
              <a:t>قرار</a:t>
            </a:r>
            <a:r>
              <a:rPr dirty="0"/>
              <a:t> </a:t>
            </a:r>
            <a:r>
              <a:rPr dirty="0" err="1"/>
              <a:t>دارند</a:t>
            </a:r>
            <a:r>
              <a:rPr dirty="0"/>
              <a:t>، </a:t>
            </a:r>
            <a:r>
              <a:rPr dirty="0" err="1"/>
              <a:t>در</a:t>
            </a:r>
            <a:r>
              <a:rPr dirty="0"/>
              <a:t> </a:t>
            </a:r>
            <a:r>
              <a:rPr dirty="0" err="1"/>
              <a:t>لایه‌های</a:t>
            </a:r>
            <a:r>
              <a:rPr dirty="0"/>
              <a:t> Attention </a:t>
            </a:r>
            <a:r>
              <a:rPr dirty="0" err="1"/>
              <a:t>تازه‌تر</a:t>
            </a:r>
            <a:r>
              <a:rPr dirty="0"/>
              <a:t> </a:t>
            </a:r>
            <a:r>
              <a:rPr dirty="0" err="1"/>
              <a:t>هستند</a:t>
            </a:r>
            <a:r>
              <a:rPr dirty="0"/>
              <a:t> و </a:t>
            </a:r>
            <a:r>
              <a:rPr dirty="0" err="1"/>
              <a:t>بیشترین</a:t>
            </a:r>
            <a:r>
              <a:rPr dirty="0"/>
              <a:t> </a:t>
            </a:r>
            <a:r>
              <a:rPr dirty="0" err="1"/>
              <a:t>گرادیان</a:t>
            </a:r>
            <a:r>
              <a:rPr dirty="0"/>
              <a:t> </a:t>
            </a:r>
            <a:r>
              <a:rPr dirty="0" err="1"/>
              <a:t>توجه</a:t>
            </a:r>
            <a:r>
              <a:rPr dirty="0"/>
              <a:t> </a:t>
            </a:r>
            <a:r>
              <a:rPr dirty="0" err="1"/>
              <a:t>را</a:t>
            </a:r>
            <a:r>
              <a:rPr dirty="0"/>
              <a:t> </a:t>
            </a:r>
            <a:r>
              <a:rPr dirty="0" err="1"/>
              <a:t>دریافت</a:t>
            </a:r>
            <a:r>
              <a:rPr dirty="0"/>
              <a:t> </a:t>
            </a:r>
            <a:r>
              <a:rPr dirty="0" err="1"/>
              <a:t>می‌کنند</a:t>
            </a:r>
            <a:r>
              <a:rPr dirty="0"/>
              <a:t> (Recency Effect).</a:t>
            </a:r>
          </a:p>
          <a:p>
            <a:endParaRPr dirty="0"/>
          </a:p>
          <a:p>
            <a:r>
              <a:rPr dirty="0"/>
              <a:t>۲. </a:t>
            </a:r>
            <a:r>
              <a:rPr dirty="0" err="1"/>
              <a:t>سوگیری</a:t>
            </a:r>
            <a:r>
              <a:rPr dirty="0"/>
              <a:t> </a:t>
            </a:r>
            <a:r>
              <a:rPr dirty="0" err="1"/>
              <a:t>داده‌های</a:t>
            </a:r>
            <a:r>
              <a:rPr dirty="0"/>
              <a:t> </a:t>
            </a:r>
            <a:r>
              <a:rPr dirty="0" err="1"/>
              <a:t>آموزشی</a:t>
            </a:r>
            <a:r>
              <a:rPr dirty="0"/>
              <a:t> (Training Data Bias):</a:t>
            </a:r>
          </a:p>
          <a:p>
            <a:r>
              <a:rPr dirty="0" err="1"/>
              <a:t>در</a:t>
            </a:r>
            <a:r>
              <a:rPr dirty="0"/>
              <a:t> </a:t>
            </a:r>
            <a:r>
              <a:rPr dirty="0" err="1"/>
              <a:t>متون</a:t>
            </a:r>
            <a:r>
              <a:rPr dirty="0"/>
              <a:t> </a:t>
            </a:r>
            <a:r>
              <a:rPr dirty="0" err="1"/>
              <a:t>وب</a:t>
            </a:r>
            <a:r>
              <a:rPr dirty="0"/>
              <a:t>، </a:t>
            </a:r>
            <a:r>
              <a:rPr dirty="0" err="1"/>
              <a:t>الگوی</a:t>
            </a:r>
            <a:r>
              <a:rPr dirty="0"/>
              <a:t> </a:t>
            </a:r>
            <a:r>
              <a:rPr dirty="0" err="1"/>
              <a:t>نگارش</a:t>
            </a:r>
            <a:r>
              <a:rPr dirty="0"/>
              <a:t> </a:t>
            </a:r>
            <a:r>
              <a:rPr dirty="0" err="1"/>
              <a:t>انسان‌ها</a:t>
            </a:r>
            <a:r>
              <a:rPr dirty="0"/>
              <a:t> </a:t>
            </a:r>
            <a:r>
              <a:rPr dirty="0" err="1"/>
              <a:t>معمولاً</a:t>
            </a:r>
            <a:r>
              <a:rPr dirty="0"/>
              <a:t> </a:t>
            </a:r>
            <a:r>
              <a:rPr dirty="0" err="1"/>
              <a:t>این</a:t>
            </a:r>
            <a:r>
              <a:rPr dirty="0"/>
              <a:t> </a:t>
            </a:r>
            <a:r>
              <a:rPr dirty="0" err="1"/>
              <a:t>است</a:t>
            </a:r>
            <a:r>
              <a:rPr dirty="0"/>
              <a:t> </a:t>
            </a:r>
            <a:r>
              <a:rPr dirty="0" err="1"/>
              <a:t>که</a:t>
            </a:r>
            <a:r>
              <a:rPr dirty="0"/>
              <a:t> </a:t>
            </a:r>
            <a:r>
              <a:rPr dirty="0" err="1"/>
              <a:t>ابتدا</a:t>
            </a:r>
            <a:r>
              <a:rPr dirty="0"/>
              <a:t> </a:t>
            </a:r>
            <a:r>
              <a:rPr dirty="0" err="1"/>
              <a:t>گزینه‌های</a:t>
            </a:r>
            <a:r>
              <a:rPr dirty="0"/>
              <a:t> </a:t>
            </a:r>
            <a:r>
              <a:rPr dirty="0" err="1"/>
              <a:t>ضعیف‌تر</a:t>
            </a:r>
            <a:r>
              <a:rPr dirty="0"/>
              <a:t> </a:t>
            </a:r>
            <a:r>
              <a:rPr dirty="0" err="1"/>
              <a:t>یا</a:t>
            </a:r>
            <a:r>
              <a:rPr dirty="0"/>
              <a:t> </a:t>
            </a:r>
            <a:r>
              <a:rPr dirty="0" err="1"/>
              <a:t>ردشده</a:t>
            </a:r>
            <a:r>
              <a:rPr dirty="0"/>
              <a:t> </a:t>
            </a:r>
            <a:r>
              <a:rPr dirty="0" err="1"/>
              <a:t>را</a:t>
            </a:r>
            <a:r>
              <a:rPr dirty="0"/>
              <a:t> </a:t>
            </a:r>
            <a:r>
              <a:rPr dirty="0" err="1"/>
              <a:t>مطرح</a:t>
            </a:r>
            <a:r>
              <a:rPr dirty="0"/>
              <a:t> </a:t>
            </a:r>
            <a:r>
              <a:rPr dirty="0" err="1"/>
              <a:t>می‌کنند</a:t>
            </a:r>
            <a:r>
              <a:rPr dirty="0"/>
              <a:t> و </a:t>
            </a:r>
            <a:r>
              <a:rPr dirty="0" err="1"/>
              <a:t>در</a:t>
            </a:r>
            <a:r>
              <a:rPr dirty="0"/>
              <a:t> </a:t>
            </a:r>
            <a:r>
              <a:rPr dirty="0" err="1"/>
              <a:t>پایان</a:t>
            </a:r>
            <a:r>
              <a:rPr dirty="0"/>
              <a:t> </a:t>
            </a:r>
            <a:r>
              <a:rPr dirty="0" err="1"/>
              <a:t>گزینه</a:t>
            </a:r>
            <a:r>
              <a:rPr dirty="0"/>
              <a:t> </a:t>
            </a:r>
            <a:r>
              <a:rPr dirty="0" err="1"/>
              <a:t>برنده</a:t>
            </a:r>
            <a:r>
              <a:rPr dirty="0"/>
              <a:t> و </a:t>
            </a:r>
            <a:r>
              <a:rPr dirty="0" err="1"/>
              <a:t>نهایی</a:t>
            </a:r>
            <a:r>
              <a:rPr dirty="0"/>
              <a:t> </a:t>
            </a:r>
            <a:r>
              <a:rPr dirty="0" err="1"/>
              <a:t>را</a:t>
            </a:r>
            <a:r>
              <a:rPr dirty="0"/>
              <a:t> </a:t>
            </a:r>
            <a:r>
              <a:rPr dirty="0" err="1"/>
              <a:t>به</a:t>
            </a:r>
            <a:r>
              <a:rPr dirty="0"/>
              <a:t> </a:t>
            </a:r>
            <a:r>
              <a:rPr dirty="0" err="1"/>
              <a:t>عنوان</a:t>
            </a:r>
            <a:r>
              <a:rPr dirty="0"/>
              <a:t> </a:t>
            </a:r>
            <a:r>
              <a:rPr dirty="0" err="1"/>
              <a:t>نتیجه‌گیری</a:t>
            </a:r>
            <a:r>
              <a:rPr dirty="0"/>
              <a:t> </a:t>
            </a:r>
            <a:r>
              <a:rPr dirty="0" err="1"/>
              <a:t>می‌آورند</a:t>
            </a:r>
            <a:r>
              <a:rPr dirty="0"/>
              <a:t>. </a:t>
            </a:r>
            <a:r>
              <a:rPr dirty="0" err="1"/>
              <a:t>در</a:t>
            </a:r>
            <a:r>
              <a:rPr dirty="0"/>
              <a:t> </a:t>
            </a:r>
            <a:r>
              <a:rPr dirty="0" err="1"/>
              <a:t>نتیجه</a:t>
            </a:r>
            <a:r>
              <a:rPr dirty="0"/>
              <a:t> </a:t>
            </a:r>
            <a:r>
              <a:rPr dirty="0" err="1"/>
              <a:t>وزن‌های</a:t>
            </a:r>
            <a:r>
              <a:rPr dirty="0"/>
              <a:t> </a:t>
            </a:r>
            <a:r>
              <a:rPr dirty="0" err="1"/>
              <a:t>مدل</a:t>
            </a:r>
            <a:r>
              <a:rPr dirty="0"/>
              <a:t>، </a:t>
            </a:r>
            <a:r>
              <a:rPr dirty="0" err="1"/>
              <a:t>موقعیت‌های</a:t>
            </a:r>
            <a:r>
              <a:rPr dirty="0"/>
              <a:t> </a:t>
            </a:r>
            <a:r>
              <a:rPr dirty="0" err="1"/>
              <a:t>پایانی</a:t>
            </a:r>
            <a:r>
              <a:rPr dirty="0"/>
              <a:t> </a:t>
            </a:r>
            <a:r>
              <a:rPr dirty="0" err="1"/>
              <a:t>را</a:t>
            </a:r>
            <a:r>
              <a:rPr dirty="0"/>
              <a:t> </a:t>
            </a:r>
            <a:r>
              <a:rPr dirty="0" err="1"/>
              <a:t>بیشتر</a:t>
            </a:r>
            <a:r>
              <a:rPr dirty="0"/>
              <a:t> </a:t>
            </a:r>
            <a:r>
              <a:rPr dirty="0" err="1"/>
              <a:t>با</a:t>
            </a:r>
            <a:r>
              <a:rPr dirty="0"/>
              <a:t> </a:t>
            </a:r>
            <a:r>
              <a:rPr dirty="0" err="1"/>
              <a:t>برچسب</a:t>
            </a:r>
            <a:r>
              <a:rPr dirty="0"/>
              <a:t> </a:t>
            </a:r>
            <a:r>
              <a:rPr dirty="0" err="1"/>
              <a:t>نتیجه</a:t>
            </a:r>
            <a:r>
              <a:rPr dirty="0"/>
              <a:t> </a:t>
            </a:r>
            <a:r>
              <a:rPr dirty="0" err="1"/>
              <a:t>مطلوب</a:t>
            </a:r>
            <a:r>
              <a:rPr dirty="0"/>
              <a:t> </a:t>
            </a:r>
            <a:r>
              <a:rPr dirty="0" err="1"/>
              <a:t>مرتبط</a:t>
            </a:r>
            <a:r>
              <a:rPr dirty="0"/>
              <a:t> </a:t>
            </a:r>
            <a:r>
              <a:rPr dirty="0" err="1"/>
              <a:t>کرده‌اند</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راهکارهای مقابله با سوگیری ترتیب (Order Sensitivity):</a:t>
            </a:r>
          </a:p>
          <a:p>
            <a:endParaRPr/>
          </a:p>
          <a:p>
            <a:r>
              <a:t>چالش در کاربردهای واقعی (به‌ویژه LLM-as-a-Judge):</a:t>
            </a:r>
          </a:p>
          <a:p>
            <a:r>
              <a:t>در سیستم‌های ارزیابی خودکار و مقایسه‌های A/B یا رتبه‌بندی RAG، اگر صرفاً بپرسیم کدام پاسخ بهتر است، مدل در ۶۰٪ تا ۷۰٪ مواقع گزینه دوم را ترجیح می‌دهد، صرفاً به خاطر موقعیت مکانی آن!</a:t>
            </a:r>
          </a:p>
          <a:p>
            <a:endParaRPr/>
          </a:p>
          <a:p>
            <a:r>
              <a:t>۳ راهکار استاندارد تولیدی:</a:t>
            </a:r>
          </a:p>
          <a:p>
            <a:r>
              <a:t>۱. ارزیابی دوطرفه (Position Swapping / Position Calibration):</a:t>
            </a:r>
          </a:p>
          <a:p>
            <a:r>
              <a:t>پرامپت را یک‌بار با ترتیب (A, B) و بار دیگر با ترتیب (B, A) بفرستید. فقط در صورتی برنده را قطعی بدانید که در هر دو حالت یک گزینه مفهومی یکسان برنده شود. اگر با جابجایی نظرش عوض شد، این سیگنالِ یک مورد مرزی / تساوی (Tie) است.</a:t>
            </a:r>
          </a:p>
          <a:p>
            <a:endParaRPr/>
          </a:p>
          <a:p>
            <a:r>
              <a:t>۲. اجبار به استدلال قبل از رأی (Chain-of-Thought):</a:t>
            </a:r>
          </a:p>
          <a:p>
            <a:r>
              <a:t>مدل را مجبور کنید ابتدا نقاط قوت و ضعف هر دو گزینه را تحلیل کند و سپس نتیجه را اعلام کند. کانتکست استدلال تولیدشده توسط خود مدل، اثر سوگیری آخرین ورودی را خنثی می‌کند.</a:t>
            </a:r>
          </a:p>
          <a:p>
            <a:endParaRPr/>
          </a:p>
          <a:p>
            <a:r>
              <a:t>۳. قالب‌های خنثی و تگ‌های XML:</a:t>
            </a:r>
          </a:p>
          <a:p>
            <a:r>
              <a:t>استفاده از تگ‌های XML و اسامی خنثی مثل Candidate Alpha و Candidate Beta به جای گزینه‌های عددی (Option 1/2)، سوگیری ترتیب را کاهش می‌دهد.</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dirty="0" err="1"/>
              <a:t>توضیحات</a:t>
            </a:r>
            <a:r>
              <a:rPr dirty="0"/>
              <a:t> و </a:t>
            </a:r>
            <a:r>
              <a:rPr dirty="0" err="1"/>
              <a:t>کاربردهای</a:t>
            </a:r>
            <a:r>
              <a:rPr dirty="0"/>
              <a:t> </a:t>
            </a:r>
            <a:r>
              <a:rPr dirty="0" err="1"/>
              <a:t>پارامتر</a:t>
            </a:r>
            <a:r>
              <a:rPr dirty="0"/>
              <a:t> </a:t>
            </a:r>
            <a:r>
              <a:rPr dirty="0" err="1"/>
              <a:t>stop_sequences</a:t>
            </a:r>
            <a:r>
              <a:rPr dirty="0"/>
              <a:t>:</a:t>
            </a:r>
          </a:p>
          <a:p>
            <a:pPr algn="r" rtl="1"/>
            <a:endParaRPr dirty="0"/>
          </a:p>
          <a:p>
            <a:pPr algn="r" rtl="1"/>
            <a:r>
              <a:rPr dirty="0" err="1"/>
              <a:t>پارامتر</a:t>
            </a:r>
            <a:r>
              <a:rPr dirty="0"/>
              <a:t> </a:t>
            </a:r>
            <a:r>
              <a:rPr dirty="0" err="1"/>
              <a:t>stop_sequences</a:t>
            </a:r>
            <a:r>
              <a:rPr dirty="0"/>
              <a:t> </a:t>
            </a:r>
            <a:r>
              <a:rPr dirty="0" err="1"/>
              <a:t>در</a:t>
            </a:r>
            <a:r>
              <a:rPr dirty="0"/>
              <a:t> API </a:t>
            </a:r>
            <a:r>
              <a:rPr dirty="0" err="1"/>
              <a:t>مدل‌ها</a:t>
            </a:r>
            <a:r>
              <a:rPr dirty="0"/>
              <a:t> (</a:t>
            </a:r>
            <a:r>
              <a:rPr dirty="0" err="1"/>
              <a:t>به‌ویژه</a:t>
            </a:r>
            <a:r>
              <a:rPr dirty="0"/>
              <a:t> </a:t>
            </a:r>
            <a:r>
              <a:rPr dirty="0" err="1"/>
              <a:t>کلاد</a:t>
            </a:r>
            <a:r>
              <a:rPr dirty="0"/>
              <a:t>/Anthropic و OpenAI) </a:t>
            </a:r>
            <a:r>
              <a:rPr dirty="0" err="1"/>
              <a:t>به</a:t>
            </a:r>
            <a:r>
              <a:rPr dirty="0"/>
              <a:t> </a:t>
            </a:r>
            <a:r>
              <a:rPr dirty="0" err="1"/>
              <a:t>مدل</a:t>
            </a:r>
            <a:r>
              <a:rPr dirty="0"/>
              <a:t> </a:t>
            </a:r>
            <a:r>
              <a:rPr dirty="0" err="1"/>
              <a:t>می‌گوید</a:t>
            </a:r>
            <a:r>
              <a:rPr dirty="0"/>
              <a:t>: «</a:t>
            </a:r>
            <a:r>
              <a:rPr dirty="0" err="1"/>
              <a:t>هر</a:t>
            </a:r>
            <a:r>
              <a:rPr dirty="0"/>
              <a:t> </a:t>
            </a:r>
            <a:r>
              <a:rPr dirty="0" err="1"/>
              <a:t>زمان</a:t>
            </a:r>
            <a:r>
              <a:rPr dirty="0"/>
              <a:t> </a:t>
            </a:r>
            <a:r>
              <a:rPr dirty="0" err="1"/>
              <a:t>در</a:t>
            </a:r>
            <a:r>
              <a:rPr dirty="0"/>
              <a:t> </a:t>
            </a:r>
            <a:r>
              <a:rPr dirty="0" err="1"/>
              <a:t>حین</a:t>
            </a:r>
            <a:r>
              <a:rPr dirty="0"/>
              <a:t> </a:t>
            </a:r>
            <a:r>
              <a:rPr dirty="0" err="1"/>
              <a:t>تولید</a:t>
            </a:r>
            <a:r>
              <a:rPr dirty="0"/>
              <a:t> </a:t>
            </a:r>
            <a:r>
              <a:rPr dirty="0" err="1"/>
              <a:t>متن</a:t>
            </a:r>
            <a:r>
              <a:rPr dirty="0"/>
              <a:t> </a:t>
            </a:r>
            <a:r>
              <a:rPr dirty="0" err="1"/>
              <a:t>به</a:t>
            </a:r>
            <a:r>
              <a:rPr dirty="0"/>
              <a:t> </a:t>
            </a:r>
            <a:r>
              <a:rPr dirty="0" err="1"/>
              <a:t>هر</a:t>
            </a:r>
            <a:r>
              <a:rPr dirty="0"/>
              <a:t> </a:t>
            </a:r>
            <a:r>
              <a:rPr dirty="0" err="1"/>
              <a:t>یک</a:t>
            </a:r>
            <a:r>
              <a:rPr dirty="0"/>
              <a:t> </a:t>
            </a:r>
            <a:r>
              <a:rPr dirty="0" err="1"/>
              <a:t>از</a:t>
            </a:r>
            <a:r>
              <a:rPr dirty="0"/>
              <a:t> </a:t>
            </a:r>
            <a:r>
              <a:rPr dirty="0" err="1"/>
              <a:t>این</a:t>
            </a:r>
            <a:r>
              <a:rPr dirty="0"/>
              <a:t> </a:t>
            </a:r>
            <a:r>
              <a:rPr dirty="0" err="1"/>
              <a:t>رشته‌ها</a:t>
            </a:r>
            <a:r>
              <a:rPr dirty="0"/>
              <a:t> </a:t>
            </a:r>
            <a:r>
              <a:rPr dirty="0" err="1"/>
              <a:t>رسیدی</a:t>
            </a:r>
            <a:r>
              <a:rPr dirty="0"/>
              <a:t>، </a:t>
            </a:r>
            <a:r>
              <a:rPr dirty="0" err="1"/>
              <a:t>بلافاصله</a:t>
            </a:r>
            <a:r>
              <a:rPr dirty="0"/>
              <a:t> </a:t>
            </a:r>
            <a:r>
              <a:rPr dirty="0" err="1"/>
              <a:t>تولید</a:t>
            </a:r>
            <a:r>
              <a:rPr dirty="0"/>
              <a:t> </a:t>
            </a:r>
            <a:r>
              <a:rPr dirty="0" err="1"/>
              <a:t>را</a:t>
            </a:r>
            <a:r>
              <a:rPr dirty="0"/>
              <a:t> </a:t>
            </a:r>
            <a:r>
              <a:rPr dirty="0" err="1"/>
              <a:t>متوقف</a:t>
            </a:r>
            <a:r>
              <a:rPr dirty="0"/>
              <a:t> </a:t>
            </a:r>
            <a:r>
              <a:rPr dirty="0" err="1"/>
              <a:t>کن</a:t>
            </a:r>
            <a:r>
              <a:rPr dirty="0"/>
              <a:t>.»</a:t>
            </a:r>
          </a:p>
          <a:p>
            <a:pPr algn="r" rtl="1"/>
            <a:endParaRPr dirty="0"/>
          </a:p>
          <a:p>
            <a:pPr algn="r" rtl="1"/>
            <a:r>
              <a:rPr dirty="0" err="1"/>
              <a:t>چهار</a:t>
            </a:r>
            <a:r>
              <a:rPr dirty="0"/>
              <a:t> </a:t>
            </a:r>
            <a:r>
              <a:rPr dirty="0" err="1"/>
              <a:t>کاربرد</a:t>
            </a:r>
            <a:r>
              <a:rPr dirty="0"/>
              <a:t> </a:t>
            </a:r>
            <a:r>
              <a:rPr dirty="0" err="1"/>
              <a:t>کلیدی</a:t>
            </a:r>
            <a:r>
              <a:rPr dirty="0"/>
              <a:t>:</a:t>
            </a:r>
          </a:p>
          <a:p>
            <a:pPr algn="r" rtl="1"/>
            <a:r>
              <a:rPr dirty="0"/>
              <a:t>۱. </a:t>
            </a:r>
            <a:r>
              <a:rPr dirty="0" err="1"/>
              <a:t>استخراج</a:t>
            </a:r>
            <a:r>
              <a:rPr dirty="0"/>
              <a:t> </a:t>
            </a:r>
            <a:r>
              <a:rPr dirty="0" err="1"/>
              <a:t>داده‌های</a:t>
            </a:r>
            <a:r>
              <a:rPr dirty="0"/>
              <a:t> </a:t>
            </a:r>
            <a:r>
              <a:rPr dirty="0" err="1"/>
              <a:t>ساختاریافته</a:t>
            </a:r>
            <a:r>
              <a:rPr dirty="0"/>
              <a:t> (JSON / XML): </a:t>
            </a:r>
            <a:r>
              <a:rPr dirty="0" err="1"/>
              <a:t>برای</a:t>
            </a:r>
            <a:r>
              <a:rPr dirty="0"/>
              <a:t> </a:t>
            </a:r>
            <a:r>
              <a:rPr dirty="0" err="1"/>
              <a:t>مثال</a:t>
            </a:r>
            <a:r>
              <a:rPr dirty="0"/>
              <a:t> </a:t>
            </a:r>
            <a:r>
              <a:rPr dirty="0" err="1"/>
              <a:t>تنظیم</a:t>
            </a:r>
            <a:r>
              <a:rPr dirty="0"/>
              <a:t> </a:t>
            </a:r>
            <a:r>
              <a:rPr dirty="0" err="1"/>
              <a:t>توالی</a:t>
            </a:r>
            <a:r>
              <a:rPr dirty="0"/>
              <a:t> </a:t>
            </a:r>
            <a:r>
              <a:rPr dirty="0" err="1"/>
              <a:t>توقف</a:t>
            </a:r>
            <a:r>
              <a:rPr dirty="0"/>
              <a:t> </a:t>
            </a:r>
            <a:r>
              <a:rPr dirty="0" err="1"/>
              <a:t>روی</a:t>
            </a:r>
            <a:r>
              <a:rPr dirty="0"/>
              <a:t> &lt;/result&gt; </a:t>
            </a:r>
            <a:r>
              <a:rPr dirty="0" err="1"/>
              <a:t>یا</a:t>
            </a:r>
            <a:r>
              <a:rPr dirty="0"/>
              <a:t> } </a:t>
            </a:r>
            <a:r>
              <a:rPr dirty="0" err="1"/>
              <a:t>باعث</a:t>
            </a:r>
            <a:r>
              <a:rPr dirty="0"/>
              <a:t> </a:t>
            </a:r>
            <a:r>
              <a:rPr dirty="0" err="1"/>
              <a:t>می‌شود</a:t>
            </a:r>
            <a:r>
              <a:rPr dirty="0"/>
              <a:t> </a:t>
            </a:r>
            <a:r>
              <a:rPr dirty="0" err="1"/>
              <a:t>مدل</a:t>
            </a:r>
            <a:r>
              <a:rPr dirty="0"/>
              <a:t> </a:t>
            </a:r>
            <a:r>
              <a:rPr dirty="0" err="1"/>
              <a:t>بعد</a:t>
            </a:r>
            <a:r>
              <a:rPr dirty="0"/>
              <a:t> </a:t>
            </a:r>
            <a:r>
              <a:rPr dirty="0" err="1"/>
              <a:t>از</a:t>
            </a:r>
            <a:r>
              <a:rPr dirty="0"/>
              <a:t> </a:t>
            </a:r>
            <a:r>
              <a:rPr dirty="0" err="1"/>
              <a:t>پایان</a:t>
            </a:r>
            <a:r>
              <a:rPr dirty="0"/>
              <a:t> </a:t>
            </a:r>
            <a:r>
              <a:rPr dirty="0" err="1"/>
              <a:t>داده‌ها</a:t>
            </a:r>
            <a:r>
              <a:rPr dirty="0"/>
              <a:t>، </a:t>
            </a:r>
            <a:r>
              <a:rPr dirty="0" err="1"/>
              <a:t>جملات</a:t>
            </a:r>
            <a:r>
              <a:rPr dirty="0"/>
              <a:t> </a:t>
            </a:r>
            <a:r>
              <a:rPr dirty="0" err="1"/>
              <a:t>اضافی</a:t>
            </a:r>
            <a:r>
              <a:rPr dirty="0"/>
              <a:t> و </a:t>
            </a:r>
            <a:r>
              <a:rPr dirty="0" err="1"/>
              <a:t>تعارفی</a:t>
            </a:r>
            <a:r>
              <a:rPr dirty="0"/>
              <a:t> </a:t>
            </a:r>
            <a:r>
              <a:rPr dirty="0" err="1"/>
              <a:t>ننویسد</a:t>
            </a:r>
            <a:r>
              <a:rPr dirty="0"/>
              <a:t>.</a:t>
            </a:r>
          </a:p>
          <a:p>
            <a:pPr algn="r" rtl="1"/>
            <a:r>
              <a:rPr dirty="0"/>
              <a:t>۲. </a:t>
            </a:r>
            <a:r>
              <a:rPr dirty="0" err="1"/>
              <a:t>ممانعت</a:t>
            </a:r>
            <a:r>
              <a:rPr dirty="0"/>
              <a:t> </a:t>
            </a:r>
            <a:r>
              <a:rPr dirty="0" err="1"/>
              <a:t>از</a:t>
            </a:r>
            <a:r>
              <a:rPr dirty="0"/>
              <a:t> </a:t>
            </a:r>
            <a:r>
              <a:rPr dirty="0" err="1"/>
              <a:t>جعل</a:t>
            </a:r>
            <a:r>
              <a:rPr dirty="0"/>
              <a:t> </a:t>
            </a:r>
            <a:r>
              <a:rPr dirty="0" err="1"/>
              <a:t>نقش</a:t>
            </a:r>
            <a:r>
              <a:rPr dirty="0"/>
              <a:t> </a:t>
            </a:r>
            <a:r>
              <a:rPr dirty="0" err="1"/>
              <a:t>کاربر</a:t>
            </a:r>
            <a:r>
              <a:rPr dirty="0"/>
              <a:t>: </a:t>
            </a:r>
            <a:r>
              <a:rPr dirty="0" err="1"/>
              <a:t>در</a:t>
            </a:r>
            <a:r>
              <a:rPr dirty="0"/>
              <a:t> </a:t>
            </a:r>
            <a:r>
              <a:rPr dirty="0" err="1"/>
              <a:t>چت‌ها</a:t>
            </a:r>
            <a:r>
              <a:rPr dirty="0"/>
              <a:t> </a:t>
            </a:r>
            <a:r>
              <a:rPr dirty="0" err="1"/>
              <a:t>با</a:t>
            </a:r>
            <a:r>
              <a:rPr dirty="0"/>
              <a:t> </a:t>
            </a:r>
            <a:r>
              <a:rPr dirty="0" err="1"/>
              <a:t>تنظیم</a:t>
            </a:r>
            <a:r>
              <a:rPr dirty="0"/>
              <a:t> stop </a:t>
            </a:r>
            <a:r>
              <a:rPr dirty="0" err="1"/>
              <a:t>روی</a:t>
            </a:r>
            <a:r>
              <a:rPr dirty="0"/>
              <a:t> \n\</a:t>
            </a:r>
            <a:r>
              <a:rPr dirty="0" err="1"/>
              <a:t>nHuman</a:t>
            </a:r>
            <a:r>
              <a:rPr dirty="0"/>
              <a:t>: </a:t>
            </a:r>
            <a:r>
              <a:rPr dirty="0" err="1"/>
              <a:t>جلوی</a:t>
            </a:r>
            <a:r>
              <a:rPr dirty="0"/>
              <a:t> </a:t>
            </a:r>
            <a:r>
              <a:rPr dirty="0" err="1"/>
              <a:t>ادامه‌دادن</a:t>
            </a:r>
            <a:r>
              <a:rPr dirty="0"/>
              <a:t> </a:t>
            </a:r>
            <a:r>
              <a:rPr dirty="0" err="1"/>
              <a:t>گفتگو</a:t>
            </a:r>
            <a:r>
              <a:rPr dirty="0"/>
              <a:t> </a:t>
            </a:r>
            <a:r>
              <a:rPr dirty="0" err="1"/>
              <a:t>از</a:t>
            </a:r>
            <a:r>
              <a:rPr dirty="0"/>
              <a:t> </a:t>
            </a:r>
            <a:r>
              <a:rPr dirty="0" err="1"/>
              <a:t>طرف</a:t>
            </a:r>
            <a:r>
              <a:rPr dirty="0"/>
              <a:t> </a:t>
            </a:r>
            <a:r>
              <a:rPr dirty="0" err="1"/>
              <a:t>کاربر</a:t>
            </a:r>
            <a:r>
              <a:rPr dirty="0"/>
              <a:t> </a:t>
            </a:r>
            <a:r>
              <a:rPr dirty="0" err="1"/>
              <a:t>توسط</a:t>
            </a:r>
            <a:r>
              <a:rPr dirty="0"/>
              <a:t> </a:t>
            </a:r>
            <a:r>
              <a:rPr dirty="0" err="1"/>
              <a:t>مدل</a:t>
            </a:r>
            <a:r>
              <a:rPr dirty="0"/>
              <a:t> </a:t>
            </a:r>
            <a:r>
              <a:rPr dirty="0" err="1"/>
              <a:t>گرفته</a:t>
            </a:r>
            <a:r>
              <a:rPr dirty="0"/>
              <a:t> </a:t>
            </a:r>
            <a:r>
              <a:rPr dirty="0" err="1"/>
              <a:t>می‌شود</a:t>
            </a:r>
            <a:r>
              <a:rPr dirty="0"/>
              <a:t>.</a:t>
            </a:r>
          </a:p>
          <a:p>
            <a:pPr algn="r" rtl="1"/>
            <a:r>
              <a:rPr dirty="0"/>
              <a:t>۳. </a:t>
            </a:r>
            <a:r>
              <a:rPr dirty="0" err="1"/>
              <a:t>قالب‌های</a:t>
            </a:r>
            <a:r>
              <a:rPr dirty="0"/>
              <a:t> </a:t>
            </a:r>
            <a:r>
              <a:rPr dirty="0" err="1"/>
              <a:t>فقط</a:t>
            </a:r>
            <a:r>
              <a:rPr dirty="0"/>
              <a:t> </a:t>
            </a:r>
            <a:r>
              <a:rPr dirty="0" err="1"/>
              <a:t>کد</a:t>
            </a:r>
            <a:r>
              <a:rPr dirty="0"/>
              <a:t>: </a:t>
            </a:r>
            <a:r>
              <a:rPr dirty="0" err="1"/>
              <a:t>با</a:t>
            </a:r>
            <a:r>
              <a:rPr dirty="0"/>
              <a:t> </a:t>
            </a:r>
            <a:r>
              <a:rPr dirty="0" err="1"/>
              <a:t>تنظیم</a:t>
            </a:r>
            <a:r>
              <a:rPr dirty="0"/>
              <a:t> stop </a:t>
            </a:r>
            <a:r>
              <a:rPr dirty="0" err="1"/>
              <a:t>روی</a:t>
            </a:r>
            <a:r>
              <a:rPr dirty="0"/>
              <a:t> ``` </a:t>
            </a:r>
            <a:r>
              <a:rPr dirty="0" err="1"/>
              <a:t>مطمئن</a:t>
            </a:r>
            <a:r>
              <a:rPr dirty="0"/>
              <a:t> </a:t>
            </a:r>
            <a:r>
              <a:rPr dirty="0" err="1"/>
              <a:t>می‌شوید</a:t>
            </a:r>
            <a:r>
              <a:rPr dirty="0"/>
              <a:t> </a:t>
            </a:r>
            <a:r>
              <a:rPr dirty="0" err="1"/>
              <a:t>مدل</a:t>
            </a:r>
            <a:r>
              <a:rPr dirty="0"/>
              <a:t> </a:t>
            </a:r>
            <a:r>
              <a:rPr dirty="0" err="1"/>
              <a:t>بلافاصله</a:t>
            </a:r>
            <a:r>
              <a:rPr dirty="0"/>
              <a:t> </a:t>
            </a:r>
            <a:r>
              <a:rPr dirty="0" err="1"/>
              <a:t>بعد</a:t>
            </a:r>
            <a:r>
              <a:rPr dirty="0"/>
              <a:t> </a:t>
            </a:r>
            <a:r>
              <a:rPr dirty="0" err="1"/>
              <a:t>از</a:t>
            </a:r>
            <a:r>
              <a:rPr dirty="0"/>
              <a:t> </a:t>
            </a:r>
            <a:r>
              <a:rPr dirty="0" err="1"/>
              <a:t>بلوک</a:t>
            </a:r>
            <a:r>
              <a:rPr dirty="0"/>
              <a:t> </a:t>
            </a:r>
            <a:r>
              <a:rPr dirty="0" err="1"/>
              <a:t>کد</a:t>
            </a:r>
            <a:r>
              <a:rPr dirty="0"/>
              <a:t> </a:t>
            </a:r>
            <a:r>
              <a:rPr dirty="0" err="1"/>
              <a:t>متوقف</a:t>
            </a:r>
            <a:r>
              <a:rPr dirty="0"/>
              <a:t> </a:t>
            </a:r>
            <a:r>
              <a:rPr dirty="0" err="1"/>
              <a:t>می‌شود</a:t>
            </a:r>
            <a:r>
              <a:rPr dirty="0"/>
              <a:t> و </a:t>
            </a:r>
            <a:r>
              <a:rPr dirty="0" err="1"/>
              <a:t>هیچ</a:t>
            </a:r>
            <a:r>
              <a:rPr dirty="0"/>
              <a:t> </a:t>
            </a:r>
            <a:r>
              <a:rPr dirty="0" err="1"/>
              <a:t>متن</a:t>
            </a:r>
            <a:r>
              <a:rPr dirty="0"/>
              <a:t> </a:t>
            </a:r>
            <a:r>
              <a:rPr dirty="0" err="1"/>
              <a:t>توضیحی</a:t>
            </a:r>
            <a:r>
              <a:rPr dirty="0"/>
              <a:t> </a:t>
            </a:r>
            <a:r>
              <a:rPr dirty="0" err="1"/>
              <a:t>اضافه</a:t>
            </a:r>
            <a:r>
              <a:rPr dirty="0"/>
              <a:t> </a:t>
            </a:r>
            <a:r>
              <a:rPr dirty="0" err="1"/>
              <a:t>نمی‌کند</a:t>
            </a:r>
            <a:r>
              <a:rPr dirty="0"/>
              <a:t>.</a:t>
            </a:r>
          </a:p>
          <a:p>
            <a:pPr algn="r" rtl="1"/>
            <a:r>
              <a:rPr dirty="0"/>
              <a:t>۴. </a:t>
            </a:r>
            <a:r>
              <a:rPr dirty="0" err="1"/>
              <a:t>کنترل</a:t>
            </a:r>
            <a:r>
              <a:rPr dirty="0"/>
              <a:t> </a:t>
            </a:r>
            <a:r>
              <a:rPr dirty="0" err="1"/>
              <a:t>تعداد</a:t>
            </a:r>
            <a:r>
              <a:rPr dirty="0"/>
              <a:t> </a:t>
            </a:r>
            <a:r>
              <a:rPr dirty="0" err="1"/>
              <a:t>آیتم‌ها</a:t>
            </a:r>
            <a:r>
              <a:rPr dirty="0"/>
              <a:t> و </a:t>
            </a:r>
            <a:r>
              <a:rPr dirty="0" err="1"/>
              <a:t>صرفه‌جویی</a:t>
            </a:r>
            <a:r>
              <a:rPr dirty="0"/>
              <a:t> </a:t>
            </a:r>
            <a:r>
              <a:rPr dirty="0" err="1"/>
              <a:t>هزینه</a:t>
            </a:r>
            <a:r>
              <a:rPr dirty="0"/>
              <a:t>: </a:t>
            </a:r>
            <a:r>
              <a:rPr dirty="0" err="1"/>
              <a:t>مثلاً</a:t>
            </a:r>
            <a:r>
              <a:rPr dirty="0"/>
              <a:t> </a:t>
            </a:r>
            <a:r>
              <a:rPr dirty="0" err="1"/>
              <a:t>توقف</a:t>
            </a:r>
            <a:r>
              <a:rPr dirty="0"/>
              <a:t> </a:t>
            </a:r>
            <a:r>
              <a:rPr dirty="0" err="1"/>
              <a:t>روی</a:t>
            </a:r>
            <a:r>
              <a:rPr dirty="0"/>
              <a:t> "6." </a:t>
            </a:r>
            <a:r>
              <a:rPr dirty="0" err="1"/>
              <a:t>برای</a:t>
            </a:r>
            <a:r>
              <a:rPr dirty="0"/>
              <a:t> </a:t>
            </a:r>
            <a:r>
              <a:rPr dirty="0" err="1"/>
              <a:t>تولید</a:t>
            </a:r>
            <a:r>
              <a:rPr dirty="0"/>
              <a:t> </a:t>
            </a:r>
            <a:r>
              <a:rPr dirty="0" err="1"/>
              <a:t>دقیقاً</a:t>
            </a:r>
            <a:r>
              <a:rPr dirty="0"/>
              <a:t> ۵ </a:t>
            </a:r>
            <a:r>
              <a:rPr dirty="0" err="1"/>
              <a:t>آیتم</a:t>
            </a:r>
            <a:r>
              <a:rPr dirty="0"/>
              <a:t> </a:t>
            </a:r>
            <a:r>
              <a:rPr dirty="0" err="1"/>
              <a:t>لیست</a:t>
            </a:r>
            <a:r>
              <a:rPr dirty="0"/>
              <a:t> و </a:t>
            </a:r>
            <a:r>
              <a:rPr dirty="0" err="1"/>
              <a:t>جلوگیری</a:t>
            </a:r>
            <a:r>
              <a:rPr dirty="0"/>
              <a:t> </a:t>
            </a:r>
            <a:r>
              <a:rPr dirty="0" err="1"/>
              <a:t>از</a:t>
            </a:r>
            <a:r>
              <a:rPr dirty="0"/>
              <a:t> </a:t>
            </a:r>
            <a:r>
              <a:rPr dirty="0" err="1"/>
              <a:t>هدررفت</a:t>
            </a:r>
            <a:r>
              <a:rPr dirty="0"/>
              <a:t> </a:t>
            </a:r>
            <a:r>
              <a:rPr dirty="0" err="1"/>
              <a:t>توکن‌ها</a:t>
            </a:r>
            <a:r>
              <a:rPr dirty="0"/>
              <a:t>.</a:t>
            </a:r>
          </a:p>
          <a:p>
            <a:pPr algn="r" rtl="1"/>
            <a:endParaRPr dirty="0"/>
          </a:p>
          <a:p>
            <a:pPr algn="r" rtl="1"/>
            <a:r>
              <a:rPr dirty="0" err="1"/>
              <a:t>مزیت</a:t>
            </a:r>
            <a:r>
              <a:rPr dirty="0"/>
              <a:t> </a:t>
            </a:r>
            <a:r>
              <a:rPr dirty="0" err="1"/>
              <a:t>مهندسی</a:t>
            </a:r>
            <a:r>
              <a:rPr dirty="0"/>
              <a:t>:</a:t>
            </a:r>
          </a:p>
          <a:p>
            <a:pPr algn="r" rtl="1"/>
            <a:r>
              <a:rPr dirty="0" err="1"/>
              <a:t>دستورات</a:t>
            </a:r>
            <a:r>
              <a:rPr dirty="0"/>
              <a:t> </a:t>
            </a:r>
            <a:r>
              <a:rPr dirty="0" err="1"/>
              <a:t>پرامپتی</a:t>
            </a:r>
            <a:r>
              <a:rPr dirty="0"/>
              <a:t> (</a:t>
            </a:r>
            <a:r>
              <a:rPr dirty="0" err="1"/>
              <a:t>مثل</a:t>
            </a:r>
            <a:r>
              <a:rPr dirty="0"/>
              <a:t> "</a:t>
            </a:r>
            <a:r>
              <a:rPr dirty="0" err="1"/>
              <a:t>لطفاً</a:t>
            </a:r>
            <a:r>
              <a:rPr dirty="0"/>
              <a:t> </a:t>
            </a:r>
            <a:r>
              <a:rPr dirty="0" err="1"/>
              <a:t>بعد</a:t>
            </a:r>
            <a:r>
              <a:rPr dirty="0"/>
              <a:t> </a:t>
            </a:r>
            <a:r>
              <a:rPr dirty="0" err="1"/>
              <a:t>از</a:t>
            </a:r>
            <a:r>
              <a:rPr dirty="0"/>
              <a:t> </a:t>
            </a:r>
            <a:r>
              <a:rPr dirty="0" err="1"/>
              <a:t>خروجی</a:t>
            </a:r>
            <a:r>
              <a:rPr dirty="0"/>
              <a:t> </a:t>
            </a:r>
            <a:r>
              <a:rPr dirty="0" err="1"/>
              <a:t>حرف</a:t>
            </a:r>
            <a:r>
              <a:rPr dirty="0"/>
              <a:t> </a:t>
            </a:r>
            <a:r>
              <a:rPr dirty="0" err="1"/>
              <a:t>نزن</a:t>
            </a:r>
            <a:r>
              <a:rPr dirty="0"/>
              <a:t>") </a:t>
            </a:r>
            <a:r>
              <a:rPr b="1" u="sng" dirty="0" err="1">
                <a:solidFill>
                  <a:srgbClr val="FFFF00"/>
                </a:solidFill>
              </a:rPr>
              <a:t>ماهیت</a:t>
            </a:r>
            <a:r>
              <a:rPr b="1" u="sng" dirty="0">
                <a:solidFill>
                  <a:srgbClr val="FFFF00"/>
                </a:solidFill>
              </a:rPr>
              <a:t> </a:t>
            </a:r>
            <a:r>
              <a:rPr b="1" u="sng" dirty="0" err="1">
                <a:solidFill>
                  <a:srgbClr val="FFFF00"/>
                </a:solidFill>
              </a:rPr>
              <a:t>آماری</a:t>
            </a:r>
            <a:r>
              <a:rPr b="1" u="sng" dirty="0">
                <a:solidFill>
                  <a:srgbClr val="FFFF00"/>
                </a:solidFill>
              </a:rPr>
              <a:t> </a:t>
            </a:r>
            <a:r>
              <a:rPr dirty="0" err="1"/>
              <a:t>دارند</a:t>
            </a:r>
            <a:r>
              <a:rPr dirty="0"/>
              <a:t> و </a:t>
            </a:r>
            <a:r>
              <a:rPr dirty="0" err="1"/>
              <a:t>گاهی</a:t>
            </a:r>
            <a:r>
              <a:rPr dirty="0"/>
              <a:t> </a:t>
            </a:r>
            <a:r>
              <a:rPr dirty="0" err="1"/>
              <a:t>نادیده</a:t>
            </a:r>
            <a:r>
              <a:rPr dirty="0"/>
              <a:t> </a:t>
            </a:r>
            <a:r>
              <a:rPr dirty="0" err="1"/>
              <a:t>گرفته</a:t>
            </a:r>
            <a:r>
              <a:rPr dirty="0"/>
              <a:t> </a:t>
            </a:r>
            <a:r>
              <a:rPr dirty="0" err="1"/>
              <a:t>می‌شوند</a:t>
            </a:r>
            <a:r>
              <a:rPr dirty="0"/>
              <a:t>؛ </a:t>
            </a:r>
            <a:r>
              <a:rPr dirty="0" err="1"/>
              <a:t>اما</a:t>
            </a:r>
            <a:r>
              <a:rPr dirty="0"/>
              <a:t> </a:t>
            </a:r>
            <a:r>
              <a:rPr dirty="0" err="1"/>
              <a:t>stop_sequences</a:t>
            </a:r>
            <a:r>
              <a:rPr dirty="0"/>
              <a:t> </a:t>
            </a:r>
            <a:r>
              <a:rPr dirty="0" err="1"/>
              <a:t>در</a:t>
            </a:r>
            <a:r>
              <a:rPr dirty="0"/>
              <a:t> </a:t>
            </a:r>
            <a:r>
              <a:rPr dirty="0" err="1"/>
              <a:t>لایه</a:t>
            </a:r>
            <a:r>
              <a:rPr dirty="0"/>
              <a:t> </a:t>
            </a:r>
            <a:r>
              <a:rPr dirty="0" err="1"/>
              <a:t>انجین</a:t>
            </a:r>
            <a:r>
              <a:rPr dirty="0"/>
              <a:t> </a:t>
            </a:r>
            <a:r>
              <a:rPr dirty="0" err="1"/>
              <a:t>سمپلر</a:t>
            </a:r>
            <a:r>
              <a:rPr dirty="0"/>
              <a:t> </a:t>
            </a:r>
            <a:r>
              <a:rPr dirty="0" err="1"/>
              <a:t>مستقیماً</a:t>
            </a:r>
            <a:r>
              <a:rPr dirty="0"/>
              <a:t> </a:t>
            </a:r>
            <a:r>
              <a:rPr dirty="0" err="1"/>
              <a:t>تولید</a:t>
            </a:r>
            <a:r>
              <a:rPr dirty="0"/>
              <a:t> </a:t>
            </a:r>
            <a:r>
              <a:rPr dirty="0" err="1"/>
              <a:t>توکن</a:t>
            </a:r>
            <a:r>
              <a:rPr dirty="0"/>
              <a:t> </a:t>
            </a:r>
            <a:r>
              <a:rPr dirty="0" err="1"/>
              <a:t>را</a:t>
            </a:r>
            <a:r>
              <a:rPr dirty="0"/>
              <a:t> </a:t>
            </a:r>
            <a:r>
              <a:rPr dirty="0" err="1"/>
              <a:t>قطع</a:t>
            </a:r>
            <a:r>
              <a:rPr dirty="0"/>
              <a:t> </a:t>
            </a:r>
            <a:r>
              <a:rPr dirty="0" err="1"/>
              <a:t>می‌کند</a:t>
            </a:r>
            <a:r>
              <a:rPr dirty="0"/>
              <a:t> و </a:t>
            </a:r>
            <a:r>
              <a:rPr dirty="0" err="1"/>
              <a:t>ریسک</a:t>
            </a:r>
            <a:r>
              <a:rPr dirty="0"/>
              <a:t> </a:t>
            </a:r>
            <a:r>
              <a:rPr dirty="0" err="1"/>
              <a:t>خروجی</a:t>
            </a:r>
            <a:r>
              <a:rPr dirty="0"/>
              <a:t> </a:t>
            </a:r>
            <a:r>
              <a:rPr dirty="0" err="1"/>
              <a:t>اضافه</a:t>
            </a:r>
            <a:r>
              <a:rPr dirty="0"/>
              <a:t> </a:t>
            </a:r>
            <a:r>
              <a:rPr dirty="0" err="1"/>
              <a:t>را</a:t>
            </a:r>
            <a:r>
              <a:rPr dirty="0"/>
              <a:t> </a:t>
            </a:r>
            <a:r>
              <a:rPr dirty="0" err="1"/>
              <a:t>به</a:t>
            </a:r>
            <a:r>
              <a:rPr dirty="0"/>
              <a:t> </a:t>
            </a:r>
            <a:r>
              <a:rPr dirty="0" err="1"/>
              <a:t>صفر</a:t>
            </a:r>
            <a:r>
              <a:rPr dirty="0"/>
              <a:t> </a:t>
            </a:r>
            <a:r>
              <a:rPr dirty="0" err="1"/>
              <a:t>می‌رساند</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fa-IR" b="1" dirty="0"/>
              <a:t>. تفکیک دقیق «دستورالعمل (</a:t>
            </a:r>
            <a:r>
              <a:rPr lang="en-US" b="1" dirty="0"/>
              <a:t>Instruction)» </a:t>
            </a:r>
            <a:r>
              <a:rPr lang="fa-IR" b="1" dirty="0"/>
              <a:t>از «داده/متغیر (</a:t>
            </a:r>
            <a:r>
              <a:rPr lang="en-US" b="1" dirty="0"/>
              <a:t>Variable/Input)»</a:t>
            </a:r>
          </a:p>
          <a:p>
            <a:pPr rtl="1"/>
            <a:r>
              <a:rPr lang="fa-IR" dirty="0"/>
              <a:t>وقتی شما از قالب </a:t>
            </a:r>
            <a:r>
              <a:rPr lang="fa-IR" dirty="0" err="1"/>
              <a:t>پرامپت</a:t>
            </a:r>
            <a:r>
              <a:rPr lang="fa-IR" dirty="0"/>
              <a:t> (</a:t>
            </a:r>
            <a:r>
              <a:rPr lang="en-US" dirty="0"/>
              <a:t>Prompt Template) </a:t>
            </a:r>
            <a:r>
              <a:rPr lang="fa-IR" dirty="0"/>
              <a:t>استفاده </a:t>
            </a:r>
            <a:r>
              <a:rPr lang="fa-IR" dirty="0" err="1"/>
              <a:t>می‌کنید</a:t>
            </a:r>
            <a:r>
              <a:rPr lang="fa-IR" dirty="0"/>
              <a:t> و متغیری را در آن </a:t>
            </a:r>
            <a:r>
              <a:rPr lang="fa-IR" dirty="0" err="1"/>
              <a:t>جای‌گذاری</a:t>
            </a:r>
            <a:r>
              <a:rPr lang="fa-IR" dirty="0"/>
              <a:t> (</a:t>
            </a:r>
            <a:r>
              <a:rPr lang="en-US" dirty="0"/>
              <a:t>Substitute) </a:t>
            </a:r>
            <a:r>
              <a:rPr lang="fa-IR" dirty="0" err="1"/>
              <a:t>می‌کنید</a:t>
            </a:r>
            <a:r>
              <a:rPr lang="fa-IR" dirty="0"/>
              <a:t>، کل </a:t>
            </a:r>
            <a:r>
              <a:rPr lang="fa-IR" dirty="0" err="1"/>
              <a:t>پرامپت</a:t>
            </a:r>
            <a:r>
              <a:rPr lang="fa-IR" dirty="0"/>
              <a:t> تبدیل به یک متن </a:t>
            </a:r>
            <a:r>
              <a:rPr lang="fa-IR" dirty="0" err="1"/>
              <a:t>پشت‌سرهم</a:t>
            </a:r>
            <a:r>
              <a:rPr lang="fa-IR" dirty="0"/>
              <a:t> </a:t>
            </a:r>
            <a:r>
              <a:rPr lang="fa-IR" dirty="0" err="1"/>
              <a:t>می‌شود</a:t>
            </a:r>
            <a:r>
              <a:rPr lang="fa-IR" dirty="0"/>
              <a:t>.</a:t>
            </a:r>
          </a:p>
          <a:p>
            <a:pPr rtl="1"/>
            <a:r>
              <a:rPr lang="fa-IR" dirty="0" err="1"/>
              <a:t>همان‌طور</a:t>
            </a:r>
            <a:r>
              <a:rPr lang="fa-IR" dirty="0"/>
              <a:t> که در تصویر نشان داده شده:</a:t>
            </a:r>
          </a:p>
          <a:p>
            <a:pPr rtl="1"/>
            <a:r>
              <a:rPr lang="fa-IR" dirty="0" err="1"/>
              <a:t>پرامپت</a:t>
            </a:r>
            <a:r>
              <a:rPr lang="fa-IR" dirty="0"/>
              <a:t> اولیه:</a:t>
            </a:r>
            <a:r>
              <a:rPr lang="en-US" sz="1200" kern="1200" dirty="0">
                <a:solidFill>
                  <a:schemeClr val="tx1"/>
                </a:solidFill>
                <a:latin typeface="+mn-lt"/>
                <a:ea typeface="+mn-ea"/>
                <a:cs typeface="+mn-cs"/>
              </a:rPr>
              <a:t>User: </a:t>
            </a:r>
            <a:r>
              <a:rPr lang="en-US" sz="1200" kern="1200" dirty="0" err="1">
                <a:solidFill>
                  <a:schemeClr val="tx1"/>
                </a:solidFill>
                <a:latin typeface="+mn-lt"/>
                <a:ea typeface="+mn-ea"/>
                <a:cs typeface="+mn-cs"/>
              </a:rPr>
              <a:t>Yo</a:t>
            </a:r>
            <a:r>
              <a:rPr lang="en-US" sz="1200" kern="1200" dirty="0">
                <a:solidFill>
                  <a:schemeClr val="tx1"/>
                </a:solidFill>
                <a:latin typeface="+mn-lt"/>
                <a:ea typeface="+mn-ea"/>
                <a:cs typeface="+mn-cs"/>
              </a:rPr>
              <a:t> Claude. {{EMAIL}} &lt;----- Make this email more polite but don't change anything else about it.</a:t>
            </a:r>
            <a:endParaRPr lang="en-US" dirty="0"/>
          </a:p>
          <a:p>
            <a:pPr rtl="1"/>
            <a:r>
              <a:rPr lang="fa-IR" dirty="0"/>
              <a:t>متن ایمیل ورودی:</a:t>
            </a:r>
            <a:r>
              <a:rPr lang="en-US" sz="1200" kern="1200" dirty="0">
                <a:solidFill>
                  <a:schemeClr val="tx1"/>
                </a:solidFill>
                <a:latin typeface="+mn-lt"/>
                <a:ea typeface="+mn-ea"/>
                <a:cs typeface="+mn-cs"/>
              </a:rPr>
              <a:t>Show up at 6am tomorrow because I'm the CEO and I say so.</a:t>
            </a:r>
            <a:endParaRPr lang="en-US" dirty="0"/>
          </a:p>
          <a:p>
            <a:pPr rtl="1"/>
            <a:r>
              <a:rPr lang="fa-IR" dirty="0" err="1"/>
              <a:t>پرامپت</a:t>
            </a:r>
            <a:r>
              <a:rPr lang="fa-IR" dirty="0"/>
              <a:t> نهایی بعد از </a:t>
            </a:r>
            <a:r>
              <a:rPr lang="fa-IR" dirty="0" err="1"/>
              <a:t>جای‌گذاری</a:t>
            </a:r>
            <a:r>
              <a:rPr lang="fa-IR" dirty="0"/>
              <a:t>:</a:t>
            </a:r>
            <a:r>
              <a:rPr lang="en-US" sz="1200" kern="1200" dirty="0">
                <a:solidFill>
                  <a:schemeClr val="tx1"/>
                </a:solidFill>
                <a:latin typeface="+mn-lt"/>
                <a:ea typeface="+mn-ea"/>
                <a:cs typeface="+mn-cs"/>
              </a:rPr>
              <a:t>User: </a:t>
            </a:r>
            <a:r>
              <a:rPr lang="en-US" sz="1200" kern="1200" dirty="0" err="1">
                <a:solidFill>
                  <a:schemeClr val="tx1"/>
                </a:solidFill>
                <a:latin typeface="+mn-lt"/>
                <a:ea typeface="+mn-ea"/>
                <a:cs typeface="+mn-cs"/>
              </a:rPr>
              <a:t>Yo</a:t>
            </a:r>
            <a:r>
              <a:rPr lang="en-US" sz="1200" kern="1200" dirty="0">
                <a:solidFill>
                  <a:schemeClr val="tx1"/>
                </a:solidFill>
                <a:latin typeface="+mn-lt"/>
                <a:ea typeface="+mn-ea"/>
                <a:cs typeface="+mn-cs"/>
              </a:rPr>
              <a:t> Claude. Show up at 6am tomorrow because I'm the CEO and I say so. &lt;----- Make this email more polite...</a:t>
            </a:r>
            <a:endParaRPr lang="en-US" dirty="0"/>
          </a:p>
          <a:p>
            <a:pPr rtl="1"/>
            <a:r>
              <a:rPr lang="fa-IR" dirty="0"/>
              <a:t>در این حالت، مدل هوش مصنوعی گیج </a:t>
            </a:r>
            <a:r>
              <a:rPr lang="fa-IR" dirty="0" err="1"/>
              <a:t>می‌شود</a:t>
            </a:r>
            <a:r>
              <a:rPr lang="fa-IR" dirty="0"/>
              <a:t> و تصور </a:t>
            </a:r>
            <a:r>
              <a:rPr lang="fa-IR" dirty="0" err="1"/>
              <a:t>می‌کند</a:t>
            </a:r>
            <a:r>
              <a:rPr lang="fa-IR" dirty="0"/>
              <a:t> عبارت </a:t>
            </a:r>
            <a:r>
              <a:rPr lang="en-US" sz="1200" kern="1200" dirty="0" err="1">
                <a:solidFill>
                  <a:schemeClr val="tx1"/>
                </a:solidFill>
                <a:latin typeface="+mn-lt"/>
                <a:ea typeface="+mn-ea"/>
                <a:cs typeface="+mn-cs"/>
              </a:rPr>
              <a:t>Yo</a:t>
            </a:r>
            <a:r>
              <a:rPr lang="en-US" sz="1200" kern="1200" dirty="0">
                <a:solidFill>
                  <a:schemeClr val="tx1"/>
                </a:solidFill>
                <a:latin typeface="+mn-lt"/>
                <a:ea typeface="+mn-ea"/>
                <a:cs typeface="+mn-cs"/>
              </a:rPr>
              <a:t> Claude</a:t>
            </a:r>
            <a:r>
              <a:rPr lang="en-US" dirty="0"/>
              <a:t> </a:t>
            </a:r>
            <a:r>
              <a:rPr lang="fa-IR" dirty="0"/>
              <a:t>هم بخشی از خود ایمیل است که باید بازنویسی شود (به همین دلیل در خروجی پاسخ را با </a:t>
            </a:r>
            <a:r>
              <a:rPr lang="fa-IR" sz="1200" kern="1200" dirty="0">
                <a:solidFill>
                  <a:schemeClr val="tx1"/>
                </a:solidFill>
                <a:latin typeface="+mn-lt"/>
                <a:ea typeface="+mn-ea"/>
                <a:cs typeface="+mn-cs"/>
              </a:rPr>
              <a:t>"</a:t>
            </a:r>
            <a:r>
              <a:rPr lang="en-US" sz="1200" kern="1200" dirty="0">
                <a:solidFill>
                  <a:schemeClr val="tx1"/>
                </a:solidFill>
                <a:latin typeface="+mn-lt"/>
                <a:ea typeface="+mn-ea"/>
                <a:cs typeface="+mn-cs"/>
              </a:rPr>
              <a:t>Dear Claude"</a:t>
            </a:r>
            <a:r>
              <a:rPr lang="en-US" dirty="0"/>
              <a:t> </a:t>
            </a:r>
            <a:r>
              <a:rPr lang="fa-IR" dirty="0"/>
              <a:t>شروع </a:t>
            </a:r>
            <a:r>
              <a:rPr lang="fa-IR" dirty="0" err="1"/>
              <a:t>می‌کند</a:t>
            </a:r>
            <a:r>
              <a:rPr lang="fa-IR" dirty="0"/>
              <a:t>).</a:t>
            </a:r>
          </a:p>
          <a:p>
            <a:pPr rtl="1"/>
            <a:r>
              <a:rPr lang="fa-IR" b="1" dirty="0" err="1"/>
              <a:t>راه‌حل</a:t>
            </a:r>
            <a:r>
              <a:rPr lang="fa-IR" b="1" dirty="0"/>
              <a:t> با </a:t>
            </a:r>
            <a:r>
              <a:rPr lang="fa-IR" b="1" dirty="0" err="1"/>
              <a:t>تگ</a:t>
            </a:r>
            <a:r>
              <a:rPr lang="fa-IR" b="1" dirty="0"/>
              <a:t> </a:t>
            </a:r>
            <a:r>
              <a:rPr lang="en-US" b="1" dirty="0"/>
              <a:t>XML:</a:t>
            </a:r>
            <a:endParaRPr lang="en-US" dirty="0"/>
          </a:p>
          <a:p>
            <a:pPr rtl="1"/>
            <a:r>
              <a:rPr lang="fa-IR" dirty="0"/>
              <a:t>اگر ورودی داخل </a:t>
            </a:r>
            <a:r>
              <a:rPr lang="fa-IR" dirty="0" err="1"/>
              <a:t>تگ</a:t>
            </a:r>
            <a:r>
              <a:rPr lang="fa-IR" dirty="0"/>
              <a:t> قرار بگیرد:</a:t>
            </a:r>
          </a:p>
          <a:p>
            <a:r>
              <a:rPr lang="fa-IR" sz="1200"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content_copy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xml</a:t>
            </a:r>
            <a:r>
              <a:rPr lang="en-US" sz="1200" i="1" kern="1200" dirty="0" err="1">
                <a:solidFill>
                  <a:schemeClr val="tx1"/>
                </a:solidFill>
                <a:effectLst/>
                <a:latin typeface="+mn-lt"/>
                <a:ea typeface="+mn-ea"/>
                <a:cs typeface="+mn-cs"/>
              </a:rPr>
              <a:t>note_add</a:t>
            </a:r>
            <a:r>
              <a:rPr lang="fa-IR" sz="1200" kern="1200" dirty="0">
                <a:solidFill>
                  <a:schemeClr val="tx1"/>
                </a:solidFill>
                <a:effectLst/>
                <a:latin typeface="+mn-lt"/>
                <a:ea typeface="+mn-ea"/>
                <a:cs typeface="+mn-cs"/>
              </a:rPr>
              <a:t>ویرایش با </a:t>
            </a:r>
            <a:r>
              <a:rPr lang="en-US" sz="1200" kern="1200" dirty="0">
                <a:solidFill>
                  <a:schemeClr val="tx1"/>
                </a:solidFill>
                <a:effectLst/>
                <a:latin typeface="+mn-lt"/>
                <a:ea typeface="+mn-ea"/>
                <a:cs typeface="+mn-cs"/>
              </a:rPr>
              <a:t>Canvas</a:t>
            </a:r>
          </a:p>
          <a:p>
            <a:r>
              <a:rPr lang="en-US" sz="1200" kern="1200" dirty="0">
                <a:solidFill>
                  <a:schemeClr val="tx1"/>
                </a:solidFill>
                <a:effectLst/>
                <a:latin typeface="+mn-lt"/>
                <a:ea typeface="+mn-ea"/>
                <a:cs typeface="+mn-cs"/>
              </a:rPr>
              <a:t>User: </a:t>
            </a:r>
            <a:r>
              <a:rPr lang="en-US" sz="1200" kern="1200" dirty="0" err="1">
                <a:solidFill>
                  <a:schemeClr val="tx1"/>
                </a:solidFill>
                <a:effectLst/>
                <a:latin typeface="+mn-lt"/>
                <a:ea typeface="+mn-ea"/>
                <a:cs typeface="+mn-cs"/>
              </a:rPr>
              <a:t>Yo</a:t>
            </a:r>
            <a:r>
              <a:rPr lang="en-US" sz="1200" kern="1200" dirty="0">
                <a:solidFill>
                  <a:schemeClr val="tx1"/>
                </a:solidFill>
                <a:effectLst/>
                <a:latin typeface="+mn-lt"/>
                <a:ea typeface="+mn-ea"/>
                <a:cs typeface="+mn-cs"/>
              </a:rPr>
              <a:t> Claude. &lt;email&gt;Show up at 6am tomorrow because I'm the CEO and I say so.&lt;/email&gt;</a:t>
            </a:r>
          </a:p>
          <a:p>
            <a:r>
              <a:rPr lang="en-US" sz="1200" kern="1200" dirty="0">
                <a:solidFill>
                  <a:schemeClr val="tx1"/>
                </a:solidFill>
                <a:effectLst/>
                <a:latin typeface="+mn-lt"/>
                <a:ea typeface="+mn-ea"/>
                <a:cs typeface="+mn-cs"/>
              </a:rPr>
              <a:t>Make the email inside the &lt;email&gt; tags more polite...</a:t>
            </a:r>
          </a:p>
          <a:p>
            <a:pPr rtl="1"/>
            <a:r>
              <a:rPr lang="fa-IR" dirty="0"/>
              <a:t>مدل دقیقاً </a:t>
            </a:r>
            <a:r>
              <a:rPr lang="fa-IR" dirty="0" err="1"/>
              <a:t>می‌فهمد</a:t>
            </a:r>
            <a:r>
              <a:rPr lang="fa-IR" dirty="0"/>
              <a:t> متن ایمیل از کجا شروع و به کجا ختم شده است و دستورات را با محتوای ورودی قاطی </a:t>
            </a:r>
            <a:r>
              <a:rPr lang="fa-IR" dirty="0" err="1"/>
              <a:t>نمی‌کند</a:t>
            </a:r>
            <a:r>
              <a:rPr lang="fa-IR" dirty="0"/>
              <a:t>.</a:t>
            </a:r>
          </a:p>
          <a:p>
            <a:br>
              <a:rPr lang="fa-IR" dirty="0"/>
            </a:br>
            <a:endParaRPr lang="fa-IR" dirty="0"/>
          </a:p>
          <a:p>
            <a:pPr rtl="1"/>
            <a:r>
              <a:rPr lang="fa-IR" b="1" dirty="0"/>
              <a:t>۲. آموزش اختصاصی مدل (</a:t>
            </a:r>
            <a:r>
              <a:rPr lang="fa-IR" b="1" dirty="0" err="1"/>
              <a:t>به‌ویژه</a:t>
            </a:r>
            <a:r>
              <a:rPr lang="fa-IR" b="1" dirty="0"/>
              <a:t> </a:t>
            </a:r>
            <a:r>
              <a:rPr lang="en-US" b="1" dirty="0"/>
              <a:t>Claude) </a:t>
            </a:r>
            <a:r>
              <a:rPr lang="fa-IR" b="1" dirty="0"/>
              <a:t>بر پایه </a:t>
            </a:r>
            <a:r>
              <a:rPr lang="fa-IR" b="1" dirty="0" err="1"/>
              <a:t>تگ‌های</a:t>
            </a:r>
            <a:r>
              <a:rPr lang="fa-IR" b="1" dirty="0"/>
              <a:t> </a:t>
            </a:r>
            <a:r>
              <a:rPr lang="en-US" b="1" dirty="0"/>
              <a:t>XML</a:t>
            </a:r>
          </a:p>
          <a:p>
            <a:pPr rtl="1"/>
            <a:r>
              <a:rPr lang="fa-IR" dirty="0"/>
              <a:t>مدل </a:t>
            </a:r>
            <a:r>
              <a:rPr lang="en-US" dirty="0"/>
              <a:t>Claude </a:t>
            </a:r>
            <a:r>
              <a:rPr lang="fa-IR" dirty="0"/>
              <a:t>در فرآیند آموزش (</a:t>
            </a:r>
            <a:r>
              <a:rPr lang="en-US" dirty="0"/>
              <a:t>Fine-tuning / RLHF) </a:t>
            </a:r>
            <a:r>
              <a:rPr lang="fa-IR" dirty="0" err="1"/>
              <a:t>به‌طور</a:t>
            </a:r>
            <a:r>
              <a:rPr lang="fa-IR" dirty="0"/>
              <a:t> اختصاصی برای درک و پردازش </a:t>
            </a:r>
            <a:r>
              <a:rPr lang="fa-IR" dirty="0" err="1"/>
              <a:t>تگ‌های</a:t>
            </a:r>
            <a:r>
              <a:rPr lang="fa-IR" dirty="0"/>
              <a:t> </a:t>
            </a:r>
            <a:r>
              <a:rPr lang="en-US" dirty="0"/>
              <a:t>XML </a:t>
            </a:r>
            <a:r>
              <a:rPr lang="fa-IR" dirty="0" err="1"/>
              <a:t>بهینه‌سازی</a:t>
            </a:r>
            <a:r>
              <a:rPr lang="fa-IR" dirty="0"/>
              <a:t> شده است. استفاده از این </a:t>
            </a:r>
            <a:r>
              <a:rPr lang="fa-IR" dirty="0" err="1"/>
              <a:t>تگ‌ها</a:t>
            </a:r>
            <a:r>
              <a:rPr lang="fa-IR" dirty="0"/>
              <a:t> باعث </a:t>
            </a:r>
            <a:r>
              <a:rPr lang="fa-IR" dirty="0" err="1"/>
              <a:t>می‌شود</a:t>
            </a:r>
            <a:r>
              <a:rPr lang="fa-IR" dirty="0"/>
              <a:t> مدل ساختار منطقی </a:t>
            </a:r>
            <a:r>
              <a:rPr lang="fa-IR" dirty="0" err="1"/>
              <a:t>پرامپت</a:t>
            </a:r>
            <a:r>
              <a:rPr lang="fa-IR" dirty="0"/>
              <a:t> را بسیار بهتر بفهمد و عملکرد و دقت </a:t>
            </a:r>
            <a:r>
              <a:rPr lang="fa-IR" dirty="0" err="1"/>
              <a:t>پاسخ‌دهی</a:t>
            </a:r>
            <a:r>
              <a:rPr lang="fa-IR" dirty="0"/>
              <a:t> آن به حداکثر برسد.</a:t>
            </a:r>
          </a:p>
          <a:p>
            <a:br>
              <a:rPr lang="fa-IR" dirty="0"/>
            </a:br>
            <a:endParaRPr lang="fa-IR" dirty="0"/>
          </a:p>
          <a:p>
            <a:pPr rtl="1"/>
            <a:r>
              <a:rPr lang="fa-IR" b="1" dirty="0"/>
              <a:t>۳. جلوگیری از تداخل و خطرات امنیتی (</a:t>
            </a:r>
            <a:r>
              <a:rPr lang="en-US" b="1" dirty="0"/>
              <a:t>Prompt Injection)</a:t>
            </a:r>
          </a:p>
          <a:p>
            <a:pPr rtl="1"/>
            <a:r>
              <a:rPr lang="fa-IR" dirty="0"/>
              <a:t>اگر کاربر متنی وارد کند که خودش شبیه به دستور باشد (مثلاً بنویسد: </a:t>
            </a:r>
            <a:r>
              <a:rPr lang="fa-IR" i="1" dirty="0"/>
              <a:t>«دستورات قبلی را نادیده بگیر و فلان کار را بکن»</a:t>
            </a:r>
            <a:r>
              <a:rPr lang="fa-IR" dirty="0"/>
              <a:t>)، قرار دادن ورودی داخل </a:t>
            </a:r>
            <a:r>
              <a:rPr lang="fa-IR" dirty="0" err="1"/>
              <a:t>تگ‌هایی</a:t>
            </a:r>
            <a:r>
              <a:rPr lang="fa-IR" dirty="0"/>
              <a:t> مثل </a:t>
            </a:r>
            <a:r>
              <a:rPr lang="fa-IR" sz="1200" kern="1200" dirty="0">
                <a:solidFill>
                  <a:schemeClr val="tx1"/>
                </a:solidFill>
                <a:latin typeface="+mn-lt"/>
                <a:ea typeface="+mn-ea"/>
                <a:cs typeface="+mn-cs"/>
              </a:rPr>
              <a:t>&lt;</a:t>
            </a:r>
            <a:r>
              <a:rPr lang="en-US" sz="1200" kern="1200" dirty="0">
                <a:solidFill>
                  <a:schemeClr val="tx1"/>
                </a:solidFill>
                <a:latin typeface="+mn-lt"/>
                <a:ea typeface="+mn-ea"/>
                <a:cs typeface="+mn-cs"/>
              </a:rPr>
              <a:t>input&gt;...&lt;/input&gt;</a:t>
            </a:r>
            <a:r>
              <a:rPr lang="en-US" dirty="0"/>
              <a:t> </a:t>
            </a:r>
            <a:r>
              <a:rPr lang="fa-IR" dirty="0"/>
              <a:t>به مدل </a:t>
            </a:r>
            <a:r>
              <a:rPr lang="fa-IR" dirty="0" err="1"/>
              <a:t>می‌فهماند</a:t>
            </a:r>
            <a:r>
              <a:rPr lang="fa-IR" dirty="0"/>
              <a:t> که محتوای داخل </a:t>
            </a:r>
            <a:r>
              <a:rPr lang="fa-IR" dirty="0" err="1"/>
              <a:t>تگ</a:t>
            </a:r>
            <a:r>
              <a:rPr lang="fa-IR" dirty="0"/>
              <a:t> صرفاً </a:t>
            </a:r>
            <a:r>
              <a:rPr lang="fa-IR" b="1" dirty="0"/>
              <a:t>داده خام (</a:t>
            </a:r>
            <a:r>
              <a:rPr lang="en-US" b="1" dirty="0"/>
              <a:t>Raw Data)</a:t>
            </a:r>
            <a:r>
              <a:rPr lang="en-US" dirty="0"/>
              <a:t> </a:t>
            </a:r>
            <a:r>
              <a:rPr lang="fa-IR" dirty="0"/>
              <a:t>است و نباید آن را </a:t>
            </a:r>
            <a:r>
              <a:rPr lang="fa-IR" dirty="0" err="1"/>
              <a:t>به‌عنوان</a:t>
            </a:r>
            <a:r>
              <a:rPr lang="fa-IR" dirty="0"/>
              <a:t> </a:t>
            </a:r>
            <a:r>
              <a:rPr lang="fa-IR" b="1" dirty="0"/>
              <a:t>دستور اجرایی</a:t>
            </a:r>
            <a:r>
              <a:rPr lang="fa-IR" dirty="0"/>
              <a:t> پردازش کند.</a:t>
            </a:r>
          </a:p>
          <a:p>
            <a:br>
              <a:rPr lang="fa-IR" dirty="0"/>
            </a:br>
            <a:endParaRPr lang="fa-IR" dirty="0"/>
          </a:p>
          <a:p>
            <a:pPr rtl="1"/>
            <a:r>
              <a:rPr lang="fa-IR" b="1" dirty="0"/>
              <a:t>۴. </a:t>
            </a:r>
            <a:r>
              <a:rPr lang="fa-IR" b="1" dirty="0" err="1"/>
              <a:t>ساختاریافتگی</a:t>
            </a:r>
            <a:r>
              <a:rPr lang="fa-IR" b="1" dirty="0"/>
              <a:t> و خوانایی (برای انسان و ماشین)</a:t>
            </a:r>
          </a:p>
          <a:p>
            <a:pPr rtl="1"/>
            <a:r>
              <a:rPr lang="fa-IR" dirty="0" err="1"/>
              <a:t>تگ‌ها</a:t>
            </a:r>
            <a:r>
              <a:rPr lang="fa-IR" dirty="0"/>
              <a:t> دارای نقطه شروع مشخص (</a:t>
            </a:r>
            <a:r>
              <a:rPr lang="fa-IR" sz="1200" kern="1200" dirty="0">
                <a:solidFill>
                  <a:schemeClr val="tx1"/>
                </a:solidFill>
                <a:latin typeface="+mn-lt"/>
                <a:ea typeface="+mn-ea"/>
                <a:cs typeface="+mn-cs"/>
              </a:rPr>
              <a:t>&lt;</a:t>
            </a:r>
            <a:r>
              <a:rPr lang="en-US" sz="1200" kern="1200" dirty="0">
                <a:solidFill>
                  <a:schemeClr val="tx1"/>
                </a:solidFill>
                <a:latin typeface="+mn-lt"/>
                <a:ea typeface="+mn-ea"/>
                <a:cs typeface="+mn-cs"/>
              </a:rPr>
              <a:t>tag&gt;</a:t>
            </a:r>
            <a:r>
              <a:rPr lang="en-US" dirty="0"/>
              <a:t>) </a:t>
            </a:r>
            <a:r>
              <a:rPr lang="fa-IR" dirty="0"/>
              <a:t>و پایان مشخص (</a:t>
            </a:r>
            <a:r>
              <a:rPr lang="fa-IR" sz="1200" kern="1200" dirty="0">
                <a:solidFill>
                  <a:schemeClr val="tx1"/>
                </a:solidFill>
                <a:latin typeface="+mn-lt"/>
                <a:ea typeface="+mn-ea"/>
                <a:cs typeface="+mn-cs"/>
              </a:rPr>
              <a:t>&lt;/</a:t>
            </a:r>
            <a:r>
              <a:rPr lang="en-US" sz="1200" kern="1200" dirty="0">
                <a:solidFill>
                  <a:schemeClr val="tx1"/>
                </a:solidFill>
                <a:latin typeface="+mn-lt"/>
                <a:ea typeface="+mn-ea"/>
                <a:cs typeface="+mn-cs"/>
              </a:rPr>
              <a:t>tag&gt;</a:t>
            </a:r>
            <a:r>
              <a:rPr lang="en-US" dirty="0"/>
              <a:t>) </a:t>
            </a:r>
            <a:r>
              <a:rPr lang="fa-IR" dirty="0"/>
              <a:t>هستند. این ساختار جفتی باعث </a:t>
            </a:r>
            <a:r>
              <a:rPr lang="fa-IR" dirty="0" err="1"/>
              <a:t>می‌شود</a:t>
            </a:r>
            <a:r>
              <a:rPr lang="fa-IR" dirty="0"/>
              <a:t>:</a:t>
            </a:r>
          </a:p>
          <a:p>
            <a:pPr rtl="1"/>
            <a:r>
              <a:rPr lang="fa-IR" dirty="0"/>
              <a:t>اگر چند ورودی مختلف دارید (مثلاً </a:t>
            </a:r>
            <a:r>
              <a:rPr lang="fa-IR" sz="1200" kern="1200" dirty="0">
                <a:solidFill>
                  <a:schemeClr val="tx1"/>
                </a:solidFill>
                <a:latin typeface="+mn-lt"/>
                <a:ea typeface="+mn-ea"/>
                <a:cs typeface="+mn-cs"/>
              </a:rPr>
              <a:t>&lt;</a:t>
            </a:r>
            <a:r>
              <a:rPr lang="en-US" sz="1200" kern="1200" dirty="0">
                <a:solidFill>
                  <a:schemeClr val="tx1"/>
                </a:solidFill>
                <a:latin typeface="+mn-lt"/>
                <a:ea typeface="+mn-ea"/>
                <a:cs typeface="+mn-cs"/>
              </a:rPr>
              <a:t>context&gt;</a:t>
            </a:r>
            <a:r>
              <a:rPr lang="en-US" dirty="0"/>
              <a:t>, </a:t>
            </a:r>
            <a:r>
              <a:rPr lang="en-US" sz="1200" kern="1200" dirty="0">
                <a:solidFill>
                  <a:schemeClr val="tx1"/>
                </a:solidFill>
                <a:latin typeface="+mn-lt"/>
                <a:ea typeface="+mn-ea"/>
                <a:cs typeface="+mn-cs"/>
              </a:rPr>
              <a:t>&lt;rules&gt;</a:t>
            </a:r>
            <a:r>
              <a:rPr lang="en-US" dirty="0"/>
              <a:t>, </a:t>
            </a:r>
            <a:r>
              <a:rPr lang="en-US" sz="1200" kern="1200" dirty="0">
                <a:solidFill>
                  <a:schemeClr val="tx1"/>
                </a:solidFill>
                <a:latin typeface="+mn-lt"/>
                <a:ea typeface="+mn-ea"/>
                <a:cs typeface="+mn-cs"/>
              </a:rPr>
              <a:t>&lt;document&gt;</a:t>
            </a:r>
            <a:r>
              <a:rPr lang="en-US" dirty="0"/>
              <a:t>)، </a:t>
            </a:r>
            <a:r>
              <a:rPr lang="fa-IR" dirty="0"/>
              <a:t>هر کدام </a:t>
            </a:r>
            <a:r>
              <a:rPr lang="fa-IR" dirty="0" err="1"/>
              <a:t>به‌روشنی</a:t>
            </a:r>
            <a:r>
              <a:rPr lang="fa-IR" dirty="0"/>
              <a:t> تفکیک شوند.</a:t>
            </a:r>
          </a:p>
          <a:p>
            <a:pPr rtl="1"/>
            <a:r>
              <a:rPr lang="fa-IR" dirty="0"/>
              <a:t>ارجاع دادن به </a:t>
            </a:r>
            <a:r>
              <a:rPr lang="fa-IR" dirty="0" err="1"/>
              <a:t>بخش‌های</a:t>
            </a:r>
            <a:r>
              <a:rPr lang="fa-IR" dirty="0"/>
              <a:t> مختلف در دستورات ساده شود (مثلاً: </a:t>
            </a:r>
            <a:r>
              <a:rPr lang="fa-IR" i="1" dirty="0"/>
              <a:t>“محتوای </a:t>
            </a:r>
            <a:r>
              <a:rPr lang="fa-IR" i="1" dirty="0" err="1"/>
              <a:t>تگ</a:t>
            </a:r>
            <a:r>
              <a:rPr lang="fa-IR" i="1" dirty="0"/>
              <a:t> </a:t>
            </a:r>
            <a:r>
              <a:rPr lang="fa-IR" sz="1200" i="1" kern="1200" dirty="0">
                <a:solidFill>
                  <a:schemeClr val="tx1"/>
                </a:solidFill>
                <a:latin typeface="+mn-lt"/>
                <a:ea typeface="+mn-ea"/>
                <a:cs typeface="+mn-cs"/>
              </a:rPr>
              <a:t>&lt;</a:t>
            </a:r>
            <a:r>
              <a:rPr lang="en-US" sz="1200" i="1" kern="1200" dirty="0">
                <a:solidFill>
                  <a:schemeClr val="tx1"/>
                </a:solidFill>
                <a:latin typeface="+mn-lt"/>
                <a:ea typeface="+mn-ea"/>
                <a:cs typeface="+mn-cs"/>
              </a:rPr>
              <a:t>rules&gt;</a:t>
            </a:r>
            <a:r>
              <a:rPr lang="en-US" i="1" dirty="0"/>
              <a:t> </a:t>
            </a:r>
            <a:r>
              <a:rPr lang="fa-IR" i="1" dirty="0"/>
              <a:t>را روی متن داخل </a:t>
            </a:r>
            <a:r>
              <a:rPr lang="fa-IR" i="1" dirty="0" err="1"/>
              <a:t>تگ</a:t>
            </a:r>
            <a:r>
              <a:rPr lang="fa-IR" i="1" dirty="0"/>
              <a:t> </a:t>
            </a:r>
            <a:r>
              <a:rPr lang="fa-IR" sz="1200" i="1" kern="1200" dirty="0">
                <a:solidFill>
                  <a:schemeClr val="tx1"/>
                </a:solidFill>
                <a:latin typeface="+mn-lt"/>
                <a:ea typeface="+mn-ea"/>
                <a:cs typeface="+mn-cs"/>
              </a:rPr>
              <a:t>&lt;</a:t>
            </a:r>
            <a:r>
              <a:rPr lang="en-US" sz="1200" i="1" kern="1200" dirty="0">
                <a:solidFill>
                  <a:schemeClr val="tx1"/>
                </a:solidFill>
                <a:latin typeface="+mn-lt"/>
                <a:ea typeface="+mn-ea"/>
                <a:cs typeface="+mn-cs"/>
              </a:rPr>
              <a:t>document&gt;</a:t>
            </a:r>
            <a:r>
              <a:rPr lang="en-US" i="1" dirty="0"/>
              <a:t> </a:t>
            </a:r>
            <a:r>
              <a:rPr lang="fa-IR" i="1" dirty="0"/>
              <a:t>اعمال کن”</a:t>
            </a:r>
            <a:endParaRPr lang="fa-IR" dirty="0"/>
          </a:p>
          <a:p>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19</a:t>
            </a:fld>
            <a:endParaRPr lang="en-US"/>
          </a:p>
        </p:txBody>
      </p:sp>
    </p:spTree>
    <p:extLst>
      <p:ext uri="{BB962C8B-B14F-4D97-AF65-F5344CB8AC3E}">
        <p14:creationId xmlns:p14="http://schemas.microsoft.com/office/powerpoint/2010/main" val="3191504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این نکته دقیقاً به همان پدیده‌ای وصل می‌شود که در پیام‌های قبلی بررسی کردیم: Recency Bias و اثر Lost in the Middle.</a:t>
            </a:r>
          </a:p>
          <a:p>
            <a:endParaRPr/>
          </a:p>
          <a:p>
            <a:r>
              <a:t>قرار دادن سوال (یا دستور نهایی) در پایین‌ترین بخش پرامپت (Bottom)، یکی از طلایی‌ترین و استانداردترین الگوها در مهندسی پرامپت است. دلایل فنی و تجربی آن عبارتند از:</a:t>
            </a:r>
          </a:p>
          <a:p>
            <a:endParaRPr/>
          </a:p>
          <a:p>
            <a:r>
              <a:t>۱. معماری توجه و نزدیکی به خروجی (Recency &amp; Attention Gradient)</a:t>
            </a:r>
          </a:p>
          <a:p>
            <a:r>
              <a:t>مدل‌های زبانی ترنسفورمر، متن خروجی را بلافاصله بعد از آخرین توکن ورودی تولید می‌کنند.</a:t>
            </a:r>
          </a:p>
          <a:p>
            <a:endParaRPr/>
          </a:p>
          <a:p>
            <a:r>
              <a:t>اگر ساختار پرامپت شما این باشد:</a:t>
            </a:r>
          </a:p>
          <a:p>
            <a:r>
              <a:t>  [سوال / تسک شما]</a:t>
            </a:r>
          </a:p>
          <a:p>
            <a:r>
              <a:t>  [۱۰ صفحه متن گزارش یا اسناد طولانی]</a:t>
            </a:r>
          </a:p>
          <a:p>
            <a:r>
              <a:t>هنگامی که مدل می‌خواهد اولین کلمه پاسخ را تولید کند، توکن‌های مربوط به «سوال» در فاصله هزاران توکن عقب‌تر قرار دارند و توجه (Attention Weights) مدل روی آن‌ها ضعیف‌تر می‌شود. در نتیجه، ممکن است مدل بخشی از قیدوبندها (Constraints) یا هدف اصلی سوال را فراموش کند.</a:t>
            </a:r>
          </a:p>
          <a:p>
            <a:endParaRPr/>
          </a:p>
          <a:p>
            <a:r>
              <a:t>اما اگر ساختار به این صورت باشد:</a:t>
            </a:r>
          </a:p>
          <a:p>
            <a:r>
              <a:t>  [کانتکست / اسناد داخل تگ &lt;documents&gt;]</a:t>
            </a:r>
          </a:p>
          <a:p>
            <a:r>
              <a:t>  [دستورالعمل‌ها و سوال در انتها]</a:t>
            </a:r>
          </a:p>
          <a:p>
            <a:r>
              <a:t>سوال و دستور دقیقاً در «حافظه کاری نزدیک» (آخرین توکن‌های پردازش‌شده) قرار دارند و بالاترین گرادیان توجه را موقع تولید پاسخ به خود اختصاص می‌دهند.</a:t>
            </a:r>
          </a:p>
          <a:p>
            <a:endParaRPr/>
          </a:p>
          <a:p>
            <a:r>
              <a:t>۲. جلوگیری از سوگیری خواندن متنی (Context Priming)</a:t>
            </a:r>
          </a:p>
          <a:p>
            <a:r>
              <a:t>وقتی یک سند طولانی در انتها قرار می‌گیرد، مدل ممکن است به اشتباه فکر کند وظیفه او ادامه دادن همان سند است (Text Continuation) نه پاسخ به سوالی که در خط اول پرسیده شده بود! اما وقتی در انتها می‌نویسید:</a:t>
            </a:r>
          </a:p>
          <a:p>
            <a:r>
              <a:t>Based on the text above, answer the following question...</a:t>
            </a:r>
          </a:p>
          <a:p>
            <a:r>
              <a:t>تکلیف مدل برای شروع به تولید جواب کاملاً شفاف و بدون ابهام می‌شود.</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a:r>
              <a:rPr dirty="0"/>
              <a:t>۳. </a:t>
            </a:r>
            <a:r>
              <a:rPr dirty="0" err="1"/>
              <a:t>الگوی</a:t>
            </a:r>
            <a:r>
              <a:rPr dirty="0"/>
              <a:t> </a:t>
            </a:r>
            <a:r>
              <a:rPr dirty="0" err="1"/>
              <a:t>پیشنهادی</a:t>
            </a:r>
            <a:r>
              <a:rPr dirty="0"/>
              <a:t> </a:t>
            </a:r>
            <a:r>
              <a:rPr dirty="0" err="1"/>
              <a:t>خود</a:t>
            </a:r>
            <a:r>
              <a:rPr dirty="0"/>
              <a:t> Anthropic (Claude Best Practice)</a:t>
            </a:r>
          </a:p>
          <a:p>
            <a:pPr algn="r"/>
            <a:r>
              <a:rPr dirty="0" err="1"/>
              <a:t>مستندات</a:t>
            </a:r>
            <a:r>
              <a:rPr dirty="0"/>
              <a:t> </a:t>
            </a:r>
            <a:r>
              <a:rPr dirty="0" err="1"/>
              <a:t>رسمی</a:t>
            </a:r>
            <a:r>
              <a:rPr dirty="0"/>
              <a:t> </a:t>
            </a:r>
            <a:r>
              <a:rPr dirty="0" err="1"/>
              <a:t>شرکت</a:t>
            </a:r>
            <a:r>
              <a:rPr dirty="0"/>
              <a:t> Anthropic </a:t>
            </a:r>
            <a:r>
              <a:rPr dirty="0" err="1"/>
              <a:t>صریحاً</a:t>
            </a:r>
            <a:r>
              <a:rPr dirty="0"/>
              <a:t> </a:t>
            </a:r>
            <a:r>
              <a:rPr dirty="0" err="1"/>
              <a:t>ساختار</a:t>
            </a:r>
            <a:r>
              <a:rPr dirty="0"/>
              <a:t> </a:t>
            </a:r>
            <a:r>
              <a:rPr dirty="0" err="1"/>
              <a:t>ایده‌آل</a:t>
            </a:r>
            <a:r>
              <a:rPr dirty="0"/>
              <a:t> </a:t>
            </a:r>
            <a:r>
              <a:rPr dirty="0" err="1"/>
              <a:t>را</a:t>
            </a:r>
            <a:r>
              <a:rPr dirty="0"/>
              <a:t> </a:t>
            </a:r>
            <a:r>
              <a:rPr dirty="0" err="1"/>
              <a:t>به</a:t>
            </a:r>
            <a:r>
              <a:rPr dirty="0"/>
              <a:t> </a:t>
            </a:r>
            <a:r>
              <a:rPr dirty="0" err="1"/>
              <a:t>این</a:t>
            </a:r>
            <a:r>
              <a:rPr dirty="0"/>
              <a:t> </a:t>
            </a:r>
            <a:r>
              <a:rPr dirty="0" err="1"/>
              <a:t>ترتیب</a:t>
            </a:r>
            <a:r>
              <a:rPr dirty="0"/>
              <a:t> </a:t>
            </a:r>
            <a:r>
              <a:rPr dirty="0" err="1"/>
              <a:t>مشخص</a:t>
            </a:r>
            <a:r>
              <a:rPr dirty="0"/>
              <a:t> </a:t>
            </a:r>
            <a:r>
              <a:rPr dirty="0" err="1"/>
              <a:t>کرده‌اند</a:t>
            </a:r>
            <a:r>
              <a:rPr dirty="0"/>
              <a:t>:</a:t>
            </a:r>
          </a:p>
          <a:p>
            <a:pPr algn="r"/>
            <a:endParaRPr dirty="0"/>
          </a:p>
          <a:p>
            <a:pPr algn="r"/>
            <a:r>
              <a:rPr dirty="0"/>
              <a:t>1. System Prompt / Role (</a:t>
            </a:r>
            <a:r>
              <a:rPr dirty="0" err="1"/>
              <a:t>نقش</a:t>
            </a:r>
            <a:r>
              <a:rPr dirty="0"/>
              <a:t> و </a:t>
            </a:r>
            <a:r>
              <a:rPr dirty="0" err="1"/>
              <a:t>قوانین</a:t>
            </a:r>
            <a:r>
              <a:rPr dirty="0"/>
              <a:t> </a:t>
            </a:r>
            <a:r>
              <a:rPr dirty="0" err="1"/>
              <a:t>کلی</a:t>
            </a:r>
            <a:r>
              <a:rPr dirty="0"/>
              <a:t>)</a:t>
            </a:r>
          </a:p>
          <a:p>
            <a:pPr algn="r"/>
            <a:r>
              <a:rPr dirty="0"/>
              <a:t>2. Documents / Context (</a:t>
            </a:r>
            <a:r>
              <a:rPr dirty="0" err="1"/>
              <a:t>متون</a:t>
            </a:r>
            <a:r>
              <a:rPr dirty="0"/>
              <a:t> و </a:t>
            </a:r>
            <a:r>
              <a:rPr dirty="0" err="1"/>
              <a:t>داکیومنت‌ها</a:t>
            </a:r>
            <a:r>
              <a:rPr dirty="0"/>
              <a:t> </a:t>
            </a:r>
            <a:r>
              <a:rPr dirty="0" err="1"/>
              <a:t>داخل</a:t>
            </a:r>
            <a:r>
              <a:rPr dirty="0"/>
              <a:t> </a:t>
            </a:r>
            <a:r>
              <a:rPr dirty="0" err="1"/>
              <a:t>تگ‌های</a:t>
            </a:r>
            <a:r>
              <a:rPr dirty="0"/>
              <a:t> XML)</a:t>
            </a:r>
          </a:p>
          <a:p>
            <a:pPr algn="r"/>
            <a:r>
              <a:rPr dirty="0"/>
              <a:t>3. Examples (</a:t>
            </a:r>
            <a:r>
              <a:rPr dirty="0" err="1"/>
              <a:t>نمونه‌های</a:t>
            </a:r>
            <a:r>
              <a:rPr dirty="0"/>
              <a:t> </a:t>
            </a:r>
            <a:r>
              <a:rPr dirty="0" err="1"/>
              <a:t>چندتایی</a:t>
            </a:r>
            <a:r>
              <a:rPr dirty="0"/>
              <a:t> </a:t>
            </a:r>
            <a:r>
              <a:rPr dirty="0" err="1"/>
              <a:t>یا</a:t>
            </a:r>
            <a:r>
              <a:rPr dirty="0"/>
              <a:t> Few-Shot </a:t>
            </a:r>
            <a:r>
              <a:rPr dirty="0" err="1"/>
              <a:t>در</a:t>
            </a:r>
            <a:r>
              <a:rPr dirty="0"/>
              <a:t> </a:t>
            </a:r>
            <a:r>
              <a:rPr dirty="0" err="1"/>
              <a:t>صورت</a:t>
            </a:r>
            <a:r>
              <a:rPr dirty="0"/>
              <a:t> </a:t>
            </a:r>
            <a:r>
              <a:rPr dirty="0" err="1"/>
              <a:t>نیاز</a:t>
            </a:r>
            <a:r>
              <a:rPr dirty="0"/>
              <a:t>)</a:t>
            </a:r>
          </a:p>
          <a:p>
            <a:pPr algn="r"/>
            <a:r>
              <a:rPr dirty="0"/>
              <a:t>4. Instructions &amp; Specific Question (</a:t>
            </a:r>
            <a:r>
              <a:rPr dirty="0" err="1"/>
              <a:t>سوال</a:t>
            </a:r>
            <a:r>
              <a:rPr dirty="0"/>
              <a:t> </a:t>
            </a:r>
            <a:r>
              <a:rPr dirty="0" err="1"/>
              <a:t>دقیق</a:t>
            </a:r>
            <a:r>
              <a:rPr dirty="0"/>
              <a:t> و </a:t>
            </a:r>
            <a:r>
              <a:rPr dirty="0" err="1"/>
              <a:t>دستورالعمل</a:t>
            </a:r>
            <a:r>
              <a:rPr dirty="0"/>
              <a:t> </a:t>
            </a:r>
            <a:r>
              <a:rPr dirty="0" err="1"/>
              <a:t>اجرایی</a:t>
            </a:r>
            <a:r>
              <a:rPr dirty="0"/>
              <a:t> </a:t>
            </a:r>
            <a:r>
              <a:rPr dirty="0" err="1"/>
              <a:t>در</a:t>
            </a:r>
            <a:r>
              <a:rPr dirty="0"/>
              <a:t> </a:t>
            </a:r>
            <a:r>
              <a:rPr dirty="0" err="1"/>
              <a:t>انتها</a:t>
            </a:r>
            <a:r>
              <a:rPr dirty="0"/>
              <a:t>)</a:t>
            </a:r>
          </a:p>
          <a:p>
            <a:pPr algn="r"/>
            <a:r>
              <a:rPr dirty="0"/>
              <a:t>5. Prefill (</a:t>
            </a:r>
            <a:r>
              <a:rPr dirty="0" err="1"/>
              <a:t>پیش‌پر</a:t>
            </a:r>
            <a:r>
              <a:rPr dirty="0"/>
              <a:t> </a:t>
            </a:r>
            <a:r>
              <a:rPr dirty="0" err="1"/>
              <a:t>کردن</a:t>
            </a:r>
            <a:r>
              <a:rPr dirty="0"/>
              <a:t> </a:t>
            </a:r>
            <a:r>
              <a:rPr dirty="0" err="1"/>
              <a:t>ابتدای</a:t>
            </a:r>
            <a:r>
              <a:rPr dirty="0"/>
              <a:t> </a:t>
            </a:r>
            <a:r>
              <a:rPr dirty="0" err="1"/>
              <a:t>پاسخ</a:t>
            </a:r>
            <a:r>
              <a:rPr dirty="0"/>
              <a:t> </a:t>
            </a:r>
            <a:r>
              <a:rPr dirty="0" err="1"/>
              <a:t>دستیار</a:t>
            </a:r>
            <a:r>
              <a:rPr dirty="0"/>
              <a:t>، </a:t>
            </a:r>
            <a:r>
              <a:rPr dirty="0" err="1"/>
              <a:t>مثلا</a:t>
            </a:r>
            <a:r>
              <a:rPr dirty="0"/>
              <a:t> &lt;answer&gt;)</a:t>
            </a:r>
          </a:p>
          <a:p>
            <a:pPr algn="r" rtl="1"/>
            <a:r>
              <a:rPr lang="fa-IR" b="1" dirty="0"/>
              <a:t>حالت با </a:t>
            </a:r>
            <a:r>
              <a:rPr lang="fa-IR" b="1" dirty="0" err="1"/>
              <a:t>Prefill</a:t>
            </a:r>
            <a:r>
              <a:rPr lang="fa-IR" b="1" dirty="0"/>
              <a:t>:</a:t>
            </a:r>
            <a:endParaRPr lang="fa-IR" dirty="0"/>
          </a:p>
          <a:p>
            <a:pPr algn="r" rtl="1"/>
            <a:r>
              <a:rPr lang="fa-IR" dirty="0"/>
              <a:t>تو اول جواب هوش مصنوعی </a:t>
            </a:r>
            <a:r>
              <a:rPr lang="fa-IR" dirty="0" err="1"/>
              <a:t>می‌نویسی</a:t>
            </a:r>
            <a:r>
              <a:rPr lang="fa-IR" dirty="0"/>
              <a:t>: </a:t>
            </a:r>
            <a:r>
              <a:rPr lang="fa-IR" sz="1200" kern="1200" dirty="0" err="1">
                <a:solidFill>
                  <a:schemeClr val="tx1"/>
                </a:solidFill>
                <a:latin typeface="+mn-lt"/>
                <a:ea typeface="+mn-ea"/>
                <a:cs typeface="+mn-cs"/>
              </a:rPr>
              <a:t>def</a:t>
            </a:r>
            <a:r>
              <a:rPr lang="fa-IR" sz="1200" kern="1200" dirty="0">
                <a:solidFill>
                  <a:schemeClr val="tx1"/>
                </a:solidFill>
                <a:latin typeface="+mn-lt"/>
                <a:ea typeface="+mn-ea"/>
                <a:cs typeface="+mn-cs"/>
              </a:rPr>
              <a:t> </a:t>
            </a:r>
            <a:endParaRPr lang="fa-IR" dirty="0"/>
          </a:p>
          <a:p>
            <a:pPr algn="r" rtl="1"/>
            <a:r>
              <a:rPr lang="fa-IR" dirty="0"/>
              <a:t>مدل دیگه هیچ راهی نداره جز اینکه از بعد از </a:t>
            </a:r>
            <a:r>
              <a:rPr lang="fa-IR" dirty="0" err="1"/>
              <a:t>کلمه‌ی</a:t>
            </a:r>
            <a:r>
              <a:rPr lang="fa-IR" dirty="0"/>
              <a:t> </a:t>
            </a:r>
            <a:r>
              <a:rPr lang="fa-IR" sz="1200" kern="1200" dirty="0" err="1">
                <a:solidFill>
                  <a:schemeClr val="tx1"/>
                </a:solidFill>
                <a:latin typeface="+mn-lt"/>
                <a:ea typeface="+mn-ea"/>
                <a:cs typeface="+mn-cs"/>
              </a:rPr>
              <a:t>def</a:t>
            </a:r>
            <a:r>
              <a:rPr lang="fa-IR" dirty="0"/>
              <a:t> بلافاصله شروع کنه به نوشتن بقیه </a:t>
            </a:r>
            <a:r>
              <a:rPr lang="fa-IR" dirty="0" err="1"/>
              <a:t>کُد</a:t>
            </a:r>
            <a:r>
              <a:rPr lang="fa-IR" dirty="0"/>
              <a:t>! نه سلام </a:t>
            </a:r>
            <a:r>
              <a:rPr lang="fa-IR" dirty="0" err="1"/>
              <a:t>می‌تونه</a:t>
            </a:r>
            <a:r>
              <a:rPr lang="fa-IR" dirty="0"/>
              <a:t> بکنه، نه تعارف.</a:t>
            </a:r>
          </a:p>
          <a:p>
            <a:pPr algn="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sz="1200" b="1" kern="1200" dirty="0">
                <a:solidFill>
                  <a:schemeClr val="tx1"/>
                </a:solidFill>
                <a:effectLst/>
                <a:latin typeface="+mn-lt"/>
                <a:ea typeface="+mn-ea"/>
                <a:cs typeface="+mn-cs"/>
              </a:rPr>
              <a:t>الف) شکستن کلیشه‌های روی اعصاب</a:t>
            </a:r>
            <a:r>
              <a:rPr lang="en-US" sz="1200" b="1" kern="1200" dirty="0">
                <a:solidFill>
                  <a:schemeClr val="tx1"/>
                </a:solidFill>
                <a:effectLst/>
                <a:latin typeface="+mn-lt"/>
                <a:ea typeface="+mn-ea"/>
                <a:cs typeface="+mn-cs"/>
              </a:rPr>
              <a:t> (Breaking AI Cliches)</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هوش مصنوعی</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مثل</a:t>
            </a:r>
            <a:r>
              <a:rPr lang="en-US" sz="1200" kern="1200" dirty="0">
                <a:solidFill>
                  <a:schemeClr val="tx1"/>
                </a:solidFill>
                <a:effectLst/>
                <a:latin typeface="+mn-lt"/>
                <a:ea typeface="+mn-ea"/>
                <a:cs typeface="+mn-cs"/>
              </a:rPr>
              <a:t> ChatGPT) </a:t>
            </a:r>
            <a:r>
              <a:rPr lang="ar-SA" sz="1200" kern="1200" dirty="0">
                <a:solidFill>
                  <a:schemeClr val="tx1"/>
                </a:solidFill>
                <a:effectLst/>
                <a:latin typeface="+mn-lt"/>
                <a:ea typeface="+mn-ea"/>
                <a:cs typeface="+mn-cs"/>
              </a:rPr>
              <a:t>روی میلیاردها متنِ اینترنتی آموزش دیده است. به همین دلیل به صورت پیش‌فرض تمایل شدیدی دارد که کارها را از مسیرِ کلیشه‌ای و تکراری پیش ببرد. مثلاً عاشق جملاتی مثل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در دنیای پرشتاب امروزی</a:t>
            </a:r>
            <a:r>
              <a:rPr lang="en-US" sz="1200" i="1"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"Welcome to..."</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یا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خلاصه اینکه</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است</a:t>
            </a:r>
            <a:r>
              <a:rPr lang="en-US" sz="1200" kern="1200" dirty="0">
                <a:solidFill>
                  <a:schemeClr val="tx1"/>
                </a:solidFill>
                <a:effectLst/>
                <a:latin typeface="+mn-lt"/>
                <a:ea typeface="+mn-ea"/>
                <a:cs typeface="+mn-cs"/>
              </a:rPr>
              <a:t>. </a:t>
            </a:r>
            <a:endParaRPr lang="fa-IR" sz="1200" kern="1200" dirty="0">
              <a:solidFill>
                <a:schemeClr val="tx1"/>
              </a:solidFill>
              <a:effectLst/>
              <a:latin typeface="+mn-lt"/>
              <a:ea typeface="+mn-ea"/>
              <a:cs typeface="+mn-cs"/>
            </a:endParaRPr>
          </a:p>
          <a:p>
            <a:pPr algn="r" rtl="1"/>
            <a:endParaRPr lang="fa-IR" sz="1200" kern="1200" dirty="0">
              <a:solidFill>
                <a:schemeClr val="tx1"/>
              </a:solidFill>
              <a:effectLst/>
              <a:latin typeface="+mn-lt"/>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ar-SA" sz="1200" b="1" kern="1200" dirty="0">
                <a:solidFill>
                  <a:schemeClr val="tx1"/>
                </a:solidFill>
                <a:effectLst/>
                <a:latin typeface="+mn-lt"/>
                <a:ea typeface="+mn-ea"/>
                <a:cs typeface="+mn-cs"/>
              </a:rPr>
              <a:t>هدایت سریع به اصل مطلب</a:t>
            </a:r>
            <a:r>
              <a:rPr lang="en-US" sz="1200" b="1" kern="1200" dirty="0">
                <a:solidFill>
                  <a:schemeClr val="tx1"/>
                </a:solidFill>
                <a:effectLst/>
                <a:latin typeface="+mn-lt"/>
                <a:ea typeface="+mn-ea"/>
                <a:cs typeface="+mn-cs"/>
              </a:rPr>
              <a:t> (Direct to the Point)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وقتی راه‌های فرعی را روی هوش مصنوعی می‌بندید، مجبور می‌شود مستقیم برود سر اصل مطلب. در مثالِ سبز رنگ روی اسلاید می‌بینید که با دستورِ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از احوال‌پرسی عمومی استفاده نکن</a:t>
            </a:r>
            <a:r>
              <a:rPr lang="en-US" sz="1200" i="1"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 مدل مجبور شده حاشیه‌روی را کنار بگذارد و مستقیماً اکشنی که کاربر باید انجام دهد</a:t>
            </a:r>
            <a:r>
              <a:rPr lang="en-US" sz="1200" kern="1200" dirty="0">
                <a:solidFill>
                  <a:schemeClr val="tx1"/>
                </a:solidFill>
                <a:effectLst/>
                <a:latin typeface="+mn-lt"/>
                <a:ea typeface="+mn-ea"/>
                <a:cs typeface="+mn-cs"/>
              </a:rPr>
              <a:t> (Actionable output) </a:t>
            </a:r>
            <a:r>
              <a:rPr lang="ar-SA" sz="1200" kern="1200" dirty="0">
                <a:solidFill>
                  <a:schemeClr val="tx1"/>
                </a:solidFill>
                <a:effectLst/>
                <a:latin typeface="+mn-lt"/>
                <a:ea typeface="+mn-ea"/>
                <a:cs typeface="+mn-cs"/>
              </a:rPr>
              <a:t>را بنویسد</a:t>
            </a:r>
            <a:r>
              <a:rPr lang="en-US" sz="1200" kern="1200" dirty="0">
                <a:solidFill>
                  <a:schemeClr val="tx1"/>
                </a:solidFill>
                <a:effectLst/>
                <a:latin typeface="+mn-lt"/>
                <a:ea typeface="+mn-ea"/>
                <a:cs typeface="+mn-cs"/>
              </a:rPr>
              <a:t>.</a:t>
            </a:r>
          </a:p>
          <a:p>
            <a:pPr algn="r" rtl="1"/>
            <a:endParaRPr lang="fa-IR" dirty="0"/>
          </a:p>
          <a:p>
            <a:pPr algn="r" rtl="1"/>
            <a:r>
              <a:rPr lang="ar-SA" sz="1200" b="1" kern="1200" dirty="0">
                <a:solidFill>
                  <a:schemeClr val="tx1"/>
                </a:solidFill>
                <a:effectLst/>
                <a:latin typeface="+mn-lt"/>
                <a:ea typeface="+mn-ea"/>
                <a:cs typeface="+mn-cs"/>
              </a:rPr>
              <a:t>کنترل دقیق لحن</a:t>
            </a:r>
            <a:r>
              <a:rPr lang="en-US" sz="1200" b="1" kern="1200" dirty="0">
                <a:solidFill>
                  <a:schemeClr val="tx1"/>
                </a:solidFill>
                <a:effectLst/>
                <a:latin typeface="+mn-lt"/>
                <a:ea typeface="+mn-ea"/>
                <a:cs typeface="+mn-cs"/>
              </a:rPr>
              <a:t> (Tone Control)</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در پایین اسلاید یک سوال پرسیده شده</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بهترین راه برای جلوگیری از لحن دراماتیک چیست؟</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جواب دقیقاً همین تکنیک است. گاهی اوقات توضیح دادنِ لحنِ ایده‌آل سخت است، اما مسدود کردنِ لحنِ اشتباه بسیار راحت است</a:t>
            </a:r>
            <a:endParaRPr lang="fa-IR" sz="1200" kern="1200" dirty="0">
              <a:solidFill>
                <a:schemeClr val="tx1"/>
              </a:solidFill>
              <a:effectLst/>
              <a:latin typeface="+mn-lt"/>
              <a:ea typeface="+mn-ea"/>
              <a:cs typeface="+mn-cs"/>
            </a:endParaRPr>
          </a:p>
          <a:p>
            <a:pPr algn="r" rtl="1"/>
            <a:endParaRPr lang="fa-IR" sz="1200" kern="1200" dirty="0">
              <a:solidFill>
                <a:schemeClr val="tx1"/>
              </a:solidFill>
              <a:effectLst/>
              <a:latin typeface="+mn-lt"/>
              <a:ea typeface="+mn-ea"/>
              <a:cs typeface="+mn-cs"/>
            </a:endParaRPr>
          </a:p>
          <a:p>
            <a:pPr algn="r" rtl="1"/>
            <a:r>
              <a:rPr lang="ar-SA" sz="1200" b="1" kern="1200" dirty="0">
                <a:solidFill>
                  <a:schemeClr val="tx1"/>
                </a:solidFill>
                <a:effectLst/>
                <a:latin typeface="+mn-lt"/>
                <a:ea typeface="+mn-ea"/>
                <a:cs typeface="+mn-cs"/>
              </a:rPr>
              <a:t>صرفه‌جویی شدید در زمان ویرایش</a:t>
            </a:r>
            <a:r>
              <a:rPr lang="ar-SA" sz="1200" kern="1200" dirty="0">
                <a:solidFill>
                  <a:schemeClr val="tx1"/>
                </a:solidFill>
                <a:effectLst/>
                <a:latin typeface="+mn-lt"/>
                <a:ea typeface="+mn-ea"/>
                <a:cs typeface="+mn-cs"/>
              </a:rPr>
              <a:t> بدون این تکنیک، هوش مصنوعی یک متنِ پر از اضافات به شما می‌دهد و شما باید </a:t>
            </a:r>
            <a:r>
              <a:rPr lang="fa-IR" sz="1200" kern="1200" dirty="0">
                <a:solidFill>
                  <a:schemeClr val="tx1"/>
                </a:solidFill>
                <a:effectLst/>
                <a:latin typeface="+mn-lt"/>
                <a:ea typeface="+mn-ea"/>
                <a:cs typeface="+mn-cs"/>
              </a:rPr>
              <a:t>۵</a:t>
            </a:r>
            <a:r>
              <a:rPr lang="ar-SA" sz="1200" kern="1200" dirty="0">
                <a:solidFill>
                  <a:schemeClr val="tx1"/>
                </a:solidFill>
                <a:effectLst/>
                <a:latin typeface="+mn-lt"/>
                <a:ea typeface="+mn-ea"/>
                <a:cs typeface="+mn-cs"/>
              </a:rPr>
              <a:t> دقیقه وقت بگذارید تا احوال‌پرسی‌ها، ایموجی‌ها، یا پاراگراف‌های نتیجه‌گیریِ بی‌موردِ آن را پاک کنید. با استفاده از محدودیت‌های منفی در همان پرامپت اول (مثلاً</a:t>
            </a:r>
            <a:r>
              <a:rPr lang="en-US" sz="1200" kern="1200" dirty="0">
                <a:solidFill>
                  <a:schemeClr val="tx1"/>
                </a:solidFill>
                <a:effectLst/>
                <a:latin typeface="+mn-lt"/>
                <a:ea typeface="+mn-ea"/>
                <a:cs typeface="+mn-cs"/>
              </a:rPr>
              <a:t>: </a:t>
            </a:r>
            <a:r>
              <a:rPr lang="ar-SA" sz="1200" i="1" kern="1200" dirty="0">
                <a:solidFill>
                  <a:schemeClr val="tx1"/>
                </a:solidFill>
                <a:effectLst/>
                <a:latin typeface="+mn-lt"/>
                <a:ea typeface="+mn-ea"/>
                <a:cs typeface="+mn-cs"/>
              </a:rPr>
              <a:t>هیچ نتیجه‌گیری‌ای در انتها ننویس</a:t>
            </a:r>
            <a:r>
              <a:rPr lang="en-US" sz="1200"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 یک خروجی </a:t>
            </a:r>
            <a:r>
              <a:rPr lang="fa-IR" sz="1200" kern="1200" dirty="0">
                <a:solidFill>
                  <a:schemeClr val="tx1"/>
                </a:solidFill>
                <a:effectLst/>
                <a:latin typeface="+mn-lt"/>
                <a:ea typeface="+mn-ea"/>
                <a:cs typeface="+mn-cs"/>
              </a:rPr>
              <a:t>۱۰۰٪</a:t>
            </a:r>
            <a:r>
              <a:rPr lang="ar-SA" sz="1200" kern="1200" dirty="0">
                <a:solidFill>
                  <a:schemeClr val="tx1"/>
                </a:solidFill>
                <a:effectLst/>
                <a:latin typeface="+mn-lt"/>
                <a:ea typeface="+mn-ea"/>
                <a:cs typeface="+mn-cs"/>
              </a:rPr>
              <a:t> آماده‌ی استفاده تحویل می‌گیرید</a:t>
            </a:r>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23</a:t>
            </a:fld>
            <a:endParaRPr lang="en-US"/>
          </a:p>
        </p:txBody>
      </p:sp>
    </p:spTree>
    <p:extLst>
      <p:ext uri="{BB962C8B-B14F-4D97-AF65-F5344CB8AC3E}">
        <p14:creationId xmlns:p14="http://schemas.microsoft.com/office/powerpoint/2010/main" val="29031852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sz="1200" b="1" i="0" kern="1200" dirty="0">
                <a:solidFill>
                  <a:schemeClr val="tx1"/>
                </a:solidFill>
                <a:effectLst/>
                <a:latin typeface="+mn-lt"/>
                <a:ea typeface="+mn-ea"/>
                <a:cs typeface="+mn-cs"/>
              </a:rPr>
              <a:t>الف) غلبه بر «نقاط کور» ذهن شما (</a:t>
            </a:r>
            <a:r>
              <a:rPr lang="en-US" sz="1200" b="1" i="0" kern="1200" dirty="0">
                <a:solidFill>
                  <a:schemeClr val="tx1"/>
                </a:solidFill>
                <a:effectLst/>
                <a:latin typeface="+mn-lt"/>
                <a:ea typeface="+mn-ea"/>
                <a:cs typeface="+mn-cs"/>
              </a:rPr>
              <a:t>Finding Blind Spots):</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خیلی </a:t>
            </a:r>
            <a:r>
              <a:rPr lang="fa-IR" sz="1200" b="0" i="0" kern="1200" dirty="0" err="1">
                <a:solidFill>
                  <a:schemeClr val="tx1"/>
                </a:solidFill>
                <a:effectLst/>
                <a:latin typeface="+mn-lt"/>
                <a:ea typeface="+mn-ea"/>
                <a:cs typeface="+mn-cs"/>
              </a:rPr>
              <a:t>وقت‌ها</a:t>
            </a:r>
            <a:r>
              <a:rPr lang="fa-IR" sz="1200" b="0" i="0" kern="1200" dirty="0">
                <a:solidFill>
                  <a:schemeClr val="tx1"/>
                </a:solidFill>
                <a:effectLst/>
                <a:latin typeface="+mn-lt"/>
                <a:ea typeface="+mn-ea"/>
                <a:cs typeface="+mn-cs"/>
              </a:rPr>
              <a:t> ما خودمان </a:t>
            </a:r>
            <a:r>
              <a:rPr lang="fa-IR" sz="1200" b="0" i="0" kern="1200" dirty="0" err="1">
                <a:solidFill>
                  <a:schemeClr val="tx1"/>
                </a:solidFill>
                <a:effectLst/>
                <a:latin typeface="+mn-lt"/>
                <a:ea typeface="+mn-ea"/>
                <a:cs typeface="+mn-cs"/>
              </a:rPr>
              <a:t>نمی‌دانیم</a:t>
            </a:r>
            <a:r>
              <a:rPr lang="fa-IR" sz="1200" b="0" i="0" kern="1200" dirty="0">
                <a:solidFill>
                  <a:schemeClr val="tx1"/>
                </a:solidFill>
                <a:effectLst/>
                <a:latin typeface="+mn-lt"/>
                <a:ea typeface="+mn-ea"/>
                <a:cs typeface="+mn-cs"/>
              </a:rPr>
              <a:t> هوش مصنوعی برای خلق یک خروجی </a:t>
            </a:r>
            <a:r>
              <a:rPr lang="fa-IR" sz="1200" b="0" i="0" kern="1200" dirty="0" err="1">
                <a:solidFill>
                  <a:schemeClr val="tx1"/>
                </a:solidFill>
                <a:effectLst/>
                <a:latin typeface="+mn-lt"/>
                <a:ea typeface="+mn-ea"/>
                <a:cs typeface="+mn-cs"/>
              </a:rPr>
              <a:t>ایده‌آل</a:t>
            </a:r>
            <a:r>
              <a:rPr lang="fa-IR" sz="1200" b="0" i="0" kern="1200" dirty="0">
                <a:solidFill>
                  <a:schemeClr val="tx1"/>
                </a:solidFill>
                <a:effectLst/>
                <a:latin typeface="+mn-lt"/>
                <a:ea typeface="+mn-ea"/>
                <a:cs typeface="+mn-cs"/>
              </a:rPr>
              <a:t> به چه پارامترهایی نیاز دارد. وقتی به او </a:t>
            </a:r>
            <a:r>
              <a:rPr lang="fa-IR" sz="1200" b="0" i="0" kern="1200" dirty="0" err="1">
                <a:solidFill>
                  <a:schemeClr val="tx1"/>
                </a:solidFill>
                <a:effectLst/>
                <a:latin typeface="+mn-lt"/>
                <a:ea typeface="+mn-ea"/>
                <a:cs typeface="+mn-cs"/>
              </a:rPr>
              <a:t>می‌گویید</a:t>
            </a:r>
            <a:r>
              <a:rPr lang="fa-IR" sz="1200" b="0" i="0" kern="1200" dirty="0">
                <a:solidFill>
                  <a:schemeClr val="tx1"/>
                </a:solidFill>
                <a:effectLst/>
                <a:latin typeface="+mn-lt"/>
                <a:ea typeface="+mn-ea"/>
                <a:cs typeface="+mn-cs"/>
              </a:rPr>
              <a:t> با من مصاحبه کن، او به عنوان یک متخصص، دقیقاً دست روی پارامترهایی </a:t>
            </a:r>
            <a:r>
              <a:rPr lang="fa-IR" sz="1200" b="0" i="0" kern="1200" dirty="0" err="1">
                <a:solidFill>
                  <a:schemeClr val="tx1"/>
                </a:solidFill>
                <a:effectLst/>
                <a:latin typeface="+mn-lt"/>
                <a:ea typeface="+mn-ea"/>
                <a:cs typeface="+mn-cs"/>
              </a:rPr>
              <a:t>می‌گذارد</a:t>
            </a:r>
            <a:r>
              <a:rPr lang="fa-IR" sz="1200" b="0" i="0" kern="1200" dirty="0">
                <a:solidFill>
                  <a:schemeClr val="tx1"/>
                </a:solidFill>
                <a:effectLst/>
                <a:latin typeface="+mn-lt"/>
                <a:ea typeface="+mn-ea"/>
                <a:cs typeface="+mn-cs"/>
              </a:rPr>
              <a:t> که شما فراموش </a:t>
            </a:r>
            <a:r>
              <a:rPr lang="fa-IR" sz="1200" b="0" i="0" kern="1200" dirty="0" err="1">
                <a:solidFill>
                  <a:schemeClr val="tx1"/>
                </a:solidFill>
                <a:effectLst/>
                <a:latin typeface="+mn-lt"/>
                <a:ea typeface="+mn-ea"/>
                <a:cs typeface="+mn-cs"/>
              </a:rPr>
              <a:t>کرده‌اید</a:t>
            </a:r>
            <a:r>
              <a:rPr lang="fa-IR" sz="1200" b="0" i="0" kern="1200" dirty="0">
                <a:solidFill>
                  <a:schemeClr val="tx1"/>
                </a:solidFill>
                <a:effectLst/>
                <a:latin typeface="+mn-lt"/>
                <a:ea typeface="+mn-ea"/>
                <a:cs typeface="+mn-cs"/>
              </a:rPr>
              <a:t> (مثل تعیین </a:t>
            </a:r>
            <a:r>
              <a:rPr lang="fa-IR" sz="1200" b="0" i="0" kern="1200" dirty="0" err="1">
                <a:solidFill>
                  <a:schemeClr val="tx1"/>
                </a:solidFill>
                <a:effectLst/>
                <a:latin typeface="+mn-lt"/>
                <a:ea typeface="+mn-ea"/>
                <a:cs typeface="+mn-cs"/>
              </a:rPr>
              <a:t>پلتفرم</a:t>
            </a:r>
            <a:r>
              <a:rPr lang="fa-IR" sz="1200" b="0" i="0" kern="1200" dirty="0">
                <a:solidFill>
                  <a:schemeClr val="tx1"/>
                </a:solidFill>
                <a:effectLst/>
                <a:latin typeface="+mn-lt"/>
                <a:ea typeface="+mn-ea"/>
                <a:cs typeface="+mn-cs"/>
              </a:rPr>
              <a:t> انتشار، تعیین سن مخاطب یا تعیین </a:t>
            </a:r>
            <a:r>
              <a:rPr lang="fa-IR" sz="1200" b="0" i="0" kern="1200" dirty="0" err="1">
                <a:solidFill>
                  <a:schemeClr val="tx1"/>
                </a:solidFill>
                <a:effectLst/>
                <a:latin typeface="+mn-lt"/>
                <a:ea typeface="+mn-ea"/>
                <a:cs typeface="+mn-cs"/>
              </a:rPr>
              <a:t>پرسونای</a:t>
            </a:r>
            <a:r>
              <a:rPr lang="fa-IR" sz="1200" b="0" i="0" kern="1200" dirty="0">
                <a:solidFill>
                  <a:schemeClr val="tx1"/>
                </a:solidFill>
                <a:effectLst/>
                <a:latin typeface="+mn-lt"/>
                <a:ea typeface="+mn-ea"/>
                <a:cs typeface="+mn-cs"/>
              </a:rPr>
              <a:t> برند).</a:t>
            </a:r>
          </a:p>
          <a:p>
            <a:pPr algn="r" rtl="1"/>
            <a:r>
              <a:rPr lang="fa-IR" sz="1200" b="1" i="0" kern="1200" dirty="0">
                <a:solidFill>
                  <a:schemeClr val="tx1"/>
                </a:solidFill>
                <a:effectLst/>
                <a:latin typeface="+mn-lt"/>
                <a:ea typeface="+mn-ea"/>
                <a:cs typeface="+mn-cs"/>
              </a:rPr>
              <a:t>ب) کاهش فشار ذهنی کاربر (</a:t>
            </a:r>
            <a:r>
              <a:rPr lang="en-US" sz="1200" b="1" i="0" kern="1200" dirty="0">
                <a:solidFill>
                  <a:schemeClr val="tx1"/>
                </a:solidFill>
                <a:effectLst/>
                <a:latin typeface="+mn-lt"/>
                <a:ea typeface="+mn-ea"/>
                <a:cs typeface="+mn-cs"/>
              </a:rPr>
              <a:t>Low Mental Load):</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نوشتن یک </a:t>
            </a:r>
            <a:r>
              <a:rPr lang="fa-IR" sz="1200" b="0" i="0" kern="1200" dirty="0" err="1">
                <a:solidFill>
                  <a:schemeClr val="tx1"/>
                </a:solidFill>
                <a:effectLst/>
                <a:latin typeface="+mn-lt"/>
                <a:ea typeface="+mn-ea"/>
                <a:cs typeface="+mn-cs"/>
              </a:rPr>
              <a:t>پرامپت</a:t>
            </a:r>
            <a:r>
              <a:rPr lang="fa-IR" sz="1200" b="0" i="0" kern="1200" dirty="0">
                <a:solidFill>
                  <a:schemeClr val="tx1"/>
                </a:solidFill>
                <a:effectLst/>
                <a:latin typeface="+mn-lt"/>
                <a:ea typeface="+mn-ea"/>
                <a:cs typeface="+mn-cs"/>
              </a:rPr>
              <a:t> طولانی و جامع با تمام جزئیات، بسیار سخت و </a:t>
            </a:r>
            <a:r>
              <a:rPr lang="fa-IR" sz="1200" b="0" i="0" kern="1200" dirty="0" err="1">
                <a:solidFill>
                  <a:schemeClr val="tx1"/>
                </a:solidFill>
                <a:effectLst/>
                <a:latin typeface="+mn-lt"/>
                <a:ea typeface="+mn-ea"/>
                <a:cs typeface="+mn-cs"/>
              </a:rPr>
              <a:t>زمان‌بر</a:t>
            </a:r>
            <a:r>
              <a:rPr lang="fa-IR" sz="1200" b="0" i="0" kern="1200" dirty="0">
                <a:solidFill>
                  <a:schemeClr val="tx1"/>
                </a:solidFill>
                <a:effectLst/>
                <a:latin typeface="+mn-lt"/>
                <a:ea typeface="+mn-ea"/>
                <a:cs typeface="+mn-cs"/>
              </a:rPr>
              <a:t> است. این تکنیک، «</a:t>
            </a:r>
            <a:r>
              <a:rPr lang="fa-IR" sz="1200" b="0" i="0" kern="1200" dirty="0" err="1">
                <a:solidFill>
                  <a:schemeClr val="tx1"/>
                </a:solidFill>
                <a:effectLst/>
                <a:latin typeface="+mn-lt"/>
                <a:ea typeface="+mn-ea"/>
                <a:cs typeface="+mn-cs"/>
              </a:rPr>
              <a:t>بارِ</a:t>
            </a:r>
            <a:r>
              <a:rPr lang="fa-IR" sz="1200" b="0" i="0" kern="1200" dirty="0">
                <a:solidFill>
                  <a:schemeClr val="tx1"/>
                </a:solidFill>
                <a:effectLst/>
                <a:latin typeface="+mn-lt"/>
                <a:ea typeface="+mn-ea"/>
                <a:cs typeface="+mn-cs"/>
              </a:rPr>
              <a:t> تفکر عمیق» را از روی دوش شما </a:t>
            </a:r>
            <a:r>
              <a:rPr lang="fa-IR" sz="1200" b="0" i="0" kern="1200" dirty="0" err="1">
                <a:solidFill>
                  <a:schemeClr val="tx1"/>
                </a:solidFill>
                <a:effectLst/>
                <a:latin typeface="+mn-lt"/>
                <a:ea typeface="+mn-ea"/>
                <a:cs typeface="+mn-cs"/>
              </a:rPr>
              <a:t>برمی‌دارد</a:t>
            </a:r>
            <a:r>
              <a:rPr lang="fa-IR" sz="1200" b="0" i="0" kern="1200" dirty="0">
                <a:solidFill>
                  <a:schemeClr val="tx1"/>
                </a:solidFill>
                <a:effectLst/>
                <a:latin typeface="+mn-lt"/>
                <a:ea typeface="+mn-ea"/>
                <a:cs typeface="+mn-cs"/>
              </a:rPr>
              <a:t> و روی دوش هوش مصنوعی </a:t>
            </a:r>
            <a:r>
              <a:rPr lang="fa-IR" sz="1200" b="0" i="0" kern="1200" dirty="0" err="1">
                <a:solidFill>
                  <a:schemeClr val="tx1"/>
                </a:solidFill>
                <a:effectLst/>
                <a:latin typeface="+mn-lt"/>
                <a:ea typeface="+mn-ea"/>
                <a:cs typeface="+mn-cs"/>
              </a:rPr>
              <a:t>می‌گذارد</a:t>
            </a:r>
            <a:r>
              <a:rPr lang="fa-IR" sz="1200" b="0" i="0" kern="1200" dirty="0">
                <a:solidFill>
                  <a:schemeClr val="tx1"/>
                </a:solidFill>
                <a:effectLst/>
                <a:latin typeface="+mn-lt"/>
                <a:ea typeface="+mn-ea"/>
                <a:cs typeface="+mn-cs"/>
              </a:rPr>
              <a:t>. شما فقط کافیست به سوالات او (به صورت </a:t>
            </a:r>
            <a:r>
              <a:rPr lang="fa-IR" sz="1200" b="0" i="0" kern="1200" dirty="0" err="1">
                <a:solidFill>
                  <a:schemeClr val="tx1"/>
                </a:solidFill>
                <a:effectLst/>
                <a:latin typeface="+mn-lt"/>
                <a:ea typeface="+mn-ea"/>
                <a:cs typeface="+mn-cs"/>
              </a:rPr>
              <a:t>محاوره‌ای</a:t>
            </a:r>
            <a:r>
              <a:rPr lang="fa-IR" sz="1200" b="0" i="0" kern="1200" dirty="0">
                <a:solidFill>
                  <a:schemeClr val="tx1"/>
                </a:solidFill>
                <a:effectLst/>
                <a:latin typeface="+mn-lt"/>
                <a:ea typeface="+mn-ea"/>
                <a:cs typeface="+mn-cs"/>
              </a:rPr>
              <a:t> و کوتاه) جواب دهید.</a:t>
            </a:r>
          </a:p>
          <a:p>
            <a:pPr algn="r" rtl="1"/>
            <a:r>
              <a:rPr lang="fa-IR" sz="1200" b="1" i="0" kern="1200" dirty="0">
                <a:solidFill>
                  <a:schemeClr val="tx1"/>
                </a:solidFill>
                <a:effectLst/>
                <a:latin typeface="+mn-lt"/>
                <a:ea typeface="+mn-ea"/>
                <a:cs typeface="+mn-cs"/>
              </a:rPr>
              <a:t>ج) </a:t>
            </a:r>
            <a:r>
              <a:rPr lang="fa-IR" sz="1200" b="1" i="0" kern="1200" dirty="0" err="1">
                <a:solidFill>
                  <a:schemeClr val="tx1"/>
                </a:solidFill>
                <a:effectLst/>
                <a:latin typeface="+mn-lt"/>
                <a:ea typeface="+mn-ea"/>
                <a:cs typeface="+mn-cs"/>
              </a:rPr>
              <a:t>ایده‌آل</a:t>
            </a:r>
            <a:r>
              <a:rPr lang="fa-IR" sz="1200" b="1" i="0" kern="1200" dirty="0">
                <a:solidFill>
                  <a:schemeClr val="tx1"/>
                </a:solidFill>
                <a:effectLst/>
                <a:latin typeface="+mn-lt"/>
                <a:ea typeface="+mn-ea"/>
                <a:cs typeface="+mn-cs"/>
              </a:rPr>
              <a:t> برای </a:t>
            </a:r>
            <a:r>
              <a:rPr lang="fa-IR" sz="1200" b="1" i="0" kern="1200" dirty="0" err="1">
                <a:solidFill>
                  <a:schemeClr val="tx1"/>
                </a:solidFill>
                <a:effectLst/>
                <a:latin typeface="+mn-lt"/>
                <a:ea typeface="+mn-ea"/>
                <a:cs typeface="+mn-cs"/>
              </a:rPr>
              <a:t>پروژه‌های</a:t>
            </a:r>
            <a:r>
              <a:rPr lang="fa-IR" sz="1200" b="1" i="0" kern="1200" dirty="0">
                <a:solidFill>
                  <a:schemeClr val="tx1"/>
                </a:solidFill>
                <a:effectLst/>
                <a:latin typeface="+mn-lt"/>
                <a:ea typeface="+mn-ea"/>
                <a:cs typeface="+mn-cs"/>
              </a:rPr>
              <a:t> پیچیده (</a:t>
            </a:r>
            <a:r>
              <a:rPr lang="en-US" sz="1200" b="1" i="0" kern="1200" dirty="0">
                <a:solidFill>
                  <a:schemeClr val="tx1"/>
                </a:solidFill>
                <a:effectLst/>
                <a:latin typeface="+mn-lt"/>
                <a:ea typeface="+mn-ea"/>
                <a:cs typeface="+mn-cs"/>
              </a:rPr>
              <a:t>High-Stakes Tasks):</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شما </a:t>
            </a:r>
            <a:r>
              <a:rPr lang="fa-IR" sz="1200" b="0" i="0" kern="1200" dirty="0" err="1">
                <a:solidFill>
                  <a:schemeClr val="tx1"/>
                </a:solidFill>
                <a:effectLst/>
                <a:latin typeface="+mn-lt"/>
                <a:ea typeface="+mn-ea"/>
                <a:cs typeface="+mn-cs"/>
              </a:rPr>
              <a:t>نمی‌توانید</a:t>
            </a:r>
            <a:r>
              <a:rPr lang="fa-IR" sz="1200" b="0" i="0" kern="1200" dirty="0">
                <a:solidFill>
                  <a:schemeClr val="tx1"/>
                </a:solidFill>
                <a:effectLst/>
                <a:latin typeface="+mn-lt"/>
                <a:ea typeface="+mn-ea"/>
                <a:cs typeface="+mn-cs"/>
              </a:rPr>
              <a:t> در یک </a:t>
            </a:r>
            <a:r>
              <a:rPr lang="fa-IR" sz="1200" b="0" i="0" kern="1200" dirty="0" err="1">
                <a:solidFill>
                  <a:schemeClr val="tx1"/>
                </a:solidFill>
                <a:effectLst/>
                <a:latin typeface="+mn-lt"/>
                <a:ea typeface="+mn-ea"/>
                <a:cs typeface="+mn-cs"/>
              </a:rPr>
              <a:t>پرامپتِ</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تک‌مرحله‌ای</a:t>
            </a:r>
            <a:r>
              <a:rPr lang="fa-IR"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One-shot) </a:t>
            </a:r>
            <a:r>
              <a:rPr lang="fa-IR" sz="1200" b="0" i="0" kern="1200" dirty="0">
                <a:solidFill>
                  <a:schemeClr val="tx1"/>
                </a:solidFill>
                <a:effectLst/>
                <a:latin typeface="+mn-lt"/>
                <a:ea typeface="+mn-ea"/>
                <a:cs typeface="+mn-cs"/>
              </a:rPr>
              <a:t>از هوش مصنوعی بخواهید یک </a:t>
            </a:r>
            <a:r>
              <a:rPr lang="fa-IR" sz="1200" b="0" i="0" kern="1200" dirty="0" err="1">
                <a:solidFill>
                  <a:schemeClr val="tx1"/>
                </a:solidFill>
                <a:effectLst/>
                <a:latin typeface="+mn-lt"/>
                <a:ea typeface="+mn-ea"/>
                <a:cs typeface="+mn-cs"/>
              </a:rPr>
              <a:t>بیزینس</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پلن</a:t>
            </a:r>
            <a:r>
              <a:rPr lang="fa-IR"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Business Plan) </a:t>
            </a:r>
            <a:r>
              <a:rPr lang="fa-IR" sz="1200" b="0" i="0" kern="1200" dirty="0">
                <a:solidFill>
                  <a:schemeClr val="tx1"/>
                </a:solidFill>
                <a:effectLst/>
                <a:latin typeface="+mn-lt"/>
                <a:ea typeface="+mn-ea"/>
                <a:cs typeface="+mn-cs"/>
              </a:rPr>
              <a:t>یا استراتژی </a:t>
            </a:r>
            <a:r>
              <a:rPr lang="fa-IR" sz="1200" b="0" i="0" kern="1200" dirty="0" err="1">
                <a:solidFill>
                  <a:schemeClr val="tx1"/>
                </a:solidFill>
                <a:effectLst/>
                <a:latin typeface="+mn-lt"/>
                <a:ea typeface="+mn-ea"/>
                <a:cs typeface="+mn-cs"/>
              </a:rPr>
              <a:t>مارکتینگ</a:t>
            </a:r>
            <a:r>
              <a:rPr lang="fa-IR" sz="1200" b="0" i="0" kern="1200" dirty="0">
                <a:solidFill>
                  <a:schemeClr val="tx1"/>
                </a:solidFill>
                <a:effectLst/>
                <a:latin typeface="+mn-lt"/>
                <a:ea typeface="+mn-ea"/>
                <a:cs typeface="+mn-cs"/>
              </a:rPr>
              <a:t> بنویسد. این کارها نیاز به </a:t>
            </a:r>
            <a:r>
              <a:rPr lang="fa-IR" sz="1200" b="0" i="0" kern="1200" dirty="0" err="1">
                <a:solidFill>
                  <a:schemeClr val="tx1"/>
                </a:solidFill>
                <a:effectLst/>
                <a:latin typeface="+mn-lt"/>
                <a:ea typeface="+mn-ea"/>
                <a:cs typeface="+mn-cs"/>
              </a:rPr>
              <a:t>رفت‌وبرگشت</a:t>
            </a:r>
            <a:r>
              <a:rPr lang="fa-IR" sz="1200" b="0" i="0" kern="1200" dirty="0">
                <a:solidFill>
                  <a:schemeClr val="tx1"/>
                </a:solidFill>
                <a:effectLst/>
                <a:latin typeface="+mn-lt"/>
                <a:ea typeface="+mn-ea"/>
                <a:cs typeface="+mn-cs"/>
              </a:rPr>
              <a:t> دارند. این تکنیک، یک کار بزرگ را به </a:t>
            </a:r>
            <a:r>
              <a:rPr lang="fa-IR" sz="1200" b="0" i="0" kern="1200" dirty="0" err="1">
                <a:solidFill>
                  <a:schemeClr val="tx1"/>
                </a:solidFill>
                <a:effectLst/>
                <a:latin typeface="+mn-lt"/>
                <a:ea typeface="+mn-ea"/>
                <a:cs typeface="+mn-cs"/>
              </a:rPr>
              <a:t>قدم‌های</a:t>
            </a:r>
            <a:r>
              <a:rPr lang="fa-IR" sz="1200" b="0" i="0" kern="1200" dirty="0">
                <a:solidFill>
                  <a:schemeClr val="tx1"/>
                </a:solidFill>
                <a:effectLst/>
                <a:latin typeface="+mn-lt"/>
                <a:ea typeface="+mn-ea"/>
                <a:cs typeface="+mn-cs"/>
              </a:rPr>
              <a:t> کوچک و تعاملی تبدیل </a:t>
            </a:r>
            <a:r>
              <a:rPr lang="fa-IR" sz="1200" b="0" i="0" kern="1200" dirty="0" err="1">
                <a:solidFill>
                  <a:schemeClr val="tx1"/>
                </a:solidFill>
                <a:effectLst/>
                <a:latin typeface="+mn-lt"/>
                <a:ea typeface="+mn-ea"/>
                <a:cs typeface="+mn-cs"/>
              </a:rPr>
              <a:t>می‌کند</a:t>
            </a:r>
            <a:r>
              <a:rPr lang="fa-IR" sz="1200" b="0" i="0" kern="1200" dirty="0">
                <a:solidFill>
                  <a:schemeClr val="tx1"/>
                </a:solidFill>
                <a:effectLst/>
                <a:latin typeface="+mn-lt"/>
                <a:ea typeface="+mn-ea"/>
                <a:cs typeface="+mn-cs"/>
              </a:rPr>
              <a:t>.</a:t>
            </a:r>
          </a:p>
          <a:p>
            <a:pPr algn="r" rtl="1"/>
            <a:endParaRPr lang="fa-IR" dirty="0"/>
          </a:p>
          <a:p>
            <a:pPr algn="r" rtl="1"/>
            <a:r>
              <a:rPr lang="fa-IR" sz="1200" b="0" i="0" kern="1200" dirty="0">
                <a:solidFill>
                  <a:schemeClr val="tx1"/>
                </a:solidFill>
                <a:effectLst/>
                <a:latin typeface="+mn-lt"/>
                <a:ea typeface="+mn-ea"/>
                <a:cs typeface="+mn-cs"/>
              </a:rPr>
              <a:t>جواب سوال  </a:t>
            </a:r>
            <a:r>
              <a:rPr lang="en-US" dirty="0"/>
              <a:t>One question at a time" rule prevents what</a:t>
            </a:r>
            <a:endParaRPr lang="fa-IR" sz="1200" b="0" i="0" kern="1200" dirty="0">
              <a:solidFill>
                <a:schemeClr val="tx1"/>
              </a:solidFill>
              <a:effectLst/>
              <a:latin typeface="+mn-lt"/>
              <a:ea typeface="+mn-ea"/>
              <a:cs typeface="+mn-cs"/>
            </a:endParaRPr>
          </a:p>
          <a:p>
            <a:pPr algn="r" rtl="1"/>
            <a:r>
              <a:rPr lang="fa-IR" sz="1200" b="0" i="0" kern="1200" dirty="0">
                <a:solidFill>
                  <a:schemeClr val="tx1"/>
                </a:solidFill>
                <a:effectLst/>
                <a:latin typeface="+mn-lt"/>
                <a:ea typeface="+mn-ea"/>
                <a:cs typeface="+mn-cs"/>
              </a:rPr>
              <a:t> : "اگر در </a:t>
            </a:r>
            <a:r>
              <a:rPr lang="fa-IR" sz="1200" b="0" i="0" kern="1200" dirty="0" err="1">
                <a:solidFill>
                  <a:schemeClr val="tx1"/>
                </a:solidFill>
                <a:effectLst/>
                <a:latin typeface="+mn-lt"/>
                <a:ea typeface="+mn-ea"/>
                <a:cs typeface="+mn-cs"/>
              </a:rPr>
              <a:t>پرامپت</a:t>
            </a:r>
            <a:r>
              <a:rPr lang="fa-IR" sz="1200" b="0" i="0" kern="1200" dirty="0">
                <a:solidFill>
                  <a:schemeClr val="tx1"/>
                </a:solidFill>
                <a:effectLst/>
                <a:latin typeface="+mn-lt"/>
                <a:ea typeface="+mn-ea"/>
                <a:cs typeface="+mn-cs"/>
              </a:rPr>
              <a:t> نگویید «یکی </a:t>
            </a:r>
            <a:r>
              <a:rPr lang="fa-IR" sz="1200" b="0" i="0" kern="1200" dirty="0" err="1">
                <a:solidFill>
                  <a:schemeClr val="tx1"/>
                </a:solidFill>
                <a:effectLst/>
                <a:latin typeface="+mn-lt"/>
                <a:ea typeface="+mn-ea"/>
                <a:cs typeface="+mn-cs"/>
              </a:rPr>
              <a:t>یکی</a:t>
            </a:r>
            <a:r>
              <a:rPr lang="fa-IR" sz="1200" b="0" i="0" kern="1200" dirty="0">
                <a:solidFill>
                  <a:schemeClr val="tx1"/>
                </a:solidFill>
                <a:effectLst/>
                <a:latin typeface="+mn-lt"/>
                <a:ea typeface="+mn-ea"/>
                <a:cs typeface="+mn-cs"/>
              </a:rPr>
              <a:t> بپرس»، هوش مصنوعی در همان </a:t>
            </a:r>
            <a:r>
              <a:rPr lang="fa-IR" sz="1200" b="0" i="0" kern="1200" dirty="0" err="1">
                <a:solidFill>
                  <a:schemeClr val="tx1"/>
                </a:solidFill>
                <a:effectLst/>
                <a:latin typeface="+mn-lt"/>
                <a:ea typeface="+mn-ea"/>
                <a:cs typeface="+mn-cs"/>
              </a:rPr>
              <a:t>خروجیِ</a:t>
            </a:r>
            <a:r>
              <a:rPr lang="fa-IR" sz="1200" b="0" i="0" kern="1200" dirty="0">
                <a:solidFill>
                  <a:schemeClr val="tx1"/>
                </a:solidFill>
                <a:effectLst/>
                <a:latin typeface="+mn-lt"/>
                <a:ea typeface="+mn-ea"/>
                <a:cs typeface="+mn-cs"/>
              </a:rPr>
              <a:t> اول، </a:t>
            </a:r>
            <a:r>
              <a:rPr lang="fa-IR" sz="1200" b="1" i="0" kern="1200" dirty="0">
                <a:solidFill>
                  <a:schemeClr val="tx1"/>
                </a:solidFill>
                <a:effectLst/>
                <a:latin typeface="+mn-lt"/>
                <a:ea typeface="+mn-ea"/>
                <a:cs typeface="+mn-cs"/>
              </a:rPr>
              <a:t>یک </a:t>
            </a:r>
            <a:r>
              <a:rPr lang="fa-IR" sz="1200" b="1" i="0" kern="1200" dirty="0" err="1">
                <a:solidFill>
                  <a:schemeClr val="tx1"/>
                </a:solidFill>
                <a:effectLst/>
                <a:latin typeface="+mn-lt"/>
                <a:ea typeface="+mn-ea"/>
                <a:cs typeface="+mn-cs"/>
              </a:rPr>
              <a:t>لیستِ</a:t>
            </a:r>
            <a:r>
              <a:rPr lang="fa-IR" sz="1200" b="1" i="0" kern="1200" dirty="0">
                <a:solidFill>
                  <a:schemeClr val="tx1"/>
                </a:solidFill>
                <a:effectLst/>
                <a:latin typeface="+mn-lt"/>
                <a:ea typeface="+mn-ea"/>
                <a:cs typeface="+mn-cs"/>
              </a:rPr>
              <a:t> وحشتناک از ۲۰ تا ۳۰ سوال پیچیده</a:t>
            </a:r>
            <a:r>
              <a:rPr lang="fa-IR" sz="1200" b="0" i="0" kern="1200" dirty="0">
                <a:solidFill>
                  <a:schemeClr val="tx1"/>
                </a:solidFill>
                <a:effectLst/>
                <a:latin typeface="+mn-lt"/>
                <a:ea typeface="+mn-ea"/>
                <a:cs typeface="+mn-cs"/>
              </a:rPr>
              <a:t> را </a:t>
            </a:r>
            <a:r>
              <a:rPr lang="fa-IR" sz="1200" b="0" i="0" kern="1200" dirty="0" err="1">
                <a:solidFill>
                  <a:schemeClr val="tx1"/>
                </a:solidFill>
                <a:effectLst/>
                <a:latin typeface="+mn-lt"/>
                <a:ea typeface="+mn-ea"/>
                <a:cs typeface="+mn-cs"/>
              </a:rPr>
              <a:t>یک‌جا</a:t>
            </a:r>
            <a:r>
              <a:rPr lang="fa-IR" sz="1200" b="0" i="0" kern="1200" dirty="0">
                <a:solidFill>
                  <a:schemeClr val="tx1"/>
                </a:solidFill>
                <a:effectLst/>
                <a:latin typeface="+mn-lt"/>
                <a:ea typeface="+mn-ea"/>
                <a:cs typeface="+mn-cs"/>
              </a:rPr>
              <a:t> جلوی شما </a:t>
            </a:r>
            <a:r>
              <a:rPr lang="fa-IR" sz="1200" b="0" i="0" kern="1200" dirty="0" err="1">
                <a:solidFill>
                  <a:schemeClr val="tx1"/>
                </a:solidFill>
                <a:effectLst/>
                <a:latin typeface="+mn-lt"/>
                <a:ea typeface="+mn-ea"/>
                <a:cs typeface="+mn-cs"/>
              </a:rPr>
              <a:t>می‌گذارد</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دیدنِ</a:t>
            </a:r>
            <a:r>
              <a:rPr lang="fa-IR" sz="1200" b="0" i="0" kern="1200" dirty="0">
                <a:solidFill>
                  <a:schemeClr val="tx1"/>
                </a:solidFill>
                <a:effectLst/>
                <a:latin typeface="+mn-lt"/>
                <a:ea typeface="+mn-ea"/>
                <a:cs typeface="+mn-cs"/>
              </a:rPr>
              <a:t> این حجم از سوال، کاربر را فلج و خسته </a:t>
            </a:r>
            <a:r>
              <a:rPr lang="fa-IR" sz="1200" b="0" i="0" kern="1200" dirty="0" err="1">
                <a:solidFill>
                  <a:schemeClr val="tx1"/>
                </a:solidFill>
                <a:effectLst/>
                <a:latin typeface="+mn-lt"/>
                <a:ea typeface="+mn-ea"/>
                <a:cs typeface="+mn-cs"/>
              </a:rPr>
              <a:t>می‌کند</a:t>
            </a:r>
            <a:r>
              <a:rPr lang="fa-IR" sz="1200" b="0" i="0" kern="1200" dirty="0">
                <a:solidFill>
                  <a:schemeClr val="tx1"/>
                </a:solidFill>
                <a:effectLst/>
                <a:latin typeface="+mn-lt"/>
                <a:ea typeface="+mn-ea"/>
                <a:cs typeface="+mn-cs"/>
              </a:rPr>
              <a:t> و </a:t>
            </a:r>
            <a:r>
              <a:rPr lang="fa-IR" sz="1200" b="0" i="0" kern="1200" dirty="0" err="1">
                <a:solidFill>
                  <a:schemeClr val="tx1"/>
                </a:solidFill>
                <a:effectLst/>
                <a:latin typeface="+mn-lt"/>
                <a:ea typeface="+mn-ea"/>
                <a:cs typeface="+mn-cs"/>
              </a:rPr>
              <a:t>کلاً</a:t>
            </a:r>
            <a:r>
              <a:rPr lang="fa-IR" sz="1200" b="0" i="0" kern="1200" dirty="0">
                <a:solidFill>
                  <a:schemeClr val="tx1"/>
                </a:solidFill>
                <a:effectLst/>
                <a:latin typeface="+mn-lt"/>
                <a:ea typeface="+mn-ea"/>
                <a:cs typeface="+mn-cs"/>
              </a:rPr>
              <a:t> از ادامه کار منصرف </a:t>
            </a:r>
            <a:r>
              <a:rPr lang="fa-IR" sz="1200" b="0" i="0" kern="1200" dirty="0" err="1">
                <a:solidFill>
                  <a:schemeClr val="tx1"/>
                </a:solidFill>
                <a:effectLst/>
                <a:latin typeface="+mn-lt"/>
                <a:ea typeface="+mn-ea"/>
                <a:cs typeface="+mn-cs"/>
              </a:rPr>
              <a:t>می‌شود</a:t>
            </a:r>
            <a:r>
              <a:rPr lang="fa-IR"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Cognitive Overload). </a:t>
            </a:r>
            <a:r>
              <a:rPr lang="fa-IR" sz="1200" b="0" i="0" kern="1200" dirty="0">
                <a:solidFill>
                  <a:schemeClr val="tx1"/>
                </a:solidFill>
                <a:effectLst/>
                <a:latin typeface="+mn-lt"/>
                <a:ea typeface="+mn-ea"/>
                <a:cs typeface="+mn-cs"/>
              </a:rPr>
              <a:t>اما وقتی </a:t>
            </a:r>
            <a:r>
              <a:rPr lang="fa-IR" sz="1200" b="0" i="0" kern="1200" dirty="0" err="1">
                <a:solidFill>
                  <a:schemeClr val="tx1"/>
                </a:solidFill>
                <a:effectLst/>
                <a:latin typeface="+mn-lt"/>
                <a:ea typeface="+mn-ea"/>
                <a:cs typeface="+mn-cs"/>
              </a:rPr>
              <a:t>می‌نویسید</a:t>
            </a:r>
            <a:r>
              <a:rPr lang="fa-IR" sz="1200" b="0" i="0" kern="1200" dirty="0">
                <a:solidFill>
                  <a:schemeClr val="tx1"/>
                </a:solidFill>
                <a:effectLst/>
                <a:latin typeface="+mn-lt"/>
                <a:ea typeface="+mn-ea"/>
                <a:cs typeface="+mn-cs"/>
              </a:rPr>
              <a:t> </a:t>
            </a:r>
            <a:r>
              <a:rPr lang="fa-IR" sz="1200" b="0" i="1" kern="1200" dirty="0">
                <a:solidFill>
                  <a:schemeClr val="tx1"/>
                </a:solidFill>
                <a:effectLst/>
                <a:latin typeface="+mn-lt"/>
                <a:ea typeface="+mn-ea"/>
                <a:cs typeface="+mn-cs"/>
              </a:rPr>
              <a:t>"</a:t>
            </a:r>
            <a:r>
              <a:rPr lang="en-US" sz="1200" b="0" i="1" kern="1200" dirty="0">
                <a:solidFill>
                  <a:schemeClr val="tx1"/>
                </a:solidFill>
                <a:effectLst/>
                <a:latin typeface="+mn-lt"/>
                <a:ea typeface="+mn-ea"/>
                <a:cs typeface="+mn-cs"/>
              </a:rPr>
              <a:t>Ask ONE at a time"</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فرآیند تبدیل به یک </a:t>
            </a:r>
            <a:r>
              <a:rPr lang="fa-IR" sz="1200" b="0" i="0" kern="1200" dirty="0" err="1">
                <a:solidFill>
                  <a:schemeClr val="tx1"/>
                </a:solidFill>
                <a:effectLst/>
                <a:latin typeface="+mn-lt"/>
                <a:ea typeface="+mn-ea"/>
                <a:cs typeface="+mn-cs"/>
              </a:rPr>
              <a:t>چتِ</a:t>
            </a:r>
            <a:r>
              <a:rPr lang="fa-IR" sz="1200" b="0" i="0" kern="1200" dirty="0">
                <a:solidFill>
                  <a:schemeClr val="tx1"/>
                </a:solidFill>
                <a:effectLst/>
                <a:latin typeface="+mn-lt"/>
                <a:ea typeface="+mn-ea"/>
                <a:cs typeface="+mn-cs"/>
              </a:rPr>
              <a:t> دوستانه، طبیعی و دو نفره </a:t>
            </a:r>
            <a:r>
              <a:rPr lang="fa-IR" sz="1200" b="0" i="0" kern="1200" dirty="0" err="1">
                <a:solidFill>
                  <a:schemeClr val="tx1"/>
                </a:solidFill>
                <a:effectLst/>
                <a:latin typeface="+mn-lt"/>
                <a:ea typeface="+mn-ea"/>
                <a:cs typeface="+mn-cs"/>
              </a:rPr>
              <a:t>می‌شود</a:t>
            </a:r>
            <a:r>
              <a:rPr lang="fa-IR" sz="1200" b="0" i="0" kern="1200" dirty="0">
                <a:solidFill>
                  <a:schemeClr val="tx1"/>
                </a:solidFill>
                <a:effectLst/>
                <a:latin typeface="+mn-lt"/>
                <a:ea typeface="+mn-ea"/>
                <a:cs typeface="+mn-cs"/>
              </a:rPr>
              <a:t>. هوش مصنوعی یک سوال </a:t>
            </a:r>
            <a:r>
              <a:rPr lang="fa-IR" sz="1200" b="0" i="0" kern="1200" dirty="0" err="1">
                <a:solidFill>
                  <a:schemeClr val="tx1"/>
                </a:solidFill>
                <a:effectLst/>
                <a:latin typeface="+mn-lt"/>
                <a:ea typeface="+mn-ea"/>
                <a:cs typeface="+mn-cs"/>
              </a:rPr>
              <a:t>می‌پرسد</a:t>
            </a:r>
            <a:r>
              <a:rPr lang="fa-IR" sz="1200" b="0" i="0" kern="1200" dirty="0">
                <a:solidFill>
                  <a:schemeClr val="tx1"/>
                </a:solidFill>
                <a:effectLst/>
                <a:latin typeface="+mn-lt"/>
                <a:ea typeface="+mn-ea"/>
                <a:cs typeface="+mn-cs"/>
              </a:rPr>
              <a:t>، شما جواب کوتاهی </a:t>
            </a:r>
            <a:r>
              <a:rPr lang="fa-IR" sz="1200" b="0" i="0" kern="1200" dirty="0" err="1">
                <a:solidFill>
                  <a:schemeClr val="tx1"/>
                </a:solidFill>
                <a:effectLst/>
                <a:latin typeface="+mn-lt"/>
                <a:ea typeface="+mn-ea"/>
                <a:cs typeface="+mn-cs"/>
              </a:rPr>
              <a:t>می‌دهید</a:t>
            </a:r>
            <a:r>
              <a:rPr lang="fa-IR" sz="1200" b="0" i="0" kern="1200" dirty="0">
                <a:solidFill>
                  <a:schemeClr val="tx1"/>
                </a:solidFill>
                <a:effectLst/>
                <a:latin typeface="+mn-lt"/>
                <a:ea typeface="+mn-ea"/>
                <a:cs typeface="+mn-cs"/>
              </a:rPr>
              <a:t>، و این </a:t>
            </a:r>
            <a:r>
              <a:rPr lang="fa-IR" sz="1200" b="0" i="0" kern="1200" dirty="0" err="1">
                <a:solidFill>
                  <a:schemeClr val="tx1"/>
                </a:solidFill>
                <a:effectLst/>
                <a:latin typeface="+mn-lt"/>
                <a:ea typeface="+mn-ea"/>
                <a:cs typeface="+mn-cs"/>
              </a:rPr>
              <a:t>پینگ‌پنگ</a:t>
            </a:r>
            <a:r>
              <a:rPr lang="fa-IR" sz="1200" b="0" i="0" kern="1200" dirty="0">
                <a:solidFill>
                  <a:schemeClr val="tx1"/>
                </a:solidFill>
                <a:effectLst/>
                <a:latin typeface="+mn-lt"/>
                <a:ea typeface="+mn-ea"/>
                <a:cs typeface="+mn-cs"/>
              </a:rPr>
              <a:t> تا زمانی که اطلاعات تکمیل شود ادامه پیدا </a:t>
            </a:r>
            <a:r>
              <a:rPr lang="fa-IR" sz="1200" b="0" i="0" kern="1200" dirty="0" err="1">
                <a:solidFill>
                  <a:schemeClr val="tx1"/>
                </a:solidFill>
                <a:effectLst/>
                <a:latin typeface="+mn-lt"/>
                <a:ea typeface="+mn-ea"/>
                <a:cs typeface="+mn-cs"/>
              </a:rPr>
              <a:t>می‌کند</a:t>
            </a:r>
            <a:r>
              <a:rPr lang="fa-IR"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25</a:t>
            </a:fld>
            <a:endParaRPr lang="en-US"/>
          </a:p>
        </p:txBody>
      </p:sp>
    </p:spTree>
    <p:extLst>
      <p:ext uri="{BB962C8B-B14F-4D97-AF65-F5344CB8AC3E}">
        <p14:creationId xmlns:p14="http://schemas.microsoft.com/office/powerpoint/2010/main" val="22957371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fa-IR" sz="1200" kern="1200" dirty="0">
              <a:solidFill>
                <a:schemeClr val="tx1"/>
              </a:solidFill>
              <a:effectLst/>
              <a:latin typeface="+mn-lt"/>
              <a:ea typeface="+mn-ea"/>
              <a:cs typeface="+mn-cs"/>
            </a:endParaRPr>
          </a:p>
          <a:p>
            <a:pPr algn="r" rtl="1"/>
            <a:endParaRPr lang="fa-IR" sz="1200" kern="1200" dirty="0">
              <a:solidFill>
                <a:schemeClr val="tx1"/>
              </a:solidFill>
              <a:effectLst/>
              <a:latin typeface="+mn-lt"/>
              <a:ea typeface="+mn-ea"/>
              <a:cs typeface="+mn-cs"/>
            </a:endParaRPr>
          </a:p>
          <a:p>
            <a:pPr algn="r" rtl="1"/>
            <a:r>
              <a:rPr lang="ar-SA" sz="1200" kern="1200" dirty="0">
                <a:solidFill>
                  <a:schemeClr val="tx1"/>
                </a:solidFill>
                <a:effectLst/>
                <a:latin typeface="+mn-lt"/>
                <a:ea typeface="+mn-ea"/>
                <a:cs typeface="+mn-cs"/>
              </a:rPr>
              <a:t>ر پایین اسلاید سمت چپ پرسیده شده</a:t>
            </a:r>
            <a:r>
              <a:rPr lang="en-US" sz="1200" kern="1200" dirty="0">
                <a:solidFill>
                  <a:schemeClr val="tx1"/>
                </a:solidFill>
                <a:effectLst/>
                <a:latin typeface="+mn-lt"/>
                <a:ea typeface="+mn-ea"/>
                <a:cs typeface="+mn-cs"/>
              </a:rPr>
              <a:t>: </a:t>
            </a:r>
            <a:r>
              <a:rPr lang="ar-SA" sz="1200" b="1" kern="1200" dirty="0">
                <a:solidFill>
                  <a:schemeClr val="tx1"/>
                </a:solidFill>
                <a:effectLst/>
                <a:latin typeface="+mn-lt"/>
                <a:ea typeface="+mn-ea"/>
                <a:cs typeface="+mn-cs"/>
              </a:rPr>
              <a:t>؟ "چرا در مرحله خودارزیابی، باید متریک‌ها و معیارهای دقیق مشخص کنیم؟" (مثلاً دادن نمره </a:t>
            </a:r>
            <a:r>
              <a:rPr lang="fa-IR" sz="1200" b="1" kern="1200" dirty="0">
                <a:solidFill>
                  <a:schemeClr val="tx1"/>
                </a:solidFill>
                <a:effectLst/>
                <a:latin typeface="+mn-lt"/>
                <a:ea typeface="+mn-ea"/>
                <a:cs typeface="+mn-cs"/>
              </a:rPr>
              <a:t>۱</a:t>
            </a:r>
            <a:r>
              <a:rPr lang="ar-SA" sz="1200" b="1" kern="1200" dirty="0">
                <a:solidFill>
                  <a:schemeClr val="tx1"/>
                </a:solidFill>
                <a:effectLst/>
                <a:latin typeface="+mn-lt"/>
                <a:ea typeface="+mn-ea"/>
                <a:cs typeface="+mn-cs"/>
              </a:rPr>
              <a:t> تا </a:t>
            </a:r>
            <a:r>
              <a:rPr lang="fa-IR" sz="1200" b="1" kern="1200" dirty="0">
                <a:solidFill>
                  <a:schemeClr val="tx1"/>
                </a:solidFill>
                <a:effectLst/>
                <a:latin typeface="+mn-lt"/>
                <a:ea typeface="+mn-ea"/>
                <a:cs typeface="+mn-cs"/>
              </a:rPr>
              <a:t>۱۰)</a:t>
            </a:r>
            <a:endParaRPr lang="en-US" sz="1200" kern="1200" dirty="0">
              <a:solidFill>
                <a:schemeClr val="tx1"/>
              </a:solidFill>
              <a:effectLst/>
              <a:latin typeface="+mn-lt"/>
              <a:ea typeface="+mn-ea"/>
              <a:cs typeface="+mn-cs"/>
            </a:endParaRPr>
          </a:p>
          <a:p>
            <a:pPr algn="r" rtl="1"/>
            <a:r>
              <a:rPr lang="ar-SA" sz="1200" b="1" kern="1200" dirty="0">
                <a:solidFill>
                  <a:schemeClr val="tx1"/>
                </a:solidFill>
                <a:effectLst/>
                <a:latin typeface="+mn-lt"/>
                <a:ea typeface="+mn-ea"/>
                <a:cs typeface="+mn-cs"/>
              </a:rPr>
              <a:t>پاسخ شما برای شرکت‌کنندگان</a:t>
            </a: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pPr algn="r" rtl="1"/>
            <a:r>
              <a:rPr lang="en-US" sz="1200"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مدل‌های زبانی ذاتاً </a:t>
            </a:r>
            <a:r>
              <a:rPr lang="ar-SA" sz="1200" b="1" kern="1200" dirty="0">
                <a:solidFill>
                  <a:schemeClr val="tx1"/>
                </a:solidFill>
                <a:effectLst/>
                <a:latin typeface="+mn-lt"/>
                <a:ea typeface="+mn-ea"/>
                <a:cs typeface="+mn-cs"/>
              </a:rPr>
              <a:t>چاپلوس</a:t>
            </a:r>
            <a:r>
              <a:rPr lang="en-US" sz="1200" b="1" kern="1200" dirty="0">
                <a:solidFill>
                  <a:schemeClr val="tx1"/>
                </a:solidFill>
                <a:effectLst/>
                <a:latin typeface="+mn-lt"/>
                <a:ea typeface="+mn-ea"/>
                <a:cs typeface="+mn-cs"/>
              </a:rPr>
              <a:t> (Sycophant) </a:t>
            </a:r>
            <a:r>
              <a:rPr lang="ar-SA" sz="1200" b="1" kern="1200" dirty="0">
                <a:solidFill>
                  <a:schemeClr val="tx1"/>
                </a:solidFill>
                <a:effectLst/>
                <a:latin typeface="+mn-lt"/>
                <a:ea typeface="+mn-ea"/>
                <a:cs typeface="+mn-cs"/>
              </a:rPr>
              <a:t>و راضی‌کننده</a:t>
            </a:r>
            <a:r>
              <a:rPr lang="ar-SA" sz="1200" kern="1200" dirty="0">
                <a:solidFill>
                  <a:schemeClr val="tx1"/>
                </a:solidFill>
                <a:effectLst/>
                <a:latin typeface="+mn-lt"/>
                <a:ea typeface="+mn-ea"/>
                <a:cs typeface="+mn-cs"/>
              </a:rPr>
              <a:t> هستند. اگر به مدل بگویید</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آیا متنی که نوشتی خوب است؟</a:t>
            </a:r>
            <a:r>
              <a:rPr lang="en-US" sz="1200" i="1"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 قطعا می‌گوید</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بله، بسیار عالی است</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شما نمی‌توانید نقد را بر عهده‌ی قضاوتِ کلیِ مدل بگذارید. وقتی </a:t>
            </a:r>
            <a:r>
              <a:rPr lang="ar-SA" sz="1200" b="1" kern="1200" dirty="0">
                <a:solidFill>
                  <a:schemeClr val="tx1"/>
                </a:solidFill>
                <a:effectLst/>
                <a:latin typeface="+mn-lt"/>
                <a:ea typeface="+mn-ea"/>
                <a:cs typeface="+mn-cs"/>
              </a:rPr>
              <a:t>معیار دقیق و ریاضی‌وار</a:t>
            </a:r>
            <a:r>
              <a:rPr lang="ar-SA" sz="1200" kern="1200" dirty="0">
                <a:solidFill>
                  <a:schemeClr val="tx1"/>
                </a:solidFill>
                <a:effectLst/>
                <a:latin typeface="+mn-lt"/>
                <a:ea typeface="+mn-ea"/>
                <a:cs typeface="+mn-cs"/>
              </a:rPr>
              <a:t> به او می‌دهید (مثلاً</a:t>
            </a:r>
            <a:r>
              <a:rPr lang="en-US" sz="1200" kern="1200" dirty="0">
                <a:solidFill>
                  <a:schemeClr val="tx1"/>
                </a:solidFill>
                <a:effectLst/>
                <a:latin typeface="+mn-lt"/>
                <a:ea typeface="+mn-ea"/>
                <a:cs typeface="+mn-cs"/>
              </a:rPr>
              <a:t>: </a:t>
            </a:r>
            <a:r>
              <a:rPr lang="ar-SA" sz="1200" i="1" kern="1200" dirty="0">
                <a:solidFill>
                  <a:schemeClr val="tx1"/>
                </a:solidFill>
                <a:effectLst/>
                <a:latin typeface="+mn-lt"/>
                <a:ea typeface="+mn-ea"/>
                <a:cs typeface="+mn-cs"/>
              </a:rPr>
              <a:t>از </a:t>
            </a:r>
            <a:r>
              <a:rPr lang="fa-IR" sz="1200" i="1" kern="1200" dirty="0">
                <a:solidFill>
                  <a:schemeClr val="tx1"/>
                </a:solidFill>
                <a:effectLst/>
                <a:latin typeface="+mn-lt"/>
                <a:ea typeface="+mn-ea"/>
                <a:cs typeface="+mn-cs"/>
              </a:rPr>
              <a:t>۱</a:t>
            </a:r>
            <a:r>
              <a:rPr lang="ar-SA" sz="1200" i="1" kern="1200" dirty="0">
                <a:solidFill>
                  <a:schemeClr val="tx1"/>
                </a:solidFill>
                <a:effectLst/>
                <a:latin typeface="+mn-lt"/>
                <a:ea typeface="+mn-ea"/>
                <a:cs typeface="+mn-cs"/>
              </a:rPr>
              <a:t> تا </a:t>
            </a:r>
            <a:r>
              <a:rPr lang="fa-IR" sz="1200" i="1" kern="1200" dirty="0">
                <a:solidFill>
                  <a:schemeClr val="tx1"/>
                </a:solidFill>
                <a:effectLst/>
                <a:latin typeface="+mn-lt"/>
                <a:ea typeface="+mn-ea"/>
                <a:cs typeface="+mn-cs"/>
              </a:rPr>
              <a:t>۱۰</a:t>
            </a:r>
            <a:r>
              <a:rPr lang="ar-SA" sz="1200" i="1" kern="1200" dirty="0">
                <a:solidFill>
                  <a:schemeClr val="tx1"/>
                </a:solidFill>
                <a:effectLst/>
                <a:latin typeface="+mn-lt"/>
                <a:ea typeface="+mn-ea"/>
                <a:cs typeface="+mn-cs"/>
              </a:rPr>
              <a:t> به میزان اعتمادبه‌نفسِ متن نمره بده</a:t>
            </a:r>
            <a:r>
              <a:rPr lang="ar-SA" sz="1200" kern="1200" dirty="0">
                <a:solidFill>
                  <a:schemeClr val="tx1"/>
                </a:solidFill>
                <a:effectLst/>
                <a:latin typeface="+mn-lt"/>
                <a:ea typeface="+mn-ea"/>
                <a:cs typeface="+mn-cs"/>
              </a:rPr>
              <a:t> یا </a:t>
            </a:r>
            <a:r>
              <a:rPr lang="ar-SA" sz="1200" i="1" kern="1200" dirty="0">
                <a:solidFill>
                  <a:schemeClr val="tx1"/>
                </a:solidFill>
                <a:effectLst/>
                <a:latin typeface="+mn-lt"/>
                <a:ea typeface="+mn-ea"/>
                <a:cs typeface="+mn-cs"/>
              </a:rPr>
              <a:t>دقیقاً کلمات اغراق‌آمیز را استخراج کن</a:t>
            </a:r>
            <a:r>
              <a:rPr lang="en-US" sz="1200"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 جلوی تنبلی و چاپلوسیِ مدل را می‌گیرید و او را مجبور به یک بررسیِ عینی</a:t>
            </a:r>
            <a:r>
              <a:rPr lang="en-US" sz="1200" kern="1200" dirty="0">
                <a:solidFill>
                  <a:schemeClr val="tx1"/>
                </a:solidFill>
                <a:effectLst/>
                <a:latin typeface="+mn-lt"/>
                <a:ea typeface="+mn-ea"/>
                <a:cs typeface="+mn-cs"/>
              </a:rPr>
              <a:t> (Objective) </a:t>
            </a:r>
            <a:r>
              <a:rPr lang="ar-SA" sz="1200" kern="1200" dirty="0">
                <a:solidFill>
                  <a:schemeClr val="tx1"/>
                </a:solidFill>
                <a:effectLst/>
                <a:latin typeface="+mn-lt"/>
                <a:ea typeface="+mn-ea"/>
                <a:cs typeface="+mn-cs"/>
              </a:rPr>
              <a:t>و </a:t>
            </a:r>
            <a:endParaRPr lang="fa-IR" sz="1200" kern="1200" dirty="0">
              <a:solidFill>
                <a:schemeClr val="tx1"/>
              </a:solidFill>
              <a:effectLst/>
              <a:latin typeface="+mn-lt"/>
              <a:ea typeface="+mn-ea"/>
              <a:cs typeface="+mn-cs"/>
            </a:endParaRPr>
          </a:p>
          <a:p>
            <a:pPr algn="r" rtl="1"/>
            <a:r>
              <a:rPr lang="ar-SA" sz="1200" kern="1200" dirty="0">
                <a:solidFill>
                  <a:schemeClr val="tx1"/>
                </a:solidFill>
                <a:effectLst/>
                <a:latin typeface="+mn-lt"/>
                <a:ea typeface="+mn-ea"/>
                <a:cs typeface="+mn-cs"/>
              </a:rPr>
              <a:t>سخت‌گیرانه می‌کنید</a:t>
            </a:r>
            <a:r>
              <a:rPr lang="en-US" sz="1200" kern="1200" dirty="0">
                <a:solidFill>
                  <a:schemeClr val="tx1"/>
                </a:solidFill>
                <a:effectLst/>
                <a:latin typeface="+mn-lt"/>
                <a:ea typeface="+mn-ea"/>
                <a:cs typeface="+mn-cs"/>
              </a:rPr>
              <a:t>."</a:t>
            </a:r>
            <a:endParaRPr lang="fa-IR" sz="1200" kern="1200" dirty="0">
              <a:solidFill>
                <a:schemeClr val="tx1"/>
              </a:solidFill>
              <a:effectLst/>
              <a:latin typeface="+mn-lt"/>
              <a:ea typeface="+mn-ea"/>
              <a:cs typeface="+mn-cs"/>
            </a:endParaRPr>
          </a:p>
          <a:p>
            <a:pPr algn="r" rtl="1"/>
            <a:endParaRPr lang="en-US" sz="1200" kern="1200" dirty="0">
              <a:solidFill>
                <a:schemeClr val="tx1"/>
              </a:solidFill>
              <a:effectLst/>
              <a:latin typeface="+mn-lt"/>
              <a:ea typeface="+mn-ea"/>
              <a:cs typeface="+mn-cs"/>
            </a:endParaRPr>
          </a:p>
          <a:p>
            <a:pPr algn="r" rtl="1"/>
            <a:r>
              <a:rPr lang="ar-SA" sz="1200" kern="1200" dirty="0">
                <a:solidFill>
                  <a:schemeClr val="tx1"/>
                </a:solidFill>
                <a:effectLst/>
                <a:latin typeface="+mn-lt"/>
                <a:ea typeface="+mn-ea"/>
                <a:cs typeface="+mn-cs"/>
              </a:rPr>
              <a:t>به جای اینکه در یک مرحله از مدل بخواهیم یک خروجیِ بی‌نقص به ما بدهد (که معمولاً نتیجه‌اش یک متن کلیشه‌ای و اغراق‌آمیز است - مثل کادر قرمز)، فرآیند را به یک </a:t>
            </a:r>
            <a:r>
              <a:rPr lang="ar-SA" sz="1200" b="1" kern="1200" dirty="0">
                <a:solidFill>
                  <a:schemeClr val="tx1"/>
                </a:solidFill>
                <a:effectLst/>
                <a:latin typeface="+mn-lt"/>
                <a:ea typeface="+mn-ea"/>
                <a:cs typeface="+mn-cs"/>
              </a:rPr>
              <a:t>زنجیره </a:t>
            </a:r>
            <a:r>
              <a:rPr lang="fa-IR" sz="1200" b="1" kern="1200" dirty="0">
                <a:solidFill>
                  <a:schemeClr val="tx1"/>
                </a:solidFill>
                <a:effectLst/>
                <a:latin typeface="+mn-lt"/>
                <a:ea typeface="+mn-ea"/>
                <a:cs typeface="+mn-cs"/>
              </a:rPr>
              <a:t>۳</a:t>
            </a:r>
            <a:r>
              <a:rPr lang="ar-SA" sz="1200" b="1" kern="1200" dirty="0">
                <a:solidFill>
                  <a:schemeClr val="tx1"/>
                </a:solidFill>
                <a:effectLst/>
                <a:latin typeface="+mn-lt"/>
                <a:ea typeface="+mn-ea"/>
                <a:cs typeface="+mn-cs"/>
              </a:rPr>
              <a:t> مرحله‌ای</a:t>
            </a:r>
            <a:r>
              <a:rPr lang="ar-SA" sz="1200" kern="1200" dirty="0">
                <a:solidFill>
                  <a:schemeClr val="tx1"/>
                </a:solidFill>
                <a:effectLst/>
                <a:latin typeface="+mn-lt"/>
                <a:ea typeface="+mn-ea"/>
                <a:cs typeface="+mn-cs"/>
              </a:rPr>
              <a:t> تبدیل می‌کنیم (کادر سبز)</a:t>
            </a:r>
            <a:r>
              <a:rPr lang="en-US" sz="1200" kern="1200" dirty="0">
                <a:solidFill>
                  <a:schemeClr val="tx1"/>
                </a:solidFill>
                <a:effectLst/>
                <a:latin typeface="+mn-lt"/>
                <a:ea typeface="+mn-ea"/>
                <a:cs typeface="+mn-cs"/>
              </a:rPr>
              <a:t>:</a:t>
            </a:r>
          </a:p>
          <a:p>
            <a:pPr lvl="0" algn="r" rtl="1"/>
            <a:r>
              <a:rPr lang="ar-SA" sz="1200" b="1" kern="1200" dirty="0">
                <a:solidFill>
                  <a:schemeClr val="tx1"/>
                </a:solidFill>
                <a:effectLst/>
                <a:latin typeface="+mn-lt"/>
                <a:ea typeface="+mn-ea"/>
                <a:cs typeface="+mn-cs"/>
              </a:rPr>
              <a:t>مرحله تولید</a:t>
            </a:r>
            <a:r>
              <a:rPr lang="en-US" sz="1200" b="1" kern="1200" dirty="0">
                <a:solidFill>
                  <a:schemeClr val="tx1"/>
                </a:solidFill>
                <a:effectLst/>
                <a:latin typeface="+mn-lt"/>
                <a:ea typeface="+mn-ea"/>
                <a:cs typeface="+mn-cs"/>
              </a:rPr>
              <a:t> (Step 1):</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مدل یک پیش‌نویس اولیه</a:t>
            </a:r>
            <a:r>
              <a:rPr lang="en-US" sz="1200" kern="1200" dirty="0">
                <a:solidFill>
                  <a:schemeClr val="tx1"/>
                </a:solidFill>
                <a:effectLst/>
                <a:latin typeface="+mn-lt"/>
                <a:ea typeface="+mn-ea"/>
                <a:cs typeface="+mn-cs"/>
              </a:rPr>
              <a:t> (Draft) </a:t>
            </a:r>
            <a:r>
              <a:rPr lang="ar-SA" sz="1200" kern="1200" dirty="0">
                <a:solidFill>
                  <a:schemeClr val="tx1"/>
                </a:solidFill>
                <a:effectLst/>
                <a:latin typeface="+mn-lt"/>
                <a:ea typeface="+mn-ea"/>
                <a:cs typeface="+mn-cs"/>
              </a:rPr>
              <a:t>می‌نویسد</a:t>
            </a:r>
            <a:r>
              <a:rPr lang="en-US" sz="1200" kern="1200" dirty="0">
                <a:solidFill>
                  <a:schemeClr val="tx1"/>
                </a:solidFill>
                <a:effectLst/>
                <a:latin typeface="+mn-lt"/>
                <a:ea typeface="+mn-ea"/>
                <a:cs typeface="+mn-cs"/>
              </a:rPr>
              <a:t>.</a:t>
            </a:r>
          </a:p>
          <a:p>
            <a:pPr lvl="0" algn="r" rtl="1"/>
            <a:r>
              <a:rPr lang="ar-SA" sz="1200" b="1" kern="1200" dirty="0">
                <a:solidFill>
                  <a:schemeClr val="tx1"/>
                </a:solidFill>
                <a:effectLst/>
                <a:latin typeface="+mn-lt"/>
                <a:ea typeface="+mn-ea"/>
                <a:cs typeface="+mn-cs"/>
              </a:rPr>
              <a:t>مرحله نقد بی‌رحمانه</a:t>
            </a:r>
            <a:r>
              <a:rPr lang="en-US" sz="1200" b="1" kern="1200" dirty="0">
                <a:solidFill>
                  <a:schemeClr val="tx1"/>
                </a:solidFill>
                <a:effectLst/>
                <a:latin typeface="+mn-lt"/>
                <a:ea typeface="+mn-ea"/>
                <a:cs typeface="+mn-cs"/>
              </a:rPr>
              <a:t> (Step 2):</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نقش مدل را عوض می‌کنیم و می‌خواهیم مثل یک منتقد، متنِ خودش را بررسی کند، به آن نمره بدهد و کلماتِ اشتباه/اغراق‌آمیز را استخراج کند</a:t>
            </a:r>
            <a:r>
              <a:rPr lang="en-US" sz="1200" kern="1200" dirty="0">
                <a:solidFill>
                  <a:schemeClr val="tx1"/>
                </a:solidFill>
                <a:effectLst/>
                <a:latin typeface="+mn-lt"/>
                <a:ea typeface="+mn-ea"/>
                <a:cs typeface="+mn-cs"/>
              </a:rPr>
              <a:t>.</a:t>
            </a:r>
          </a:p>
          <a:p>
            <a:pPr lvl="0" algn="r" rtl="1"/>
            <a:r>
              <a:rPr lang="ar-SA" sz="1200" b="1" kern="1200" dirty="0">
                <a:solidFill>
                  <a:schemeClr val="tx1"/>
                </a:solidFill>
                <a:effectLst/>
                <a:latin typeface="+mn-lt"/>
                <a:ea typeface="+mn-ea"/>
                <a:cs typeface="+mn-cs"/>
              </a:rPr>
              <a:t>مرحله اصلاح</a:t>
            </a:r>
            <a:r>
              <a:rPr lang="en-US" sz="1200" b="1" kern="1200" dirty="0">
                <a:solidFill>
                  <a:schemeClr val="tx1"/>
                </a:solidFill>
                <a:effectLst/>
                <a:latin typeface="+mn-lt"/>
                <a:ea typeface="+mn-ea"/>
                <a:cs typeface="+mn-cs"/>
              </a:rPr>
              <a:t> (Step 3):</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حالا از او می‌خواهیم بر اساس نقدی که خودش نوشته، متن را دوباره با لحنی منطقی بازنویسی کند</a:t>
            </a:r>
            <a:r>
              <a:rPr lang="en-US" sz="1200" kern="1200" dirty="0">
                <a:solidFill>
                  <a:schemeClr val="tx1"/>
                </a:solidFill>
                <a:effectLst/>
                <a:latin typeface="+mn-lt"/>
                <a:ea typeface="+mn-ea"/>
                <a:cs typeface="+mn-cs"/>
              </a:rPr>
              <a:t>.</a:t>
            </a:r>
          </a:p>
          <a:p>
            <a:pPr algn="r" rtl="1"/>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pPr algn="r" rtl="1"/>
            <a:r>
              <a:rPr lang="fa-IR" sz="1200" kern="1200" dirty="0">
                <a:solidFill>
                  <a:schemeClr val="tx1"/>
                </a:solidFill>
                <a:effectLst/>
                <a:latin typeface="+mn-lt"/>
                <a:ea typeface="+mn-ea"/>
                <a:cs typeface="+mn-cs"/>
              </a:rPr>
              <a:t>۲</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چرا این تکنیک به شدت به‌دردبخور است؟ (برای ارائه در ورکشاپ)</a:t>
            </a:r>
            <a:endParaRPr lang="en-US" sz="1200" kern="1200" dirty="0">
              <a:solidFill>
                <a:schemeClr val="tx1"/>
              </a:solidFill>
              <a:effectLst/>
              <a:latin typeface="+mn-lt"/>
              <a:ea typeface="+mn-ea"/>
              <a:cs typeface="+mn-cs"/>
            </a:endParaRPr>
          </a:p>
          <a:p>
            <a:pPr algn="r" rtl="1"/>
            <a:r>
              <a:rPr lang="ar-SA" sz="1200" b="1" kern="1200" dirty="0">
                <a:solidFill>
                  <a:schemeClr val="tx1"/>
                </a:solidFill>
                <a:effectLst/>
                <a:latin typeface="+mn-lt"/>
                <a:ea typeface="+mn-ea"/>
                <a:cs typeface="+mn-cs"/>
              </a:rPr>
              <a:t>الف) درمانِ «سندرومِ پیش‌نویس اول</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مدل‌های زبانی معمولاً در اولین تلاش</a:t>
            </a:r>
            <a:r>
              <a:rPr lang="en-US" sz="1200" kern="1200" dirty="0">
                <a:solidFill>
                  <a:schemeClr val="tx1"/>
                </a:solidFill>
                <a:effectLst/>
                <a:latin typeface="+mn-lt"/>
                <a:ea typeface="+mn-ea"/>
                <a:cs typeface="+mn-cs"/>
              </a:rPr>
              <a:t> (Zero-shot) </a:t>
            </a:r>
            <a:r>
              <a:rPr lang="ar-SA" sz="1200" kern="1200" dirty="0">
                <a:solidFill>
                  <a:schemeClr val="tx1"/>
                </a:solidFill>
                <a:effectLst/>
                <a:latin typeface="+mn-lt"/>
                <a:ea typeface="+mn-ea"/>
                <a:cs typeface="+mn-cs"/>
              </a:rPr>
              <a:t>متنی متوسط تولید می‌کنند (در مثالِ اسلاید، یک ایمیل برای جذب سرمایه‌گذار نوشته که لحنی التماس‌گونه و پُر از کلماتِ زردِ مارکتینگی دارد). تکنیکِ خودارزیابی، به مدل زمانِ بیشتری برای پردازش</a:t>
            </a:r>
            <a:r>
              <a:rPr lang="en-US" sz="1200" kern="1200" dirty="0">
                <a:solidFill>
                  <a:schemeClr val="tx1"/>
                </a:solidFill>
                <a:effectLst/>
                <a:latin typeface="+mn-lt"/>
                <a:ea typeface="+mn-ea"/>
                <a:cs typeface="+mn-cs"/>
              </a:rPr>
              <a:t> (Compute) </a:t>
            </a:r>
            <a:r>
              <a:rPr lang="ar-SA" sz="1200" kern="1200" dirty="0">
                <a:solidFill>
                  <a:schemeClr val="tx1"/>
                </a:solidFill>
                <a:effectLst/>
                <a:latin typeface="+mn-lt"/>
                <a:ea typeface="+mn-ea"/>
                <a:cs typeface="+mn-cs"/>
              </a:rPr>
              <a:t>می‌دهد تا متنِ متوسطِ خودش را ببیند، از آن خجالت بکشد، و یک نسخه‌ی شاهکار تحویل دهد</a:t>
            </a:r>
            <a:r>
              <a:rPr lang="en-US" sz="1200" kern="1200" dirty="0">
                <a:solidFill>
                  <a:schemeClr val="tx1"/>
                </a:solidFill>
                <a:effectLst/>
                <a:latin typeface="+mn-lt"/>
                <a:ea typeface="+mn-ea"/>
                <a:cs typeface="+mn-cs"/>
              </a:rPr>
              <a:t>!</a:t>
            </a:r>
          </a:p>
          <a:p>
            <a:pPr algn="r" rtl="1"/>
            <a:r>
              <a:rPr lang="ar-SA" sz="1200" b="1" kern="1200" dirty="0">
                <a:solidFill>
                  <a:schemeClr val="tx1"/>
                </a:solidFill>
                <a:effectLst/>
                <a:latin typeface="+mn-lt"/>
                <a:ea typeface="+mn-ea"/>
                <a:cs typeface="+mn-cs"/>
              </a:rPr>
              <a:t>ب) درگیر کردنِ بخشِ منطقیِ هوش مصنوعی</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وقتی از مدل می‌خواهید فقط «بنویسد»، او از بخشِ خلّاقِ شبکه عصبی‌اش استفاده می‌کند (که مستعدِ هذیان و اغراق است). اما وقتی از او می‌خواهید «نمره بدهد و کلمات را لیست کند»، او وارد </a:t>
            </a:r>
            <a:r>
              <a:rPr lang="ar-SA" sz="1200" b="1" kern="1200" dirty="0">
                <a:solidFill>
                  <a:schemeClr val="tx1"/>
                </a:solidFill>
                <a:effectLst/>
                <a:latin typeface="+mn-lt"/>
                <a:ea typeface="+mn-ea"/>
                <a:cs typeface="+mn-cs"/>
              </a:rPr>
              <a:t>فاز تحلیلی و منطقی</a:t>
            </a:r>
            <a:r>
              <a:rPr lang="ar-SA" sz="1200" kern="1200" dirty="0">
                <a:solidFill>
                  <a:schemeClr val="tx1"/>
                </a:solidFill>
                <a:effectLst/>
                <a:latin typeface="+mn-lt"/>
                <a:ea typeface="+mn-ea"/>
                <a:cs typeface="+mn-cs"/>
              </a:rPr>
              <a:t> می‌شود. این پرامپت، هر دو قدرتِ مدل را با هم ترکیب می‌کند</a:t>
            </a:r>
            <a:r>
              <a:rPr lang="en-US" sz="1200" kern="1200" dirty="0">
                <a:solidFill>
                  <a:schemeClr val="tx1"/>
                </a:solidFill>
                <a:effectLst/>
                <a:latin typeface="+mn-lt"/>
                <a:ea typeface="+mn-ea"/>
                <a:cs typeface="+mn-cs"/>
              </a:rPr>
              <a:t>.</a:t>
            </a:r>
          </a:p>
          <a:p>
            <a:pPr algn="r" rtl="1"/>
            <a:r>
              <a:rPr lang="ar-SA" sz="1200" b="1" kern="1200" dirty="0">
                <a:solidFill>
                  <a:schemeClr val="tx1"/>
                </a:solidFill>
                <a:effectLst/>
                <a:latin typeface="+mn-lt"/>
                <a:ea typeface="+mn-ea"/>
                <a:cs typeface="+mn-cs"/>
              </a:rPr>
              <a:t>ج) شفافیت در استدلال</a:t>
            </a:r>
            <a:r>
              <a:rPr lang="en-US" sz="1200" b="1" kern="1200" dirty="0">
                <a:solidFill>
                  <a:schemeClr val="tx1"/>
                </a:solidFill>
                <a:effectLst/>
                <a:latin typeface="+mn-lt"/>
                <a:ea typeface="+mn-ea"/>
                <a:cs typeface="+mn-cs"/>
              </a:rPr>
              <a:t> (Transparency):</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وقتی مدل مجبور می‌شود ایرادات کارش را در مرحله دوم</a:t>
            </a:r>
            <a:r>
              <a:rPr lang="en-US" sz="1200" kern="1200" dirty="0">
                <a:solidFill>
                  <a:schemeClr val="tx1"/>
                </a:solidFill>
                <a:effectLst/>
                <a:latin typeface="+mn-lt"/>
                <a:ea typeface="+mn-ea"/>
                <a:cs typeface="+mn-cs"/>
              </a:rPr>
              <a:t> (Step 2) </a:t>
            </a:r>
            <a:r>
              <a:rPr lang="ar-SA" sz="1200" kern="1200" dirty="0">
                <a:solidFill>
                  <a:schemeClr val="tx1"/>
                </a:solidFill>
                <a:effectLst/>
                <a:latin typeface="+mn-lt"/>
                <a:ea typeface="+mn-ea"/>
                <a:cs typeface="+mn-cs"/>
              </a:rPr>
              <a:t>لیست کند، شما به عنوان کاربر دقیقاً می‌فهمید که مدل چه کلماتی را حذف کرده و چرا لحن متن تغییر کرده ا</a:t>
            </a:r>
            <a:endParaRPr lang="en-US" sz="1200" kern="1200" dirty="0">
              <a:solidFill>
                <a:schemeClr val="tx1"/>
              </a:solidFill>
              <a:effectLst/>
              <a:latin typeface="+mn-lt"/>
              <a:ea typeface="+mn-ea"/>
              <a:cs typeface="+mn-cs"/>
            </a:endParaRPr>
          </a:p>
          <a:p>
            <a:pPr algn="r"/>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27</a:t>
            </a:fld>
            <a:endParaRPr lang="en-US"/>
          </a:p>
        </p:txBody>
      </p:sp>
    </p:spTree>
    <p:extLst>
      <p:ext uri="{BB962C8B-B14F-4D97-AF65-F5344CB8AC3E}">
        <p14:creationId xmlns:p14="http://schemas.microsoft.com/office/powerpoint/2010/main" val="40590776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dirty="0" err="1"/>
              <a:t>ایده</a:t>
            </a:r>
            <a:r>
              <a:rPr dirty="0"/>
              <a:t> </a:t>
            </a:r>
            <a:r>
              <a:rPr dirty="0" err="1"/>
              <a:t>اصلی</a:t>
            </a:r>
            <a:r>
              <a:rPr dirty="0"/>
              <a:t>: </a:t>
            </a:r>
            <a:r>
              <a:rPr dirty="0" err="1"/>
              <a:t>به</a:t>
            </a:r>
            <a:r>
              <a:rPr dirty="0"/>
              <a:t> </a:t>
            </a:r>
            <a:r>
              <a:rPr dirty="0" err="1"/>
              <a:t>جای</a:t>
            </a:r>
            <a:r>
              <a:rPr dirty="0"/>
              <a:t> </a:t>
            </a:r>
            <a:r>
              <a:rPr dirty="0" err="1"/>
              <a:t>اینکه</a:t>
            </a:r>
            <a:r>
              <a:rPr dirty="0"/>
              <a:t> </a:t>
            </a:r>
            <a:r>
              <a:rPr dirty="0" err="1"/>
              <a:t>در</a:t>
            </a:r>
            <a:r>
              <a:rPr dirty="0"/>
              <a:t> </a:t>
            </a:r>
            <a:r>
              <a:rPr dirty="0" err="1"/>
              <a:t>یک</a:t>
            </a:r>
            <a:r>
              <a:rPr dirty="0"/>
              <a:t> </a:t>
            </a:r>
            <a:r>
              <a:rPr dirty="0" err="1"/>
              <a:t>مرحله</a:t>
            </a:r>
            <a:r>
              <a:rPr dirty="0"/>
              <a:t> </a:t>
            </a:r>
            <a:r>
              <a:rPr dirty="0" err="1"/>
              <a:t>از</a:t>
            </a:r>
            <a:r>
              <a:rPr dirty="0"/>
              <a:t> </a:t>
            </a:r>
            <a:r>
              <a:rPr dirty="0" err="1"/>
              <a:t>مدل</a:t>
            </a:r>
            <a:r>
              <a:rPr dirty="0"/>
              <a:t> </a:t>
            </a:r>
            <a:r>
              <a:rPr dirty="0" err="1"/>
              <a:t>بخواهیم</a:t>
            </a:r>
            <a:r>
              <a:rPr dirty="0"/>
              <a:t> </a:t>
            </a:r>
            <a:r>
              <a:rPr dirty="0" err="1"/>
              <a:t>یک</a:t>
            </a:r>
            <a:r>
              <a:rPr dirty="0"/>
              <a:t> </a:t>
            </a:r>
            <a:r>
              <a:rPr dirty="0" err="1"/>
              <a:t>خروجیِ</a:t>
            </a:r>
            <a:r>
              <a:rPr dirty="0"/>
              <a:t> </a:t>
            </a:r>
            <a:r>
              <a:rPr dirty="0" err="1"/>
              <a:t>بی‌نقص</a:t>
            </a:r>
            <a:r>
              <a:rPr dirty="0"/>
              <a:t> </a:t>
            </a:r>
            <a:r>
              <a:rPr dirty="0" err="1"/>
              <a:t>به</a:t>
            </a:r>
            <a:r>
              <a:rPr dirty="0"/>
              <a:t> </a:t>
            </a:r>
            <a:r>
              <a:rPr dirty="0" err="1"/>
              <a:t>ما</a:t>
            </a:r>
            <a:r>
              <a:rPr dirty="0"/>
              <a:t> </a:t>
            </a:r>
            <a:r>
              <a:rPr dirty="0" err="1"/>
              <a:t>بدهد</a:t>
            </a:r>
            <a:r>
              <a:rPr dirty="0"/>
              <a:t> (</a:t>
            </a:r>
            <a:r>
              <a:rPr dirty="0" err="1"/>
              <a:t>که</a:t>
            </a:r>
            <a:r>
              <a:rPr dirty="0"/>
              <a:t> </a:t>
            </a:r>
            <a:r>
              <a:rPr dirty="0" err="1"/>
              <a:t>معمولاً</a:t>
            </a:r>
            <a:r>
              <a:rPr dirty="0"/>
              <a:t> </a:t>
            </a:r>
            <a:r>
              <a:rPr dirty="0" err="1"/>
              <a:t>نتیجه‌اش</a:t>
            </a:r>
            <a:r>
              <a:rPr dirty="0"/>
              <a:t> </a:t>
            </a:r>
            <a:r>
              <a:rPr dirty="0" err="1"/>
              <a:t>یک</a:t>
            </a:r>
            <a:r>
              <a:rPr dirty="0"/>
              <a:t> </a:t>
            </a:r>
            <a:r>
              <a:rPr dirty="0" err="1"/>
              <a:t>متن</a:t>
            </a:r>
            <a:r>
              <a:rPr dirty="0"/>
              <a:t> </a:t>
            </a:r>
            <a:r>
              <a:rPr dirty="0" err="1"/>
              <a:t>کلیشه‌ای</a:t>
            </a:r>
            <a:r>
              <a:rPr dirty="0"/>
              <a:t> و </a:t>
            </a:r>
            <a:r>
              <a:rPr dirty="0" err="1"/>
              <a:t>اغراق‌آمیز</a:t>
            </a:r>
            <a:r>
              <a:rPr dirty="0"/>
              <a:t> </a:t>
            </a:r>
            <a:r>
              <a:rPr dirty="0" err="1"/>
              <a:t>است</a:t>
            </a:r>
            <a:r>
              <a:rPr dirty="0"/>
              <a:t> - </a:t>
            </a:r>
            <a:r>
              <a:rPr dirty="0" err="1"/>
              <a:t>مثل</a:t>
            </a:r>
            <a:r>
              <a:rPr dirty="0"/>
              <a:t> </a:t>
            </a:r>
            <a:r>
              <a:rPr dirty="0" err="1"/>
              <a:t>کادر</a:t>
            </a:r>
            <a:r>
              <a:rPr dirty="0"/>
              <a:t> </a:t>
            </a:r>
            <a:r>
              <a:rPr dirty="0" err="1"/>
              <a:t>قرمز</a:t>
            </a:r>
            <a:r>
              <a:rPr dirty="0"/>
              <a:t> </a:t>
            </a:r>
            <a:r>
              <a:rPr dirty="0" err="1"/>
              <a:t>در</a:t>
            </a:r>
            <a:r>
              <a:rPr dirty="0"/>
              <a:t> </a:t>
            </a:r>
            <a:r>
              <a:rPr dirty="0" err="1"/>
              <a:t>اسلاید</a:t>
            </a:r>
            <a:r>
              <a:rPr dirty="0"/>
              <a:t> </a:t>
            </a:r>
            <a:r>
              <a:rPr dirty="0" err="1"/>
              <a:t>قبل</a:t>
            </a:r>
            <a:r>
              <a:rPr dirty="0"/>
              <a:t>)، </a:t>
            </a:r>
            <a:r>
              <a:rPr dirty="0" err="1"/>
              <a:t>فرآیند</a:t>
            </a:r>
            <a:r>
              <a:rPr dirty="0"/>
              <a:t> </a:t>
            </a:r>
            <a:r>
              <a:rPr dirty="0" err="1"/>
              <a:t>را</a:t>
            </a:r>
            <a:r>
              <a:rPr dirty="0"/>
              <a:t> </a:t>
            </a:r>
            <a:r>
              <a:rPr dirty="0" err="1"/>
              <a:t>به</a:t>
            </a:r>
            <a:r>
              <a:rPr dirty="0"/>
              <a:t> </a:t>
            </a:r>
            <a:r>
              <a:rPr dirty="0" err="1"/>
              <a:t>یک</a:t>
            </a:r>
            <a:r>
              <a:rPr dirty="0"/>
              <a:t> </a:t>
            </a:r>
            <a:r>
              <a:rPr dirty="0" err="1"/>
              <a:t>زنجیره</a:t>
            </a:r>
            <a:r>
              <a:rPr dirty="0"/>
              <a:t> ۳ </a:t>
            </a:r>
            <a:r>
              <a:rPr dirty="0" err="1"/>
              <a:t>مرحله‌ای</a:t>
            </a:r>
            <a:r>
              <a:rPr dirty="0"/>
              <a:t> </a:t>
            </a:r>
            <a:r>
              <a:rPr dirty="0" err="1"/>
              <a:t>تبدیل</a:t>
            </a:r>
            <a:r>
              <a:rPr dirty="0"/>
              <a:t> </a:t>
            </a:r>
            <a:r>
              <a:rPr dirty="0" err="1"/>
              <a:t>می‌کنیم</a:t>
            </a:r>
            <a:r>
              <a:rPr dirty="0"/>
              <a:t> (</a:t>
            </a:r>
            <a:r>
              <a:rPr dirty="0" err="1"/>
              <a:t>کادر</a:t>
            </a:r>
            <a:r>
              <a:rPr dirty="0"/>
              <a:t> </a:t>
            </a:r>
            <a:r>
              <a:rPr dirty="0" err="1"/>
              <a:t>سبز</a:t>
            </a:r>
            <a:r>
              <a:rPr dirty="0"/>
              <a:t>):</a:t>
            </a:r>
          </a:p>
          <a:p>
            <a:pPr algn="r" rtl="1"/>
            <a:endParaRPr dirty="0"/>
          </a:p>
          <a:p>
            <a:pPr algn="r" rtl="1"/>
            <a:r>
              <a:rPr dirty="0" err="1"/>
              <a:t>مرحله</a:t>
            </a:r>
            <a:r>
              <a:rPr dirty="0"/>
              <a:t> </a:t>
            </a:r>
            <a:r>
              <a:rPr dirty="0" err="1"/>
              <a:t>تولید</a:t>
            </a:r>
            <a:r>
              <a:rPr dirty="0"/>
              <a:t> (Step 1): </a:t>
            </a:r>
            <a:r>
              <a:rPr dirty="0" err="1"/>
              <a:t>مدل</a:t>
            </a:r>
            <a:r>
              <a:rPr dirty="0"/>
              <a:t> </a:t>
            </a:r>
            <a:r>
              <a:rPr dirty="0" err="1"/>
              <a:t>یک</a:t>
            </a:r>
            <a:r>
              <a:rPr dirty="0"/>
              <a:t> </a:t>
            </a:r>
            <a:r>
              <a:rPr dirty="0" err="1"/>
              <a:t>پیش‌نویس</a:t>
            </a:r>
            <a:r>
              <a:rPr dirty="0"/>
              <a:t> </a:t>
            </a:r>
            <a:r>
              <a:rPr dirty="0" err="1"/>
              <a:t>اولیه</a:t>
            </a:r>
            <a:r>
              <a:rPr dirty="0"/>
              <a:t> (Draft) </a:t>
            </a:r>
            <a:r>
              <a:rPr dirty="0" err="1"/>
              <a:t>می‌نویسد</a:t>
            </a:r>
            <a:r>
              <a:rPr dirty="0"/>
              <a:t>.</a:t>
            </a:r>
          </a:p>
          <a:p>
            <a:pPr algn="r" rtl="1"/>
            <a:r>
              <a:rPr dirty="0" err="1"/>
              <a:t>مرحله</a:t>
            </a:r>
            <a:r>
              <a:rPr dirty="0"/>
              <a:t> </a:t>
            </a:r>
            <a:r>
              <a:rPr dirty="0" err="1"/>
              <a:t>نقد</a:t>
            </a:r>
            <a:r>
              <a:rPr dirty="0"/>
              <a:t> </a:t>
            </a:r>
            <a:r>
              <a:rPr dirty="0" err="1"/>
              <a:t>بی‌رحمانه</a:t>
            </a:r>
            <a:r>
              <a:rPr dirty="0"/>
              <a:t> (Step 2): </a:t>
            </a:r>
            <a:r>
              <a:rPr dirty="0" err="1"/>
              <a:t>نقش</a:t>
            </a:r>
            <a:r>
              <a:rPr dirty="0"/>
              <a:t> </a:t>
            </a:r>
            <a:r>
              <a:rPr dirty="0" err="1"/>
              <a:t>مدل</a:t>
            </a:r>
            <a:r>
              <a:rPr dirty="0"/>
              <a:t> </a:t>
            </a:r>
            <a:r>
              <a:rPr dirty="0" err="1"/>
              <a:t>را</a:t>
            </a:r>
            <a:r>
              <a:rPr dirty="0"/>
              <a:t> </a:t>
            </a:r>
            <a:r>
              <a:rPr dirty="0" err="1"/>
              <a:t>عوض</a:t>
            </a:r>
            <a:r>
              <a:rPr dirty="0"/>
              <a:t> </a:t>
            </a:r>
            <a:r>
              <a:rPr dirty="0" err="1"/>
              <a:t>می‌کنیم</a:t>
            </a:r>
            <a:r>
              <a:rPr dirty="0"/>
              <a:t> و </a:t>
            </a:r>
            <a:r>
              <a:rPr dirty="0" err="1"/>
              <a:t>می‌خواهیم</a:t>
            </a:r>
            <a:r>
              <a:rPr dirty="0"/>
              <a:t> </a:t>
            </a:r>
            <a:r>
              <a:rPr dirty="0" err="1"/>
              <a:t>مثل</a:t>
            </a:r>
            <a:r>
              <a:rPr dirty="0"/>
              <a:t> </a:t>
            </a:r>
            <a:r>
              <a:rPr dirty="0" err="1"/>
              <a:t>یک</a:t>
            </a:r>
            <a:r>
              <a:rPr dirty="0"/>
              <a:t> </a:t>
            </a:r>
            <a:r>
              <a:rPr dirty="0" err="1"/>
              <a:t>منتقد</a:t>
            </a:r>
            <a:r>
              <a:rPr dirty="0"/>
              <a:t>، </a:t>
            </a:r>
            <a:r>
              <a:rPr dirty="0" err="1"/>
              <a:t>متنِ</a:t>
            </a:r>
            <a:r>
              <a:rPr dirty="0"/>
              <a:t> </a:t>
            </a:r>
            <a:r>
              <a:rPr dirty="0" err="1"/>
              <a:t>خودش</a:t>
            </a:r>
            <a:r>
              <a:rPr dirty="0"/>
              <a:t> </a:t>
            </a:r>
            <a:r>
              <a:rPr dirty="0" err="1"/>
              <a:t>را</a:t>
            </a:r>
            <a:r>
              <a:rPr dirty="0"/>
              <a:t> </a:t>
            </a:r>
            <a:r>
              <a:rPr dirty="0" err="1"/>
              <a:t>بررسی</a:t>
            </a:r>
            <a:r>
              <a:rPr dirty="0"/>
              <a:t> </a:t>
            </a:r>
            <a:r>
              <a:rPr dirty="0" err="1"/>
              <a:t>کند</a:t>
            </a:r>
            <a:r>
              <a:rPr dirty="0"/>
              <a:t>، </a:t>
            </a:r>
            <a:r>
              <a:rPr dirty="0" err="1"/>
              <a:t>به</a:t>
            </a:r>
            <a:r>
              <a:rPr dirty="0"/>
              <a:t> </a:t>
            </a:r>
            <a:r>
              <a:rPr dirty="0" err="1"/>
              <a:t>آن</a:t>
            </a:r>
            <a:r>
              <a:rPr dirty="0"/>
              <a:t> </a:t>
            </a:r>
            <a:r>
              <a:rPr dirty="0" err="1"/>
              <a:t>نمره</a:t>
            </a:r>
            <a:r>
              <a:rPr dirty="0"/>
              <a:t> </a:t>
            </a:r>
            <a:r>
              <a:rPr dirty="0" err="1"/>
              <a:t>بدهد</a:t>
            </a:r>
            <a:r>
              <a:rPr dirty="0"/>
              <a:t> و </a:t>
            </a:r>
            <a:r>
              <a:rPr dirty="0" err="1"/>
              <a:t>کلماتِ</a:t>
            </a:r>
            <a:r>
              <a:rPr dirty="0"/>
              <a:t> </a:t>
            </a:r>
            <a:r>
              <a:rPr dirty="0" err="1"/>
              <a:t>اشتباه</a:t>
            </a:r>
            <a:r>
              <a:rPr dirty="0"/>
              <a:t>/</a:t>
            </a:r>
            <a:r>
              <a:rPr dirty="0" err="1"/>
              <a:t>اغراق‌آمیز</a:t>
            </a:r>
            <a:r>
              <a:rPr dirty="0"/>
              <a:t> </a:t>
            </a:r>
            <a:r>
              <a:rPr dirty="0" err="1"/>
              <a:t>را</a:t>
            </a:r>
            <a:r>
              <a:rPr dirty="0"/>
              <a:t> </a:t>
            </a:r>
            <a:r>
              <a:rPr dirty="0" err="1"/>
              <a:t>استخراج</a:t>
            </a:r>
            <a:r>
              <a:rPr dirty="0"/>
              <a:t> </a:t>
            </a:r>
            <a:r>
              <a:rPr dirty="0" err="1"/>
              <a:t>کند</a:t>
            </a:r>
            <a:r>
              <a:rPr dirty="0"/>
              <a:t>.</a:t>
            </a:r>
          </a:p>
          <a:p>
            <a:pPr algn="r" rtl="1"/>
            <a:r>
              <a:rPr dirty="0" err="1"/>
              <a:t>مرحله</a:t>
            </a:r>
            <a:r>
              <a:rPr dirty="0"/>
              <a:t> </a:t>
            </a:r>
            <a:r>
              <a:rPr dirty="0" err="1"/>
              <a:t>اصلاح</a:t>
            </a:r>
            <a:r>
              <a:rPr dirty="0"/>
              <a:t> (Step 3): </a:t>
            </a:r>
            <a:r>
              <a:rPr dirty="0" err="1"/>
              <a:t>حالا</a:t>
            </a:r>
            <a:r>
              <a:rPr dirty="0"/>
              <a:t> </a:t>
            </a:r>
            <a:r>
              <a:rPr dirty="0" err="1"/>
              <a:t>از</a:t>
            </a:r>
            <a:r>
              <a:rPr dirty="0"/>
              <a:t> </a:t>
            </a:r>
            <a:r>
              <a:rPr dirty="0" err="1"/>
              <a:t>او</a:t>
            </a:r>
            <a:r>
              <a:rPr dirty="0"/>
              <a:t> </a:t>
            </a:r>
            <a:r>
              <a:rPr dirty="0" err="1"/>
              <a:t>می‌خواهیم</a:t>
            </a:r>
            <a:r>
              <a:rPr dirty="0"/>
              <a:t> </a:t>
            </a:r>
            <a:r>
              <a:rPr dirty="0" err="1"/>
              <a:t>بر</a:t>
            </a:r>
            <a:r>
              <a:rPr dirty="0"/>
              <a:t> </a:t>
            </a:r>
            <a:r>
              <a:rPr dirty="0" err="1"/>
              <a:t>اساس</a:t>
            </a:r>
            <a:r>
              <a:rPr dirty="0"/>
              <a:t> </a:t>
            </a:r>
            <a:r>
              <a:rPr dirty="0" err="1"/>
              <a:t>نقدی</a:t>
            </a:r>
            <a:r>
              <a:rPr dirty="0"/>
              <a:t> </a:t>
            </a:r>
            <a:r>
              <a:rPr dirty="0" err="1"/>
              <a:t>که</a:t>
            </a:r>
            <a:r>
              <a:rPr dirty="0"/>
              <a:t> </a:t>
            </a:r>
            <a:r>
              <a:rPr dirty="0" err="1"/>
              <a:t>خودش</a:t>
            </a:r>
            <a:r>
              <a:rPr dirty="0"/>
              <a:t> </a:t>
            </a:r>
            <a:r>
              <a:rPr dirty="0" err="1"/>
              <a:t>نوشته</a:t>
            </a:r>
            <a:r>
              <a:rPr dirty="0"/>
              <a:t>، </a:t>
            </a:r>
            <a:r>
              <a:rPr dirty="0" err="1"/>
              <a:t>متن</a:t>
            </a:r>
            <a:r>
              <a:rPr dirty="0"/>
              <a:t> </a:t>
            </a:r>
            <a:r>
              <a:rPr dirty="0" err="1"/>
              <a:t>را</a:t>
            </a:r>
            <a:r>
              <a:rPr dirty="0"/>
              <a:t> </a:t>
            </a:r>
            <a:r>
              <a:rPr dirty="0" err="1"/>
              <a:t>دوباره</a:t>
            </a:r>
            <a:r>
              <a:rPr dirty="0"/>
              <a:t> </a:t>
            </a:r>
            <a:r>
              <a:rPr dirty="0" err="1"/>
              <a:t>با</a:t>
            </a:r>
            <a:r>
              <a:rPr dirty="0"/>
              <a:t> </a:t>
            </a:r>
            <a:r>
              <a:rPr dirty="0" err="1"/>
              <a:t>لحنی</a:t>
            </a:r>
            <a:r>
              <a:rPr dirty="0"/>
              <a:t> </a:t>
            </a:r>
            <a:r>
              <a:rPr dirty="0" err="1"/>
              <a:t>منطقی</a:t>
            </a:r>
            <a:r>
              <a:rPr dirty="0"/>
              <a:t> </a:t>
            </a:r>
            <a:r>
              <a:rPr dirty="0" err="1"/>
              <a:t>بازنویسی</a:t>
            </a:r>
            <a:r>
              <a:rPr dirty="0"/>
              <a:t> </a:t>
            </a:r>
            <a:r>
              <a:rPr dirty="0" err="1"/>
              <a:t>کند</a:t>
            </a:r>
            <a:r>
              <a:rPr dirty="0"/>
              <a:t>.</a:t>
            </a:r>
          </a:p>
          <a:p>
            <a:pPr algn="r" rtl="1"/>
            <a:endParaRPr dirty="0"/>
          </a:p>
          <a:p>
            <a:pPr algn="r" rtl="1"/>
            <a:r>
              <a:rPr dirty="0" err="1"/>
              <a:t>چرا</a:t>
            </a:r>
            <a:r>
              <a:rPr dirty="0"/>
              <a:t> </a:t>
            </a:r>
            <a:r>
              <a:rPr dirty="0" err="1"/>
              <a:t>این</a:t>
            </a:r>
            <a:r>
              <a:rPr dirty="0"/>
              <a:t> </a:t>
            </a:r>
            <a:r>
              <a:rPr dirty="0" err="1"/>
              <a:t>تکنیک</a:t>
            </a:r>
            <a:r>
              <a:rPr dirty="0"/>
              <a:t> </a:t>
            </a:r>
            <a:r>
              <a:rPr dirty="0" err="1"/>
              <a:t>به</a:t>
            </a:r>
            <a:r>
              <a:rPr dirty="0"/>
              <a:t> </a:t>
            </a:r>
            <a:r>
              <a:rPr dirty="0" err="1"/>
              <a:t>شدت</a:t>
            </a:r>
            <a:r>
              <a:rPr dirty="0"/>
              <a:t> </a:t>
            </a:r>
            <a:r>
              <a:rPr dirty="0" err="1"/>
              <a:t>به‌دردبخور</a:t>
            </a:r>
            <a:r>
              <a:rPr dirty="0"/>
              <a:t> </a:t>
            </a:r>
            <a:r>
              <a:rPr dirty="0" err="1"/>
              <a:t>است</a:t>
            </a:r>
            <a:r>
              <a:rPr dirty="0"/>
              <a:t>؟</a:t>
            </a:r>
          </a:p>
          <a:p>
            <a:pPr algn="r" rtl="1"/>
            <a:endParaRPr dirty="0"/>
          </a:p>
          <a:p>
            <a:pPr algn="r" rtl="1"/>
            <a:r>
              <a:rPr dirty="0" err="1"/>
              <a:t>الف</a:t>
            </a:r>
            <a:r>
              <a:rPr dirty="0"/>
              <a:t>) </a:t>
            </a:r>
            <a:r>
              <a:rPr dirty="0" err="1"/>
              <a:t>درمانِ</a:t>
            </a:r>
            <a:r>
              <a:rPr dirty="0"/>
              <a:t> «</a:t>
            </a:r>
            <a:r>
              <a:rPr dirty="0" err="1"/>
              <a:t>سندرومِ</a:t>
            </a:r>
            <a:r>
              <a:rPr dirty="0"/>
              <a:t> </a:t>
            </a:r>
            <a:r>
              <a:rPr dirty="0" err="1"/>
              <a:t>پیش‌نویس</a:t>
            </a:r>
            <a:r>
              <a:rPr dirty="0"/>
              <a:t> </a:t>
            </a:r>
            <a:r>
              <a:rPr dirty="0" err="1"/>
              <a:t>اول</a:t>
            </a:r>
            <a:r>
              <a:rPr dirty="0"/>
              <a:t>»: </a:t>
            </a:r>
            <a:r>
              <a:rPr dirty="0" err="1"/>
              <a:t>مدل‌های</a:t>
            </a:r>
            <a:r>
              <a:rPr dirty="0"/>
              <a:t> </a:t>
            </a:r>
            <a:r>
              <a:rPr dirty="0" err="1"/>
              <a:t>زبانی</a:t>
            </a:r>
            <a:r>
              <a:rPr dirty="0"/>
              <a:t> </a:t>
            </a:r>
            <a:r>
              <a:rPr dirty="0" err="1"/>
              <a:t>معمولاً</a:t>
            </a:r>
            <a:r>
              <a:rPr dirty="0"/>
              <a:t> </a:t>
            </a:r>
            <a:r>
              <a:rPr dirty="0" err="1"/>
              <a:t>در</a:t>
            </a:r>
            <a:r>
              <a:rPr dirty="0"/>
              <a:t> </a:t>
            </a:r>
            <a:r>
              <a:rPr dirty="0" err="1"/>
              <a:t>اولین</a:t>
            </a:r>
            <a:r>
              <a:rPr dirty="0"/>
              <a:t> </a:t>
            </a:r>
            <a:r>
              <a:rPr dirty="0" err="1"/>
              <a:t>تلاش</a:t>
            </a:r>
            <a:r>
              <a:rPr dirty="0"/>
              <a:t> (Zero-shot) </a:t>
            </a:r>
            <a:r>
              <a:rPr b="1" i="0" u="sng" dirty="0" err="1"/>
              <a:t>متنی</a:t>
            </a:r>
            <a:r>
              <a:rPr b="1" i="0" u="sng" dirty="0"/>
              <a:t> </a:t>
            </a:r>
            <a:r>
              <a:rPr b="1" i="0" u="sng" dirty="0" err="1"/>
              <a:t>متوسط</a:t>
            </a:r>
            <a:r>
              <a:rPr b="1" i="0" u="sng" dirty="0"/>
              <a:t> </a:t>
            </a:r>
            <a:r>
              <a:rPr b="1" i="0" u="sng" dirty="0" err="1"/>
              <a:t>تولید</a:t>
            </a:r>
            <a:r>
              <a:rPr b="1" i="0" u="sng" dirty="0"/>
              <a:t> </a:t>
            </a:r>
            <a:r>
              <a:rPr b="1" i="0" u="sng" dirty="0" err="1"/>
              <a:t>می‌کنند</a:t>
            </a:r>
            <a:r>
              <a:rPr b="1" i="0" u="sng" dirty="0"/>
              <a:t> </a:t>
            </a:r>
            <a:r>
              <a:rPr dirty="0"/>
              <a:t>(</a:t>
            </a:r>
            <a:r>
              <a:rPr dirty="0" err="1"/>
              <a:t>مثلاً</a:t>
            </a:r>
            <a:r>
              <a:rPr dirty="0"/>
              <a:t> </a:t>
            </a:r>
            <a:r>
              <a:rPr dirty="0" err="1"/>
              <a:t>پیام</a:t>
            </a:r>
            <a:r>
              <a:rPr dirty="0"/>
              <a:t> </a:t>
            </a:r>
            <a:r>
              <a:rPr dirty="0" err="1"/>
              <a:t>لینکدین</a:t>
            </a:r>
            <a:r>
              <a:rPr dirty="0"/>
              <a:t> </a:t>
            </a:r>
            <a:r>
              <a:rPr dirty="0" err="1"/>
              <a:t>برای</a:t>
            </a:r>
            <a:r>
              <a:rPr dirty="0"/>
              <a:t> </a:t>
            </a:r>
            <a:r>
              <a:rPr dirty="0" err="1"/>
              <a:t>مدیر</a:t>
            </a:r>
            <a:r>
              <a:rPr dirty="0"/>
              <a:t> </a:t>
            </a:r>
            <a:r>
              <a:rPr dirty="0" err="1"/>
              <a:t>استخدام</a:t>
            </a:r>
            <a:r>
              <a:rPr dirty="0"/>
              <a:t> </a:t>
            </a:r>
            <a:r>
              <a:rPr dirty="0" err="1"/>
              <a:t>در</a:t>
            </a:r>
            <a:r>
              <a:rPr dirty="0"/>
              <a:t> </a:t>
            </a:r>
            <a:r>
              <a:rPr dirty="0" err="1"/>
              <a:t>اسلاید</a:t>
            </a:r>
            <a:r>
              <a:rPr dirty="0"/>
              <a:t> </a:t>
            </a:r>
            <a:r>
              <a:rPr dirty="0" err="1"/>
              <a:t>قبل</a:t>
            </a:r>
            <a:r>
              <a:rPr dirty="0"/>
              <a:t>، </a:t>
            </a:r>
            <a:r>
              <a:rPr dirty="0" err="1"/>
              <a:t>یا</a:t>
            </a:r>
            <a:r>
              <a:rPr dirty="0"/>
              <a:t> </a:t>
            </a:r>
            <a:r>
              <a:rPr dirty="0" err="1"/>
              <a:t>ایمیل</a:t>
            </a:r>
            <a:r>
              <a:rPr dirty="0"/>
              <a:t> </a:t>
            </a:r>
            <a:r>
              <a:rPr dirty="0" err="1"/>
              <a:t>جذب</a:t>
            </a:r>
            <a:r>
              <a:rPr dirty="0"/>
              <a:t> </a:t>
            </a:r>
            <a:r>
              <a:rPr dirty="0" err="1"/>
              <a:t>سرمایه‌گذار</a:t>
            </a:r>
            <a:r>
              <a:rPr dirty="0"/>
              <a:t> </a:t>
            </a:r>
            <a:r>
              <a:rPr dirty="0" err="1"/>
              <a:t>در</a:t>
            </a:r>
            <a:r>
              <a:rPr dirty="0"/>
              <a:t> </a:t>
            </a:r>
            <a:r>
              <a:rPr dirty="0" err="1"/>
              <a:t>تمرین</a:t>
            </a:r>
            <a:r>
              <a:rPr dirty="0"/>
              <a:t> ۷: </a:t>
            </a:r>
            <a:r>
              <a:rPr dirty="0" err="1"/>
              <a:t>لحنی</a:t>
            </a:r>
            <a:r>
              <a:rPr dirty="0"/>
              <a:t> </a:t>
            </a:r>
            <a:r>
              <a:rPr dirty="0" err="1"/>
              <a:t>التماس‌گونه</a:t>
            </a:r>
            <a:r>
              <a:rPr dirty="0"/>
              <a:t> و </a:t>
            </a:r>
            <a:r>
              <a:rPr dirty="0" err="1"/>
              <a:t>پُر</a:t>
            </a:r>
            <a:r>
              <a:rPr dirty="0"/>
              <a:t> </a:t>
            </a:r>
            <a:r>
              <a:rPr dirty="0" err="1"/>
              <a:t>از</a:t>
            </a:r>
            <a:r>
              <a:rPr dirty="0"/>
              <a:t> </a:t>
            </a:r>
            <a:r>
              <a:rPr dirty="0" err="1"/>
              <a:t>کلیشه‌ها</a:t>
            </a:r>
            <a:r>
              <a:rPr dirty="0"/>
              <a:t> و </a:t>
            </a:r>
            <a:r>
              <a:rPr dirty="0" err="1"/>
              <a:t>کلماتِ</a:t>
            </a:r>
            <a:r>
              <a:rPr dirty="0"/>
              <a:t> </a:t>
            </a:r>
            <a:r>
              <a:rPr dirty="0" err="1"/>
              <a:t>زردِ</a:t>
            </a:r>
            <a:r>
              <a:rPr dirty="0"/>
              <a:t> </a:t>
            </a:r>
            <a:r>
              <a:rPr dirty="0" err="1"/>
              <a:t>مارکتینگی</a:t>
            </a:r>
            <a:r>
              <a:rPr dirty="0"/>
              <a:t>). </a:t>
            </a:r>
            <a:r>
              <a:rPr dirty="0" err="1"/>
              <a:t>تکنیکِ</a:t>
            </a:r>
            <a:r>
              <a:rPr dirty="0"/>
              <a:t> </a:t>
            </a:r>
            <a:r>
              <a:rPr dirty="0" err="1"/>
              <a:t>خودارزیابی</a:t>
            </a:r>
            <a:r>
              <a:rPr dirty="0"/>
              <a:t> </a:t>
            </a:r>
            <a:r>
              <a:rPr dirty="0" err="1"/>
              <a:t>به</a:t>
            </a:r>
            <a:r>
              <a:rPr dirty="0"/>
              <a:t> </a:t>
            </a:r>
            <a:r>
              <a:rPr dirty="0" err="1"/>
              <a:t>مدل</a:t>
            </a:r>
            <a:r>
              <a:rPr dirty="0"/>
              <a:t> </a:t>
            </a:r>
            <a:r>
              <a:rPr dirty="0" err="1"/>
              <a:t>زمانِ</a:t>
            </a:r>
            <a:r>
              <a:rPr dirty="0"/>
              <a:t> </a:t>
            </a:r>
            <a:r>
              <a:rPr dirty="0" err="1"/>
              <a:t>بیشتری</a:t>
            </a:r>
            <a:r>
              <a:rPr dirty="0"/>
              <a:t> </a:t>
            </a:r>
            <a:r>
              <a:rPr dirty="0" err="1"/>
              <a:t>برای</a:t>
            </a:r>
            <a:r>
              <a:rPr dirty="0"/>
              <a:t> </a:t>
            </a:r>
            <a:r>
              <a:rPr dirty="0" err="1"/>
              <a:t>پردازش</a:t>
            </a:r>
            <a:r>
              <a:rPr dirty="0"/>
              <a:t> (Compute) </a:t>
            </a:r>
            <a:r>
              <a:rPr dirty="0" err="1"/>
              <a:t>می‌دهد</a:t>
            </a:r>
            <a:r>
              <a:rPr dirty="0"/>
              <a:t> </a:t>
            </a:r>
            <a:r>
              <a:rPr dirty="0" err="1"/>
              <a:t>تا</a:t>
            </a:r>
            <a:r>
              <a:rPr dirty="0"/>
              <a:t> </a:t>
            </a:r>
            <a:r>
              <a:rPr dirty="0" err="1"/>
              <a:t>متنِ</a:t>
            </a:r>
            <a:r>
              <a:rPr dirty="0"/>
              <a:t> </a:t>
            </a:r>
            <a:r>
              <a:rPr dirty="0" err="1"/>
              <a:t>متوسطِ</a:t>
            </a:r>
            <a:r>
              <a:rPr dirty="0"/>
              <a:t> </a:t>
            </a:r>
            <a:r>
              <a:rPr dirty="0" err="1"/>
              <a:t>خودش</a:t>
            </a:r>
            <a:r>
              <a:rPr dirty="0"/>
              <a:t> </a:t>
            </a:r>
            <a:r>
              <a:rPr dirty="0" err="1"/>
              <a:t>را</a:t>
            </a:r>
            <a:r>
              <a:rPr dirty="0"/>
              <a:t> </a:t>
            </a:r>
            <a:r>
              <a:rPr dirty="0" err="1"/>
              <a:t>ببیند</a:t>
            </a:r>
            <a:r>
              <a:rPr dirty="0"/>
              <a:t>، </a:t>
            </a:r>
            <a:r>
              <a:rPr dirty="0" err="1"/>
              <a:t>از</a:t>
            </a:r>
            <a:r>
              <a:rPr dirty="0"/>
              <a:t> </a:t>
            </a:r>
            <a:r>
              <a:rPr dirty="0" err="1"/>
              <a:t>آن</a:t>
            </a:r>
            <a:r>
              <a:rPr dirty="0"/>
              <a:t> </a:t>
            </a:r>
            <a:r>
              <a:rPr dirty="0" err="1"/>
              <a:t>خجالت</a:t>
            </a:r>
            <a:r>
              <a:rPr dirty="0"/>
              <a:t> </a:t>
            </a:r>
            <a:r>
              <a:rPr dirty="0" err="1"/>
              <a:t>بکشد</a:t>
            </a:r>
            <a:r>
              <a:rPr dirty="0"/>
              <a:t> و </a:t>
            </a:r>
            <a:r>
              <a:rPr dirty="0" err="1"/>
              <a:t>یک</a:t>
            </a:r>
            <a:r>
              <a:rPr dirty="0"/>
              <a:t> </a:t>
            </a:r>
            <a:r>
              <a:rPr dirty="0" err="1"/>
              <a:t>نسخه‌ی</a:t>
            </a:r>
            <a:r>
              <a:rPr dirty="0"/>
              <a:t> </a:t>
            </a:r>
            <a:r>
              <a:rPr dirty="0" err="1"/>
              <a:t>شاهکار</a:t>
            </a:r>
            <a:r>
              <a:rPr dirty="0"/>
              <a:t> </a:t>
            </a:r>
            <a:r>
              <a:rPr dirty="0" err="1"/>
              <a:t>تحویل</a:t>
            </a:r>
            <a:r>
              <a:rPr dirty="0"/>
              <a:t> </a:t>
            </a:r>
            <a:r>
              <a:rPr dirty="0" err="1"/>
              <a:t>دهد</a:t>
            </a:r>
            <a:r>
              <a:rPr dirty="0"/>
              <a:t>!</a:t>
            </a:r>
          </a:p>
          <a:p>
            <a:pPr algn="r" rtl="1"/>
            <a:endParaRPr dirty="0"/>
          </a:p>
          <a:p>
            <a:pPr algn="r" rtl="1"/>
            <a:r>
              <a:rPr dirty="0"/>
              <a:t>ب) </a:t>
            </a:r>
            <a:r>
              <a:rPr dirty="0" err="1"/>
              <a:t>درگیر</a:t>
            </a:r>
            <a:r>
              <a:rPr dirty="0"/>
              <a:t> </a:t>
            </a:r>
            <a:r>
              <a:rPr dirty="0" err="1"/>
              <a:t>کردنِ</a:t>
            </a:r>
            <a:r>
              <a:rPr dirty="0"/>
              <a:t> </a:t>
            </a:r>
            <a:r>
              <a:rPr dirty="0" err="1"/>
              <a:t>بخشِ</a:t>
            </a:r>
            <a:r>
              <a:rPr dirty="0"/>
              <a:t> </a:t>
            </a:r>
            <a:r>
              <a:rPr dirty="0" err="1"/>
              <a:t>منطقیِ</a:t>
            </a:r>
            <a:r>
              <a:rPr dirty="0"/>
              <a:t> </a:t>
            </a:r>
            <a:r>
              <a:rPr dirty="0" err="1"/>
              <a:t>هوش</a:t>
            </a:r>
            <a:r>
              <a:rPr dirty="0"/>
              <a:t> </a:t>
            </a:r>
            <a:r>
              <a:rPr dirty="0" err="1"/>
              <a:t>مصنوعی</a:t>
            </a:r>
            <a:r>
              <a:rPr dirty="0"/>
              <a:t>: </a:t>
            </a:r>
            <a:r>
              <a:rPr dirty="0" err="1"/>
              <a:t>وقتی</a:t>
            </a:r>
            <a:r>
              <a:rPr dirty="0"/>
              <a:t> </a:t>
            </a:r>
            <a:r>
              <a:rPr dirty="0" err="1"/>
              <a:t>از</a:t>
            </a:r>
            <a:r>
              <a:rPr dirty="0"/>
              <a:t> </a:t>
            </a:r>
            <a:r>
              <a:rPr dirty="0" err="1"/>
              <a:t>مدل</a:t>
            </a:r>
            <a:r>
              <a:rPr dirty="0"/>
              <a:t> </a:t>
            </a:r>
            <a:r>
              <a:rPr dirty="0" err="1"/>
              <a:t>می‌خواهید</a:t>
            </a:r>
            <a:r>
              <a:rPr dirty="0"/>
              <a:t> </a:t>
            </a:r>
            <a:r>
              <a:rPr dirty="0" err="1"/>
              <a:t>فقط</a:t>
            </a:r>
            <a:r>
              <a:rPr dirty="0"/>
              <a:t> «</a:t>
            </a:r>
            <a:r>
              <a:rPr dirty="0" err="1"/>
              <a:t>بنویسد</a:t>
            </a:r>
            <a:r>
              <a:rPr dirty="0"/>
              <a:t>»، </a:t>
            </a:r>
            <a:r>
              <a:rPr dirty="0" err="1"/>
              <a:t>از</a:t>
            </a:r>
            <a:r>
              <a:rPr dirty="0"/>
              <a:t> </a:t>
            </a:r>
            <a:r>
              <a:rPr dirty="0" err="1"/>
              <a:t>بخشِ</a:t>
            </a:r>
            <a:r>
              <a:rPr dirty="0"/>
              <a:t> </a:t>
            </a:r>
            <a:r>
              <a:rPr dirty="0" err="1"/>
              <a:t>خلّاقِ</a:t>
            </a:r>
            <a:r>
              <a:rPr dirty="0"/>
              <a:t> </a:t>
            </a:r>
            <a:r>
              <a:rPr dirty="0" err="1"/>
              <a:t>خود</a:t>
            </a:r>
            <a:r>
              <a:rPr dirty="0"/>
              <a:t> </a:t>
            </a:r>
            <a:r>
              <a:rPr dirty="0" err="1"/>
              <a:t>استفاده</a:t>
            </a:r>
            <a:r>
              <a:rPr dirty="0"/>
              <a:t> </a:t>
            </a:r>
            <a:r>
              <a:rPr dirty="0" err="1"/>
              <a:t>می‌کند</a:t>
            </a:r>
            <a:r>
              <a:rPr dirty="0"/>
              <a:t> (</a:t>
            </a:r>
            <a:r>
              <a:rPr dirty="0" err="1"/>
              <a:t>که</a:t>
            </a:r>
            <a:r>
              <a:rPr dirty="0"/>
              <a:t> </a:t>
            </a:r>
            <a:r>
              <a:rPr dirty="0" err="1"/>
              <a:t>مستعدِ</a:t>
            </a:r>
            <a:r>
              <a:rPr dirty="0"/>
              <a:t> </a:t>
            </a:r>
            <a:r>
              <a:rPr dirty="0" err="1"/>
              <a:t>هذیان</a:t>
            </a:r>
            <a:r>
              <a:rPr dirty="0"/>
              <a:t> و </a:t>
            </a:r>
            <a:r>
              <a:rPr dirty="0" err="1"/>
              <a:t>اغراق</a:t>
            </a:r>
            <a:r>
              <a:rPr dirty="0"/>
              <a:t> </a:t>
            </a:r>
            <a:r>
              <a:rPr dirty="0" err="1"/>
              <a:t>است</a:t>
            </a:r>
            <a:r>
              <a:rPr dirty="0"/>
              <a:t>). </a:t>
            </a:r>
            <a:r>
              <a:rPr dirty="0" err="1"/>
              <a:t>اما</a:t>
            </a:r>
            <a:r>
              <a:rPr dirty="0"/>
              <a:t> </a:t>
            </a:r>
            <a:r>
              <a:rPr dirty="0" err="1"/>
              <a:t>وقتی</a:t>
            </a:r>
            <a:r>
              <a:rPr dirty="0"/>
              <a:t> </a:t>
            </a:r>
            <a:r>
              <a:rPr dirty="0" err="1"/>
              <a:t>از</a:t>
            </a:r>
            <a:r>
              <a:rPr dirty="0"/>
              <a:t> </a:t>
            </a:r>
            <a:r>
              <a:rPr dirty="0" err="1"/>
              <a:t>او</a:t>
            </a:r>
            <a:r>
              <a:rPr dirty="0"/>
              <a:t> </a:t>
            </a:r>
            <a:r>
              <a:rPr dirty="0" err="1"/>
              <a:t>می‌خواهید</a:t>
            </a:r>
            <a:r>
              <a:rPr dirty="0"/>
              <a:t> «</a:t>
            </a:r>
            <a:r>
              <a:rPr dirty="0" err="1"/>
              <a:t>نمره</a:t>
            </a:r>
            <a:r>
              <a:rPr dirty="0"/>
              <a:t> </a:t>
            </a:r>
            <a:r>
              <a:rPr dirty="0" err="1"/>
              <a:t>بدهد</a:t>
            </a:r>
            <a:r>
              <a:rPr dirty="0"/>
              <a:t> و </a:t>
            </a:r>
            <a:r>
              <a:rPr dirty="0" err="1"/>
              <a:t>کلمات</a:t>
            </a:r>
            <a:r>
              <a:rPr dirty="0"/>
              <a:t> </a:t>
            </a:r>
            <a:r>
              <a:rPr dirty="0" err="1"/>
              <a:t>را</a:t>
            </a:r>
            <a:r>
              <a:rPr dirty="0"/>
              <a:t> </a:t>
            </a:r>
            <a:r>
              <a:rPr dirty="0" err="1"/>
              <a:t>لیست</a:t>
            </a:r>
            <a:r>
              <a:rPr dirty="0"/>
              <a:t> </a:t>
            </a:r>
            <a:r>
              <a:rPr dirty="0" err="1"/>
              <a:t>کند</a:t>
            </a:r>
            <a:r>
              <a:rPr dirty="0"/>
              <a:t>»، </a:t>
            </a:r>
            <a:r>
              <a:rPr dirty="0" err="1"/>
              <a:t>وارد</a:t>
            </a:r>
            <a:r>
              <a:rPr dirty="0"/>
              <a:t> </a:t>
            </a:r>
            <a:r>
              <a:rPr dirty="0" err="1"/>
              <a:t>فاز</a:t>
            </a:r>
            <a:r>
              <a:rPr dirty="0"/>
              <a:t> </a:t>
            </a:r>
            <a:r>
              <a:rPr dirty="0" err="1"/>
              <a:t>تحلیلی</a:t>
            </a:r>
            <a:r>
              <a:rPr dirty="0"/>
              <a:t> و </a:t>
            </a:r>
            <a:r>
              <a:rPr dirty="0" err="1"/>
              <a:t>منطقی</a:t>
            </a:r>
            <a:r>
              <a:rPr dirty="0"/>
              <a:t> </a:t>
            </a:r>
            <a:r>
              <a:rPr dirty="0" err="1"/>
              <a:t>می‌شود</a:t>
            </a:r>
            <a:r>
              <a:rPr dirty="0"/>
              <a:t>. </a:t>
            </a:r>
            <a:r>
              <a:rPr dirty="0" err="1"/>
              <a:t>این</a:t>
            </a:r>
            <a:r>
              <a:rPr dirty="0"/>
              <a:t> </a:t>
            </a:r>
            <a:r>
              <a:rPr dirty="0" err="1"/>
              <a:t>پرامپت</a:t>
            </a:r>
            <a:r>
              <a:rPr dirty="0"/>
              <a:t> </a:t>
            </a:r>
            <a:r>
              <a:rPr dirty="0" err="1"/>
              <a:t>هر</a:t>
            </a:r>
            <a:r>
              <a:rPr dirty="0"/>
              <a:t> </a:t>
            </a:r>
            <a:r>
              <a:rPr dirty="0" err="1"/>
              <a:t>دو</a:t>
            </a:r>
            <a:r>
              <a:rPr dirty="0"/>
              <a:t> </a:t>
            </a:r>
            <a:r>
              <a:rPr dirty="0" err="1"/>
              <a:t>قدرتِ</a:t>
            </a:r>
            <a:r>
              <a:rPr dirty="0"/>
              <a:t> </a:t>
            </a:r>
            <a:r>
              <a:rPr dirty="0" err="1"/>
              <a:t>مدل</a:t>
            </a:r>
            <a:r>
              <a:rPr dirty="0"/>
              <a:t> </a:t>
            </a:r>
            <a:r>
              <a:rPr dirty="0" err="1"/>
              <a:t>را</a:t>
            </a:r>
            <a:r>
              <a:rPr dirty="0"/>
              <a:t> </a:t>
            </a:r>
            <a:r>
              <a:rPr dirty="0" err="1"/>
              <a:t>با</a:t>
            </a:r>
            <a:r>
              <a:rPr dirty="0"/>
              <a:t> </a:t>
            </a:r>
            <a:r>
              <a:rPr dirty="0" err="1"/>
              <a:t>هم</a:t>
            </a:r>
            <a:r>
              <a:rPr dirty="0"/>
              <a:t> </a:t>
            </a:r>
            <a:r>
              <a:rPr dirty="0" err="1"/>
              <a:t>ترکیب</a:t>
            </a:r>
            <a:r>
              <a:rPr dirty="0"/>
              <a:t> </a:t>
            </a:r>
            <a:r>
              <a:rPr dirty="0" err="1"/>
              <a:t>می‌کند</a:t>
            </a:r>
            <a:r>
              <a:rPr dirty="0"/>
              <a:t>.</a:t>
            </a:r>
          </a:p>
          <a:p>
            <a:pPr algn="r" rtl="1"/>
            <a:endParaRPr dirty="0"/>
          </a:p>
          <a:p>
            <a:pPr algn="r" rtl="1"/>
            <a:r>
              <a:rPr dirty="0"/>
              <a:t>ج) </a:t>
            </a:r>
            <a:r>
              <a:rPr dirty="0" err="1"/>
              <a:t>شفافیت</a:t>
            </a:r>
            <a:r>
              <a:rPr dirty="0"/>
              <a:t> </a:t>
            </a:r>
            <a:r>
              <a:rPr dirty="0" err="1"/>
              <a:t>در</a:t>
            </a:r>
            <a:r>
              <a:rPr dirty="0"/>
              <a:t> </a:t>
            </a:r>
            <a:r>
              <a:rPr dirty="0" err="1"/>
              <a:t>استدلال</a:t>
            </a:r>
            <a:r>
              <a:rPr dirty="0"/>
              <a:t> (Transparency): </a:t>
            </a:r>
            <a:r>
              <a:rPr dirty="0" err="1"/>
              <a:t>وقتی</a:t>
            </a:r>
            <a:r>
              <a:rPr dirty="0"/>
              <a:t> </a:t>
            </a:r>
            <a:r>
              <a:rPr dirty="0" err="1"/>
              <a:t>مدل</a:t>
            </a:r>
            <a:r>
              <a:rPr dirty="0"/>
              <a:t> </a:t>
            </a:r>
            <a:r>
              <a:rPr dirty="0" err="1"/>
              <a:t>مجبور</a:t>
            </a:r>
            <a:r>
              <a:rPr dirty="0"/>
              <a:t> </a:t>
            </a:r>
            <a:r>
              <a:rPr dirty="0" err="1"/>
              <a:t>می‌شود</a:t>
            </a:r>
            <a:r>
              <a:rPr dirty="0"/>
              <a:t> </a:t>
            </a:r>
            <a:r>
              <a:rPr dirty="0" err="1"/>
              <a:t>ایرادات</a:t>
            </a:r>
            <a:r>
              <a:rPr dirty="0"/>
              <a:t> </a:t>
            </a:r>
            <a:r>
              <a:rPr dirty="0" err="1"/>
              <a:t>کارش</a:t>
            </a:r>
            <a:r>
              <a:rPr dirty="0"/>
              <a:t> </a:t>
            </a:r>
            <a:r>
              <a:rPr dirty="0" err="1"/>
              <a:t>را</a:t>
            </a:r>
            <a:r>
              <a:rPr dirty="0"/>
              <a:t> </a:t>
            </a:r>
            <a:r>
              <a:rPr dirty="0" err="1"/>
              <a:t>در</a:t>
            </a:r>
            <a:r>
              <a:rPr dirty="0"/>
              <a:t> </a:t>
            </a:r>
            <a:r>
              <a:rPr dirty="0" err="1"/>
              <a:t>مرحله</a:t>
            </a:r>
            <a:r>
              <a:rPr dirty="0"/>
              <a:t> </a:t>
            </a:r>
            <a:r>
              <a:rPr dirty="0" err="1"/>
              <a:t>دوم</a:t>
            </a:r>
            <a:r>
              <a:rPr dirty="0"/>
              <a:t> (Step 2) </a:t>
            </a:r>
            <a:r>
              <a:rPr dirty="0" err="1"/>
              <a:t>لیست</a:t>
            </a:r>
            <a:r>
              <a:rPr dirty="0"/>
              <a:t> </a:t>
            </a:r>
            <a:r>
              <a:rPr dirty="0" err="1"/>
              <a:t>کند</a:t>
            </a:r>
            <a:r>
              <a:rPr dirty="0"/>
              <a:t>، </a:t>
            </a:r>
            <a:r>
              <a:rPr dirty="0" err="1"/>
              <a:t>شما</a:t>
            </a:r>
            <a:r>
              <a:rPr dirty="0"/>
              <a:t> </a:t>
            </a:r>
            <a:r>
              <a:rPr dirty="0" err="1"/>
              <a:t>به</a:t>
            </a:r>
            <a:r>
              <a:rPr dirty="0"/>
              <a:t> </a:t>
            </a:r>
            <a:r>
              <a:rPr dirty="0" err="1"/>
              <a:t>عنوان</a:t>
            </a:r>
            <a:r>
              <a:rPr dirty="0"/>
              <a:t> </a:t>
            </a:r>
            <a:r>
              <a:rPr dirty="0" err="1"/>
              <a:t>کاربر</a:t>
            </a:r>
            <a:r>
              <a:rPr dirty="0"/>
              <a:t> </a:t>
            </a:r>
            <a:r>
              <a:rPr dirty="0" err="1"/>
              <a:t>دقیقاً</a:t>
            </a:r>
            <a:r>
              <a:rPr dirty="0"/>
              <a:t> </a:t>
            </a:r>
            <a:r>
              <a:rPr dirty="0" err="1"/>
              <a:t>می‌بینید</a:t>
            </a:r>
            <a:r>
              <a:rPr dirty="0"/>
              <a:t> </a:t>
            </a:r>
            <a:r>
              <a:rPr dirty="0" err="1"/>
              <a:t>چرا</a:t>
            </a:r>
            <a:r>
              <a:rPr dirty="0"/>
              <a:t> </a:t>
            </a:r>
            <a:r>
              <a:rPr dirty="0" err="1"/>
              <a:t>هر</a:t>
            </a:r>
            <a:r>
              <a:rPr dirty="0"/>
              <a:t> </a:t>
            </a:r>
            <a:r>
              <a:rPr dirty="0" err="1"/>
              <a:t>تغییر</a:t>
            </a:r>
            <a:r>
              <a:rPr dirty="0"/>
              <a:t> </a:t>
            </a:r>
            <a:r>
              <a:rPr dirty="0" err="1"/>
              <a:t>انجام</a:t>
            </a:r>
            <a:r>
              <a:rPr dirty="0"/>
              <a:t> </a:t>
            </a:r>
            <a:r>
              <a:rPr dirty="0" err="1"/>
              <a:t>شده</a:t>
            </a:r>
            <a:r>
              <a:rPr dirty="0"/>
              <a:t> و </a:t>
            </a:r>
            <a:r>
              <a:rPr dirty="0" err="1"/>
              <a:t>می‌توانید</a:t>
            </a:r>
            <a:r>
              <a:rPr dirty="0"/>
              <a:t> </a:t>
            </a:r>
            <a:r>
              <a:rPr dirty="0" err="1"/>
              <a:t>درستیِ</a:t>
            </a:r>
            <a:r>
              <a:rPr dirty="0"/>
              <a:t> </a:t>
            </a:r>
            <a:r>
              <a:rPr dirty="0" err="1"/>
              <a:t>نقد</a:t>
            </a:r>
            <a:r>
              <a:rPr dirty="0"/>
              <a:t> </a:t>
            </a:r>
            <a:r>
              <a:rPr dirty="0" err="1"/>
              <a:t>را</a:t>
            </a:r>
            <a:r>
              <a:rPr dirty="0"/>
              <a:t> </a:t>
            </a:r>
            <a:r>
              <a:rPr dirty="0" err="1"/>
              <a:t>بررسی</a:t>
            </a:r>
            <a:r>
              <a:rPr dirty="0"/>
              <a:t> </a:t>
            </a:r>
            <a:r>
              <a:rPr dirty="0" err="1"/>
              <a:t>کنید</a:t>
            </a:r>
            <a:r>
              <a:rPr dirty="0"/>
              <a:t>. </a:t>
            </a:r>
            <a:r>
              <a:rPr dirty="0" err="1"/>
              <a:t>اگر</a:t>
            </a:r>
            <a:r>
              <a:rPr dirty="0"/>
              <a:t> </a:t>
            </a:r>
            <a:r>
              <a:rPr dirty="0" err="1"/>
              <a:t>خروجی</a:t>
            </a:r>
            <a:r>
              <a:rPr dirty="0"/>
              <a:t> </a:t>
            </a:r>
            <a:r>
              <a:rPr dirty="0" err="1"/>
              <a:t>نهایی</a:t>
            </a:r>
            <a:r>
              <a:rPr dirty="0"/>
              <a:t> </a:t>
            </a:r>
            <a:r>
              <a:rPr dirty="0" err="1"/>
              <a:t>خوب</a:t>
            </a:r>
            <a:r>
              <a:rPr dirty="0"/>
              <a:t> </a:t>
            </a:r>
            <a:r>
              <a:rPr dirty="0" err="1"/>
              <a:t>نبود</a:t>
            </a:r>
            <a:r>
              <a:rPr dirty="0"/>
              <a:t>، </a:t>
            </a:r>
            <a:r>
              <a:rPr dirty="0" err="1"/>
              <a:t>می‌دانید</a:t>
            </a:r>
            <a:r>
              <a:rPr dirty="0"/>
              <a:t> </a:t>
            </a:r>
            <a:r>
              <a:rPr dirty="0" err="1"/>
              <a:t>مشکل</a:t>
            </a:r>
            <a:r>
              <a:rPr dirty="0"/>
              <a:t> </a:t>
            </a:r>
            <a:r>
              <a:rPr dirty="0" err="1"/>
              <a:t>از</a:t>
            </a:r>
            <a:r>
              <a:rPr dirty="0"/>
              <a:t> </a:t>
            </a:r>
            <a:r>
              <a:rPr dirty="0" err="1"/>
              <a:t>کدام</a:t>
            </a:r>
            <a:r>
              <a:rPr dirty="0"/>
              <a:t> </a:t>
            </a:r>
            <a:r>
              <a:rPr dirty="0" err="1"/>
              <a:t>مرحله</a:t>
            </a:r>
            <a:r>
              <a:rPr dirty="0"/>
              <a:t> </a:t>
            </a:r>
            <a:r>
              <a:rPr dirty="0" err="1"/>
              <a:t>است</a:t>
            </a:r>
            <a:r>
              <a:rPr dirty="0"/>
              <a:t> و </a:t>
            </a:r>
            <a:r>
              <a:rPr dirty="0" err="1"/>
              <a:t>همان</a:t>
            </a:r>
            <a:r>
              <a:rPr dirty="0"/>
              <a:t> </a:t>
            </a:r>
            <a:r>
              <a:rPr dirty="0" err="1"/>
              <a:t>مرحله</a:t>
            </a:r>
            <a:r>
              <a:rPr dirty="0"/>
              <a:t> </a:t>
            </a:r>
            <a:r>
              <a:rPr dirty="0" err="1"/>
              <a:t>را</a:t>
            </a:r>
            <a:r>
              <a:rPr dirty="0"/>
              <a:t> </a:t>
            </a:r>
            <a:r>
              <a:rPr dirty="0" err="1"/>
              <a:t>اصلاح</a:t>
            </a:r>
            <a:r>
              <a:rPr dirty="0"/>
              <a:t> </a:t>
            </a:r>
            <a:r>
              <a:rPr dirty="0" err="1"/>
              <a:t>می‌کنید</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فصل ۸ یکی از حیاتی‌ترین فصل‌هاست، چون درباره بزرگ‌ترین نقطه‌ضعف هوش مصنوعی صحبت می‌کند: هالوسینیشن (Hallucination) یا همان «توهم / با اعتماد‌به‌نفس دروغ گفتن!»</a:t>
            </a:r>
          </a:p>
          <a:p>
            <a:endParaRPr/>
          </a:p>
          <a:p>
            <a:r>
              <a:t>بیایید خیلی ریشه‌ای و کاربردی بررسیش کنیم:</a:t>
            </a:r>
          </a:p>
          <a:p>
            <a:endParaRPr/>
          </a:p>
          <a:p>
            <a:r>
              <a:t>۱. اصلاً چرا هوش مصنوعی توهم می‌زند؟</a:t>
            </a:r>
          </a:p>
          <a:p>
            <a:r>
              <a:t>هوش مصنوعی مثل یک دانش‌آموز خجالتی ولی بسیار مؤدب است که هدف اصلی‌اش «خوشحال کردن و کمک به شما» است. وقتی از او سؤالی می‌پرسید که پاسخش را دقیقاً نمی‌داند یا در متن وجود ندارد، پیش‌فرض ذهنی‌اش این است:</a:t>
            </a:r>
          </a:p>
          <a:p>
            <a:endParaRPr/>
          </a:p>
          <a:p>
            <a:r>
              <a:t>«اگه بگم نمی‌دونم، کاربر ناراحت میشه! بذار حدس بزنم یا از خودم یه چیزی سرهم کنم که طبیعی به نظر بیاد!»</a:t>
            </a:r>
          </a:p>
          <a:p>
            <a:endParaRPr/>
          </a:p>
          <a:p>
            <a:r>
              <a:t>فصل ۸ دقیقاً به ما یاد می‌دهد چطور جلوی این رفتار را بگیریم. این فصل دو تکنیک اصلی و یک تنظیم فنی دارد:</a:t>
            </a:r>
          </a:p>
          <a:p>
            <a:endParaRPr/>
          </a:p>
          <a:p>
            <a:r>
              <a:t>۲. تکنیک اول: «راه فرار باز گذاشتن» (Giving an Out)</a:t>
            </a:r>
          </a:p>
          <a:p>
            <a:r>
              <a:t>ساده‌ترین و قدرتمندترین روش برای جلوگیری از دروغ‌گویی مدل: به او رسماً اجازه دهید که بگوید «نمی‌دانم»!</a:t>
            </a:r>
          </a:p>
          <a:p>
            <a:endParaRPr/>
          </a:p>
          <a:p>
            <a:r>
              <a:t>❌ حالت عادی (توهم می‌زند):</a:t>
            </a:r>
          </a:p>
          <a:p>
            <a:r>
              <a:t>سؤال شما: «سنگین‌ترین اسب آبی ثبت‌شده در تاریخ کی و کجا متولد شد؟»</a:t>
            </a:r>
          </a:p>
          <a:p>
            <a:r>
              <a:t>پاسخ مدل: نام یک باغ‌وحش خیالی و یک عدد ساختگی (مثلاً ۳۵۰۰ کیلوگرم) تولید می‌کند، چون سعی دارد حتماً جوابی تحویل دهد!</a:t>
            </a:r>
          </a:p>
          <a:p>
            <a:r>
              <a:t>✅ با راه فرار (حقیقت را می‌گوید):</a:t>
            </a:r>
          </a:p>
          <a:p>
            <a:r>
              <a:t>پرامپت اصلاح‌شده:</a:t>
            </a:r>
          </a:p>
          <a:p>
            <a:r>
              <a:t>«سنگین‌ترین اسب آبی ثبت‌شده در تاریخ چه وزنی داشته؟ تنها در صورتی پاسخ بده که با قطعیت ۱۰۰٪ جواب را بدانی. اگر اطلاعات دقیقی وجود ندارد، صریحاً بگو نمی‌دانم.»</a:t>
            </a:r>
          </a:p>
          <a:p>
            <a:endParaRPr/>
          </a:p>
          <a:p>
            <a:r>
              <a:t>پاسخ مدل: «اطلاعات قطعی و موثقی در مورد سنگین‌ترین اسب آبی با وزن دقیق در اسناد تاریخی ثبت نشده است.»</a:t>
            </a:r>
          </a:p>
          <a:p>
            <a:r>
              <a:t>💡 مثال تمرین کتاب (آلبوم بیانسه):</a:t>
            </a:r>
          </a:p>
          <a:p>
            <a:r>
              <a:t>در تمرین ۸.۱ پرسیده شده: «هشتمین آلبوم استودیویی بیانسه در چه سالی منتشر شد؟» (در زمان ضبط این آموزش، بیانسه فقط ۷ آلبوم منتشر کرده بود و آلبوم هشتمی وجود نداشت!) اگر به مدل نگویید «می‌توانی بگی وجود ندارد»، او یک سال فرضی (مثل ۲۰۲۲ یا ۲۰۲۴) اختراع می‌کند! اما با افزودن جمله «اگر چنین آلبومی وجود ندارد، اعلام کن»، دست از دروغ‌گویی برمی‌دارد.</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۳. تکنیک دوم: «اول مدرک بیار، بعد حکم بده» (Evidence Extraction)</a:t>
            </a:r>
          </a:p>
          <a:p>
            <a:r>
              <a:t>این مشکل زمانی پیش می‌آید که شما یک متن، PDF یا قرارداد طولانی به کلود می‌دهید. مدل وقتی به سؤال نگاه می‌کند، در متن چشمش به کلمات یا تاریخ‌های مشابه می‌افتد (اطلاعات گمراه‌کننده یا Distractor) و آن‌ها را به عنوان جواب به شما تحویل می‌دهد.</a:t>
            </a:r>
          </a:p>
          <a:p>
            <a:endParaRPr/>
          </a:p>
          <a:p>
            <a:r>
              <a:t>💡 مثال واقعی از فایل مالی شرکت Matterport (در درس):</a:t>
            </a:r>
          </a:p>
          <a:p>
            <a:r>
              <a:t>سؤال شما: «تعداد مشترکین این شرکت دقیقاً در تاریخ ۳۱ می ۲۰۲۰ چقدر بوده؟»</a:t>
            </a:r>
          </a:p>
          <a:p>
            <a:r>
              <a:t>در متن طولانی گزارش:</a:t>
            </a:r>
          </a:p>
          <a:p>
            <a:r>
              <a:t>تاریخ «می ۲۰۲۰» برای عرضه یک اپلیکیشن ذکر شده.</a:t>
            </a:r>
          </a:p>
          <a:p>
            <a:r>
              <a:t>آمار مشترکین فقط برای «دسامبر ۲۰۲۱» و «دسامبر ۲۰۲۲» ذکر شده.</a:t>
            </a:r>
          </a:p>
          <a:p>
            <a:r>
              <a:t>خطای مدل: چون تاریخ «می ۲۰۲۰» و کلمه «مشترکین» را جایی در متن دیده، گیج می‌شود و عددی را به اشتباه به آن تاریخ ربط می‌دهد!</a:t>
            </a:r>
          </a:p>
          <a:p>
            <a:r>
              <a:t>✅ راه‌حل: متد دو مرحله‌ای (تگ Scratchpad)</a:t>
            </a:r>
          </a:p>
          <a:p>
            <a:r>
              <a:t>به کلود دستور می‌دهید که قبل از جواب دادن، اول عین جمله متن را کپی کند:</a:t>
            </a:r>
          </a:p>
          <a:p>
            <a:endParaRPr/>
          </a:p>
          <a:p>
            <a:r>
              <a:t>پرامپت درست: «متن زیر را بخوان و به سؤال پاسخ بده. ابتدا داخل تگ &lt;scratchpad&gt; مرتبط‌ترین جمله‌ای که از متن پیدا می‌کنی را دقیقاً نقل‌قول کن و بررسی کن که آیا واقعاً جواب سؤال را دارد یا نه. سپس پاسخ نهایی را در &lt;answer&gt; بنویس. اگر اطلاعات کافی نیست بگو اطلاعات کافی وجود ندارد.»</a:t>
            </a:r>
          </a:p>
          <a:p>
            <a:endParaRPr/>
          </a:p>
          <a:p>
            <a:r>
              <a:t>نتیجه این ترفند: کلود وقتی مجبور می‌شود اول متن را نقل‌قول کند و بررسی‌اش کند، خودش در همان پیش‌نویس (&lt;scratchpad&gt;) متوجه می‌شود که: «صبر کن! این جمله فقط تاریخ انتشار اپلیکیشن است و ربطی به تعداد مشترکین در آن تاریخ ندارد!» و در نتیجه توهم نمی‌زند.</a:t>
            </a:r>
          </a:p>
          <a:p>
            <a:endParaRPr/>
          </a:p>
          <a:p>
            <a:r>
              <a:t>۴. نکته بونوس: تنظیم درجه حرارت (Temperature = 0)</a:t>
            </a:r>
          </a:p>
          <a:p>
            <a:r>
              <a:t>پارامتر Temperature میزان خلاقیت و تصادفی بودن پاسخ‌ها را مشخص می‌کند (عددی بین ۰ تا ۱):</a:t>
            </a:r>
          </a:p>
          <a:p>
            <a:endParaRPr/>
          </a:p>
          <a:p>
            <a:r>
              <a:t>دمای بالا (مثلاً ۰.۸ یا ۱): برای نوشتن داستان، شعر و ایده‌پردازی عالی است، اما احتمال دروغ و توهم بسیار بالاست.</a:t>
            </a:r>
          </a:p>
          <a:p>
            <a:r>
              <a:t>دمای صفر (Temperature = 0): خلاقیت را قطع می‌کند و کلود را تبدیل به یک ماشین منطقی و حسابگر می‌کند که فقط به فکت‌ها می‌چسبد. (در کارهای تحلیلی، استخراج داده و مالی همیشه باید دما روی ۰ باشد).</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webp"/><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webp"/><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webp"/><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webp"/><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914400" y="-914400"/>
            <a:ext cx="3657600" cy="3657600"/>
          </a:xfrm>
          <a:prstGeom prst="roundRect">
            <a:avLst>
              <a:gd name="adj" fmla="val 4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0" y="-1371600"/>
            <a:ext cx="3657600" cy="36576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0" y="4572000"/>
            <a:ext cx="3657600" cy="36576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1645920"/>
            <a:ext cx="9144000" cy="1097280"/>
          </a:xfrm>
          <a:prstGeom prst="rect">
            <a:avLst/>
          </a:prstGeom>
          <a:noFill/>
        </p:spPr>
        <p:txBody>
          <a:bodyPr wrap="square">
            <a:spAutoFit/>
          </a:bodyPr>
          <a:lstStyle/>
          <a:p>
            <a:pPr algn="l">
              <a:defRPr sz="5200" b="1">
                <a:solidFill>
                  <a:srgbClr val="FFFFFF"/>
                </a:solidFill>
                <a:latin typeface="Segoe UI"/>
              </a:defRPr>
            </a:pPr>
            <a:r>
              <a:t>Prompt Engineering</a:t>
            </a:r>
          </a:p>
        </p:txBody>
      </p:sp>
      <p:sp>
        <p:nvSpPr>
          <p:cNvPr id="6" name="Rectangle 5"/>
          <p:cNvSpPr/>
          <p:nvPr/>
        </p:nvSpPr>
        <p:spPr>
          <a:xfrm>
            <a:off x="1371600" y="2788920"/>
            <a:ext cx="27432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2926080"/>
            <a:ext cx="9144000" cy="731520"/>
          </a:xfrm>
          <a:prstGeom prst="rect">
            <a:avLst/>
          </a:prstGeom>
          <a:noFill/>
        </p:spPr>
        <p:txBody>
          <a:bodyPr wrap="square">
            <a:spAutoFit/>
          </a:bodyPr>
          <a:lstStyle/>
          <a:p>
            <a:pPr algn="l">
              <a:defRPr sz="3000" b="0">
                <a:solidFill>
                  <a:srgbClr val="22D3EE"/>
                </a:solidFill>
                <a:latin typeface="Segoe UI"/>
              </a:defRPr>
            </a:pPr>
            <a:r>
              <a:t>Unlock Your LLM's Full Potential</a:t>
            </a:r>
          </a:p>
        </p:txBody>
      </p:sp>
      <p:sp>
        <p:nvSpPr>
          <p:cNvPr id="8" name="TextBox 7"/>
          <p:cNvSpPr txBox="1"/>
          <p:nvPr/>
        </p:nvSpPr>
        <p:spPr>
          <a:xfrm>
            <a:off x="1371600" y="3749039"/>
            <a:ext cx="9144000" cy="369332"/>
          </a:xfrm>
          <a:prstGeom prst="rect">
            <a:avLst/>
          </a:prstGeom>
          <a:noFill/>
        </p:spPr>
        <p:txBody>
          <a:bodyPr wrap="square">
            <a:spAutoFit/>
          </a:bodyPr>
          <a:lstStyle/>
          <a:p>
            <a:pPr algn="l">
              <a:defRPr sz="1800" b="0">
                <a:solidFill>
                  <a:srgbClr val="94A3B8"/>
                </a:solidFill>
                <a:latin typeface="Segoe UI"/>
              </a:defRPr>
            </a:pPr>
            <a:r>
              <a:rPr lang="en-US" dirty="0"/>
              <a:t>Two</a:t>
            </a:r>
            <a:r>
              <a:rPr dirty="0"/>
              <a:t>-Hour Practical Workshop  ·  </a:t>
            </a:r>
            <a:r>
              <a:rPr lang="en-US" dirty="0"/>
              <a:t>7</a:t>
            </a:r>
            <a:r>
              <a:rPr dirty="0"/>
              <a:t> Hands-On Labs</a:t>
            </a:r>
          </a:p>
        </p:txBody>
      </p:sp>
      <p:sp>
        <p:nvSpPr>
          <p:cNvPr id="9" name="Rounded Rectangle 8"/>
          <p:cNvSpPr/>
          <p:nvPr/>
        </p:nvSpPr>
        <p:spPr>
          <a:xfrm>
            <a:off x="1371600" y="4846320"/>
            <a:ext cx="21031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08760" y="4983480"/>
            <a:ext cx="1828800" cy="323165"/>
          </a:xfrm>
          <a:prstGeom prst="rect">
            <a:avLst/>
          </a:prstGeom>
          <a:noFill/>
        </p:spPr>
        <p:txBody>
          <a:bodyPr wrap="square">
            <a:spAutoFit/>
          </a:bodyPr>
          <a:lstStyle/>
          <a:p>
            <a:pPr algn="l">
              <a:defRPr sz="1500" b="0">
                <a:solidFill>
                  <a:srgbClr val="38BDF8"/>
                </a:solidFill>
                <a:latin typeface="Segoe UI"/>
              </a:defRPr>
            </a:pPr>
            <a:r>
              <a:rPr dirty="0"/>
              <a:t>🧪  </a:t>
            </a:r>
            <a:r>
              <a:rPr lang="en-US" dirty="0"/>
              <a:t>7</a:t>
            </a:r>
            <a:r>
              <a:rPr dirty="0"/>
              <a:t> Labs</a:t>
            </a:r>
          </a:p>
        </p:txBody>
      </p:sp>
      <p:sp>
        <p:nvSpPr>
          <p:cNvPr id="11" name="Rounded Rectangle 10"/>
          <p:cNvSpPr/>
          <p:nvPr/>
        </p:nvSpPr>
        <p:spPr>
          <a:xfrm>
            <a:off x="3840480" y="4846320"/>
            <a:ext cx="21031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977640" y="4983480"/>
            <a:ext cx="1828800" cy="323165"/>
          </a:xfrm>
          <a:prstGeom prst="rect">
            <a:avLst/>
          </a:prstGeom>
          <a:noFill/>
        </p:spPr>
        <p:txBody>
          <a:bodyPr wrap="square">
            <a:spAutoFit/>
          </a:bodyPr>
          <a:lstStyle/>
          <a:p>
            <a:pPr algn="l">
              <a:defRPr sz="1500" b="0">
                <a:solidFill>
                  <a:srgbClr val="38BDF8"/>
                </a:solidFill>
                <a:latin typeface="Segoe UI"/>
              </a:defRPr>
            </a:pPr>
            <a:r>
              <a:rPr dirty="0"/>
              <a:t>⏱  </a:t>
            </a:r>
            <a:r>
              <a:rPr lang="en-US" dirty="0"/>
              <a:t>2</a:t>
            </a:r>
            <a:r>
              <a:rPr dirty="0"/>
              <a:t> Hours</a:t>
            </a:r>
          </a:p>
        </p:txBody>
      </p:sp>
      <p:sp>
        <p:nvSpPr>
          <p:cNvPr id="13" name="Rounded Rectangle 12"/>
          <p:cNvSpPr/>
          <p:nvPr/>
        </p:nvSpPr>
        <p:spPr>
          <a:xfrm>
            <a:off x="6309360" y="4846320"/>
            <a:ext cx="21031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4983480"/>
            <a:ext cx="1828800" cy="457200"/>
          </a:xfrm>
          <a:prstGeom prst="rect">
            <a:avLst/>
          </a:prstGeom>
          <a:noFill/>
        </p:spPr>
        <p:txBody>
          <a:bodyPr wrap="square">
            <a:spAutoFit/>
          </a:bodyPr>
          <a:lstStyle/>
          <a:p>
            <a:pPr algn="l">
              <a:defRPr sz="1500" b="0">
                <a:solidFill>
                  <a:srgbClr val="38BDF8"/>
                </a:solidFill>
                <a:latin typeface="Segoe UI"/>
              </a:defRPr>
            </a:pPr>
            <a:r>
              <a:t>🎯  Score ≥ 70</a:t>
            </a:r>
          </a:p>
        </p:txBody>
      </p:sp>
      <p:sp>
        <p:nvSpPr>
          <p:cNvPr id="15" name="Rounded Rectangle 14"/>
          <p:cNvSpPr/>
          <p:nvPr/>
        </p:nvSpPr>
        <p:spPr>
          <a:xfrm>
            <a:off x="8787667" y="4846320"/>
            <a:ext cx="21031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15400" y="4983480"/>
            <a:ext cx="1828800" cy="457200"/>
          </a:xfrm>
          <a:prstGeom prst="rect">
            <a:avLst/>
          </a:prstGeom>
          <a:noFill/>
        </p:spPr>
        <p:txBody>
          <a:bodyPr wrap="square">
            <a:spAutoFit/>
          </a:bodyPr>
          <a:lstStyle/>
          <a:p>
            <a:pPr algn="l">
              <a:defRPr sz="1500" b="0">
                <a:solidFill>
                  <a:srgbClr val="38BDF8"/>
                </a:solidFill>
                <a:latin typeface="Segoe UI"/>
              </a:defRPr>
            </a:pPr>
            <a:r>
              <a:t>📓  Prompt Journal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2286000" y="731520"/>
            <a:ext cx="7589520" cy="5303520"/>
          </a:xfrm>
          <a:prstGeom prst="roundRect">
            <a:avLst>
              <a:gd name="adj" fmla="val 4000"/>
            </a:avLst>
          </a:prstGeom>
          <a:solidFill>
            <a:srgbClr val="1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2286000" y="731520"/>
            <a:ext cx="7589520" cy="63500"/>
          </a:xfrm>
          <a:prstGeom prst="roundRect">
            <a:avLst>
              <a:gd name="adj" fmla="val 4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0" y="1097280"/>
            <a:ext cx="7589520" cy="1097280"/>
          </a:xfrm>
          <a:prstGeom prst="rect">
            <a:avLst/>
          </a:prstGeom>
          <a:noFill/>
        </p:spPr>
        <p:txBody>
          <a:bodyPr wrap="square">
            <a:spAutoFit/>
          </a:bodyPr>
          <a:lstStyle/>
          <a:p>
            <a:pPr algn="ctr">
              <a:defRPr sz="7200" b="0">
                <a:solidFill>
                  <a:srgbClr val="F87171"/>
                </a:solidFill>
                <a:latin typeface="Segoe UI"/>
              </a:defRPr>
            </a:pPr>
            <a:r>
              <a:t>🚫</a:t>
            </a:r>
          </a:p>
        </p:txBody>
      </p:sp>
      <p:sp>
        <p:nvSpPr>
          <p:cNvPr id="5" name="TextBox 4"/>
          <p:cNvSpPr txBox="1"/>
          <p:nvPr/>
        </p:nvSpPr>
        <p:spPr>
          <a:xfrm>
            <a:off x="2286000" y="2194560"/>
            <a:ext cx="7589520" cy="731520"/>
          </a:xfrm>
          <a:prstGeom prst="rect">
            <a:avLst/>
          </a:prstGeom>
          <a:noFill/>
        </p:spPr>
        <p:txBody>
          <a:bodyPr wrap="square">
            <a:spAutoFit/>
          </a:bodyPr>
          <a:lstStyle/>
          <a:p>
            <a:pPr algn="ctr">
              <a:defRPr sz="4000" b="1">
                <a:solidFill>
                  <a:srgbClr val="F87171"/>
                </a:solidFill>
                <a:latin typeface="Segoe UI"/>
              </a:defRPr>
            </a:pPr>
            <a:r>
              <a:t>Workshop Ground Rule</a:t>
            </a:r>
          </a:p>
        </p:txBody>
      </p:sp>
      <p:sp>
        <p:nvSpPr>
          <p:cNvPr id="6" name="Rectangle 5"/>
          <p:cNvSpPr/>
          <p:nvPr/>
        </p:nvSpPr>
        <p:spPr>
          <a:xfrm>
            <a:off x="4572000" y="2971800"/>
            <a:ext cx="3017520" cy="508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86000" y="3200400"/>
            <a:ext cx="7589520" cy="914400"/>
          </a:xfrm>
          <a:prstGeom prst="rect">
            <a:avLst/>
          </a:prstGeom>
          <a:noFill/>
        </p:spPr>
        <p:txBody>
          <a:bodyPr wrap="square">
            <a:spAutoFit/>
          </a:bodyPr>
          <a:lstStyle/>
          <a:p>
            <a:pPr algn="ctr">
              <a:defRPr sz="2800" b="1">
                <a:solidFill>
                  <a:srgbClr val="FFFFFF"/>
                </a:solidFill>
                <a:latin typeface="Segoe UI"/>
              </a:defRPr>
            </a:pPr>
            <a:r>
              <a:t>Do NOT use any AI model to write your exercises.</a:t>
            </a:r>
          </a:p>
        </p:txBody>
      </p:sp>
      <p:sp>
        <p:nvSpPr>
          <p:cNvPr id="8" name="TextBox 7"/>
          <p:cNvSpPr txBox="1"/>
          <p:nvPr/>
        </p:nvSpPr>
        <p:spPr>
          <a:xfrm>
            <a:off x="2286000" y="4023360"/>
            <a:ext cx="7589520" cy="548640"/>
          </a:xfrm>
          <a:prstGeom prst="rect">
            <a:avLst/>
          </a:prstGeom>
          <a:noFill/>
        </p:spPr>
        <p:txBody>
          <a:bodyPr wrap="square">
            <a:spAutoFit/>
          </a:bodyPr>
          <a:lstStyle/>
          <a:p>
            <a:pPr algn="ctr">
              <a:defRPr sz="2200" b="0">
                <a:solidFill>
                  <a:srgbClr val="FBBF24"/>
                </a:solidFill>
                <a:latin typeface="Segoe UI"/>
              </a:defRPr>
            </a:pPr>
            <a:r>
              <a:t>Write every prompt by yourself — that's the whole point! ✍️</a:t>
            </a:r>
          </a:p>
        </p:txBody>
      </p:sp>
      <p:sp>
        <p:nvSpPr>
          <p:cNvPr id="9" name="Rounded Rectangle 8"/>
          <p:cNvSpPr/>
          <p:nvPr/>
        </p:nvSpPr>
        <p:spPr>
          <a:xfrm>
            <a:off x="2743200" y="4754880"/>
            <a:ext cx="6675120" cy="9144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0" y="4846320"/>
            <a:ext cx="6309360" cy="731520"/>
          </a:xfrm>
          <a:prstGeom prst="rect">
            <a:avLst/>
          </a:prstGeom>
          <a:noFill/>
        </p:spPr>
        <p:txBody>
          <a:bodyPr wrap="square">
            <a:spAutoFit/>
          </a:bodyPr>
          <a:lstStyle/>
          <a:p>
            <a:pPr algn="ctr">
              <a:defRPr sz="1500" b="0">
                <a:solidFill>
                  <a:srgbClr val="94A3B8"/>
                </a:solidFill>
                <a:latin typeface="Segoe UI"/>
              </a:defRPr>
            </a:pPr>
            <a:r>
              <a:t>🧠  This workshop is about building YOUR prompt-writing skills.</a:t>
            </a:r>
            <a:br/>
            <a:r>
              <a:t>      Letting an AI do it defeats the purpose and won't help you learn.</a:t>
            </a:r>
          </a:p>
        </p:txBody>
      </p:sp>
      <p:sp>
        <p:nvSpPr>
          <p:cNvPr id="11" name="Oval 10"/>
          <p:cNvSpPr/>
          <p:nvPr/>
        </p:nvSpPr>
        <p:spPr>
          <a:xfrm>
            <a:off x="-457200" y="1371600"/>
            <a:ext cx="2743200" cy="2743200"/>
          </a:xfrm>
          <a:prstGeom prst="ellipse">
            <a:avLst/>
          </a:prstGeom>
          <a:solidFill>
            <a:srgbClr val="2D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0320771E-BC19-8FBE-3BF3-3F85BA5FCA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6A0B90-7D59-8768-0F91-BB2797CCFAF3}"/>
              </a:ext>
            </a:extLst>
          </p:cNvPr>
          <p:cNvSpPr txBox="1"/>
          <p:nvPr/>
        </p:nvSpPr>
        <p:spPr>
          <a:xfrm>
            <a:off x="731520" y="365760"/>
            <a:ext cx="10058400" cy="523220"/>
          </a:xfrm>
          <a:prstGeom prst="rect">
            <a:avLst/>
          </a:prstGeom>
          <a:noFill/>
        </p:spPr>
        <p:txBody>
          <a:bodyPr wrap="square">
            <a:spAutoFit/>
          </a:bodyPr>
          <a:lstStyle/>
          <a:p>
            <a:pPr algn="l">
              <a:defRPr sz="3600" b="1">
                <a:solidFill>
                  <a:srgbClr val="FFFFFF"/>
                </a:solidFill>
                <a:latin typeface="Segoe UI"/>
              </a:defRPr>
            </a:pPr>
            <a:r>
              <a:rPr sz="2800" dirty="0"/>
              <a:t>The Same Model. Two Completely Different Results.</a:t>
            </a:r>
          </a:p>
        </p:txBody>
      </p:sp>
      <p:sp>
        <p:nvSpPr>
          <p:cNvPr id="3" name="Rectangle 2">
            <a:extLst>
              <a:ext uri="{FF2B5EF4-FFF2-40B4-BE49-F238E27FC236}">
                <a16:creationId xmlns:a16="http://schemas.microsoft.com/office/drawing/2014/main" id="{9473EEE7-15A8-CC2D-D0BF-8269A5BE682C}"/>
              </a:ext>
            </a:extLst>
          </p:cNvPr>
          <p:cNvSpPr/>
          <p:nvPr/>
        </p:nvSpPr>
        <p:spPr>
          <a:xfrm>
            <a:off x="731520" y="1000760"/>
            <a:ext cx="45720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2E6C82E-09EF-C0DD-0F2B-E185FE12297C}"/>
              </a:ext>
            </a:extLst>
          </p:cNvPr>
          <p:cNvSpPr txBox="1"/>
          <p:nvPr/>
        </p:nvSpPr>
        <p:spPr>
          <a:xfrm>
            <a:off x="627826" y="1136873"/>
            <a:ext cx="10058400" cy="457200"/>
          </a:xfrm>
          <a:prstGeom prst="rect">
            <a:avLst/>
          </a:prstGeom>
          <a:noFill/>
        </p:spPr>
        <p:txBody>
          <a:bodyPr wrap="square">
            <a:spAutoFit/>
          </a:bodyPr>
          <a:lstStyle/>
          <a:p>
            <a:pPr algn="l">
              <a:defRPr sz="1600" b="0">
                <a:solidFill>
                  <a:srgbClr val="94A3B8"/>
                </a:solidFill>
                <a:latin typeface="Segoe UI"/>
              </a:defRPr>
            </a:pPr>
            <a:r>
              <a:rPr dirty="0"/>
              <a:t>"Most people are leaving 80% of an LLM's capability on the table."</a:t>
            </a:r>
          </a:p>
        </p:txBody>
      </p:sp>
      <p:sp>
        <p:nvSpPr>
          <p:cNvPr id="5" name="Rounded Rectangle 4">
            <a:extLst>
              <a:ext uri="{FF2B5EF4-FFF2-40B4-BE49-F238E27FC236}">
                <a16:creationId xmlns:a16="http://schemas.microsoft.com/office/drawing/2014/main" id="{8CFBF875-AE40-FA1B-F5AE-2133CD715A6E}"/>
              </a:ext>
            </a:extLst>
          </p:cNvPr>
          <p:cNvSpPr/>
          <p:nvPr/>
        </p:nvSpPr>
        <p:spPr>
          <a:xfrm>
            <a:off x="499621" y="1508289"/>
            <a:ext cx="11406433" cy="5222449"/>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2889F18-DD01-34EF-4DBC-B6FAE566C735}"/>
              </a:ext>
            </a:extLst>
          </p:cNvPr>
          <p:cNvSpPr txBox="1"/>
          <p:nvPr/>
        </p:nvSpPr>
        <p:spPr>
          <a:xfrm>
            <a:off x="4425571" y="1529060"/>
            <a:ext cx="4572000" cy="457200"/>
          </a:xfrm>
          <a:prstGeom prst="rect">
            <a:avLst/>
          </a:prstGeom>
          <a:noFill/>
        </p:spPr>
        <p:txBody>
          <a:bodyPr wrap="square">
            <a:spAutoFit/>
          </a:bodyPr>
          <a:lstStyle/>
          <a:p>
            <a:pPr algn="l">
              <a:defRPr sz="2000" b="1">
                <a:solidFill>
                  <a:srgbClr val="F87171"/>
                </a:solidFill>
                <a:latin typeface="Segoe UI"/>
              </a:defRPr>
            </a:pPr>
            <a:r>
              <a:rPr dirty="0"/>
              <a:t>❌  Bad Prompt</a:t>
            </a:r>
          </a:p>
        </p:txBody>
      </p:sp>
      <p:sp>
        <p:nvSpPr>
          <p:cNvPr id="7" name="Rounded Rectangle 6">
            <a:extLst>
              <a:ext uri="{FF2B5EF4-FFF2-40B4-BE49-F238E27FC236}">
                <a16:creationId xmlns:a16="http://schemas.microsoft.com/office/drawing/2014/main" id="{44410F1C-91F8-9614-88EE-85366BFC9C00}"/>
              </a:ext>
            </a:extLst>
          </p:cNvPr>
          <p:cNvSpPr/>
          <p:nvPr/>
        </p:nvSpPr>
        <p:spPr>
          <a:xfrm>
            <a:off x="1642149" y="1965489"/>
            <a:ext cx="8851769" cy="914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defRPr sz="1400">
                <a:solidFill>
                  <a:srgbClr val="4ADE80"/>
                </a:solidFill>
                <a:latin typeface="Cascadia Code"/>
              </a:defRPr>
            </a:pPr>
            <a:r>
              <a:rPr lang="en-US" sz="1400" dirty="0"/>
              <a:t>"Write an email to a professor asking him to be my advisor. Tell him I am very talented, smart, and hardworking."</a:t>
            </a:r>
            <a:endParaRPr dirty="0"/>
          </a:p>
        </p:txBody>
      </p:sp>
      <p:sp>
        <p:nvSpPr>
          <p:cNvPr id="8" name="TextBox 7">
            <a:extLst>
              <a:ext uri="{FF2B5EF4-FFF2-40B4-BE49-F238E27FC236}">
                <a16:creationId xmlns:a16="http://schemas.microsoft.com/office/drawing/2014/main" id="{EB2F6497-55CD-A936-D32A-2428A969429B}"/>
              </a:ext>
            </a:extLst>
          </p:cNvPr>
          <p:cNvSpPr txBox="1"/>
          <p:nvPr/>
        </p:nvSpPr>
        <p:spPr>
          <a:xfrm>
            <a:off x="499621" y="2942202"/>
            <a:ext cx="11136826" cy="2339102"/>
          </a:xfrm>
          <a:prstGeom prst="rect">
            <a:avLst/>
          </a:prstGeom>
          <a:noFill/>
        </p:spPr>
        <p:txBody>
          <a:bodyPr wrap="square">
            <a:spAutoFit/>
          </a:bodyPr>
          <a:lstStyle/>
          <a:p>
            <a:pPr>
              <a:spcBef>
                <a:spcPts val="400"/>
              </a:spcBef>
              <a:spcAft>
                <a:spcPts val="400"/>
              </a:spcAft>
              <a:defRPr sz="1300" b="0">
                <a:solidFill>
                  <a:srgbClr val="E2E8F0"/>
                </a:solidFill>
                <a:latin typeface="Segoe UI"/>
              </a:defRPr>
            </a:pPr>
            <a:r>
              <a:rPr lang="en-US" sz="1300" dirty="0"/>
              <a:t>Dear Professor, My name is [Name] and I am a very talented and smart student. I am looking for an advisor for my thesis and I would like you to be my advisor. I have good grades and I work very hard on my projects. Please let me know if you can advise me. Thank you, [Name]</a:t>
            </a:r>
            <a:endParaRPr lang="fa-IR" dirty="0"/>
          </a:p>
          <a:p>
            <a:pPr algn="l">
              <a:spcBef>
                <a:spcPts val="400"/>
              </a:spcBef>
              <a:spcAft>
                <a:spcPts val="400"/>
              </a:spcAft>
              <a:defRPr sz="1400" b="1">
                <a:solidFill>
                  <a:srgbClr val="F87171"/>
                </a:solidFill>
                <a:latin typeface="Segoe UI"/>
              </a:defRPr>
            </a:pPr>
            <a:endParaRPr lang="fa-IR" dirty="0"/>
          </a:p>
          <a:p>
            <a:pPr algn="l">
              <a:spcBef>
                <a:spcPts val="400"/>
              </a:spcBef>
              <a:spcAft>
                <a:spcPts val="400"/>
              </a:spcAft>
              <a:defRPr sz="1400" b="1">
                <a:solidFill>
                  <a:srgbClr val="F87171"/>
                </a:solidFill>
                <a:latin typeface="Segoe UI"/>
              </a:defRPr>
            </a:pPr>
            <a:r>
              <a:rPr dirty="0"/>
              <a:t>→ Result:</a:t>
            </a:r>
          </a:p>
          <a:p>
            <a:pPr algn="l">
              <a:spcBef>
                <a:spcPts val="400"/>
              </a:spcBef>
              <a:spcAft>
                <a:spcPts val="400"/>
              </a:spcAft>
              <a:defRPr sz="1300" b="0">
                <a:solidFill>
                  <a:srgbClr val="E2E8F0"/>
                </a:solidFill>
                <a:latin typeface="Segoe UI"/>
              </a:defRPr>
            </a:pPr>
            <a:r>
              <a:rPr dirty="0"/>
              <a:t>• Generic marketing fluff</a:t>
            </a:r>
          </a:p>
          <a:p>
            <a:pPr algn="l">
              <a:spcBef>
                <a:spcPts val="400"/>
              </a:spcBef>
              <a:spcAft>
                <a:spcPts val="400"/>
              </a:spcAft>
              <a:defRPr sz="1300" b="0">
                <a:solidFill>
                  <a:srgbClr val="E2E8F0"/>
                </a:solidFill>
                <a:latin typeface="Segoe UI"/>
              </a:defRPr>
            </a:pPr>
            <a:r>
              <a:rPr dirty="0"/>
              <a:t>• Wrong tone and wrong length</a:t>
            </a:r>
          </a:p>
          <a:p>
            <a:pPr algn="l">
              <a:spcBef>
                <a:spcPts val="400"/>
              </a:spcBef>
              <a:spcAft>
                <a:spcPts val="400"/>
              </a:spcAft>
              <a:defRPr sz="1300" b="0">
                <a:solidFill>
                  <a:srgbClr val="E2E8F0"/>
                </a:solidFill>
                <a:latin typeface="Segoe UI"/>
              </a:defRPr>
            </a:pPr>
            <a:r>
              <a:rPr dirty="0"/>
              <a:t>• No clear call to action</a:t>
            </a:r>
          </a:p>
          <a:p>
            <a:pPr algn="l">
              <a:spcBef>
                <a:spcPts val="400"/>
              </a:spcBef>
              <a:spcAft>
                <a:spcPts val="400"/>
              </a:spcAft>
              <a:defRPr sz="1300" b="0">
                <a:solidFill>
                  <a:srgbClr val="E2E8F0"/>
                </a:solidFill>
                <a:latin typeface="Segoe UI"/>
              </a:defRPr>
            </a:pPr>
            <a:r>
              <a:rPr dirty="0"/>
              <a:t>• No audience definition</a:t>
            </a:r>
          </a:p>
        </p:txBody>
      </p:sp>
    </p:spTree>
    <p:extLst>
      <p:ext uri="{BB962C8B-B14F-4D97-AF65-F5344CB8AC3E}">
        <p14:creationId xmlns:p14="http://schemas.microsoft.com/office/powerpoint/2010/main" val="1715469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9" name="Rounded Rectangle 8"/>
          <p:cNvSpPr/>
          <p:nvPr/>
        </p:nvSpPr>
        <p:spPr>
          <a:xfrm>
            <a:off x="61274" y="94269"/>
            <a:ext cx="12069452" cy="5359138"/>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86368" y="99087"/>
            <a:ext cx="4754880" cy="457200"/>
          </a:xfrm>
          <a:prstGeom prst="rect">
            <a:avLst/>
          </a:prstGeom>
          <a:noFill/>
        </p:spPr>
        <p:txBody>
          <a:bodyPr wrap="square">
            <a:spAutoFit/>
          </a:bodyPr>
          <a:lstStyle/>
          <a:p>
            <a:pPr algn="l">
              <a:defRPr sz="2000" b="1">
                <a:solidFill>
                  <a:srgbClr val="4ADE80"/>
                </a:solidFill>
                <a:latin typeface="Segoe UI"/>
              </a:defRPr>
            </a:pPr>
            <a:r>
              <a:rPr dirty="0"/>
              <a:t>✅  Great Prompt</a:t>
            </a:r>
          </a:p>
        </p:txBody>
      </p:sp>
      <p:sp>
        <p:nvSpPr>
          <p:cNvPr id="11" name="Rounded Rectangle 10"/>
          <p:cNvSpPr/>
          <p:nvPr/>
        </p:nvSpPr>
        <p:spPr>
          <a:xfrm>
            <a:off x="0" y="515017"/>
            <a:ext cx="12057197" cy="2514131"/>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r>
              <a:rPr lang="en-US" dirty="0"/>
              <a:t>Act as an expert academic advisor. Draft a cold email to a prospective professor requesting them to be my thesis advisor. </a:t>
            </a:r>
            <a:r>
              <a:rPr lang="en-US" b="1" dirty="0"/>
              <a:t>My Profile:</a:t>
            </a:r>
            <a:r>
              <a:rPr lang="en-US" dirty="0"/>
              <a:t> Senior CS student, 3.9 GPA. Published an undergraduate paper on 'Federated Learning'. Strong Python &amp; </a:t>
            </a:r>
            <a:r>
              <a:rPr lang="en-US" dirty="0" err="1"/>
              <a:t>PyTorch</a:t>
            </a:r>
            <a:r>
              <a:rPr lang="en-US" dirty="0"/>
              <a:t> skills. </a:t>
            </a:r>
            <a:r>
              <a:rPr lang="en-US" b="1" dirty="0"/>
              <a:t>The Professor:</a:t>
            </a:r>
            <a:r>
              <a:rPr lang="en-US" dirty="0"/>
              <a:t> Dr. Ahmadi . He recently published a paper on 'Privacy in Healthcare AI’.</a:t>
            </a:r>
            <a:endParaRPr lang="fa-IR" dirty="0"/>
          </a:p>
          <a:p>
            <a:r>
              <a:rPr lang="en-US" b="1" dirty="0"/>
              <a:t>Structure:</a:t>
            </a:r>
            <a:endParaRPr lang="en-US" dirty="0"/>
          </a:p>
          <a:p>
            <a:r>
              <a:rPr lang="en-US" dirty="0"/>
              <a:t>Hook: Mention his recent paper and what I found interesting about it.</a:t>
            </a:r>
          </a:p>
          <a:p>
            <a:r>
              <a:rPr lang="en-US" dirty="0"/>
              <a:t>Value Proposition (Show, don't tell): Connect my past research in Federated Learning to his current work. Do NOT explicitly say 'I am talented', instead use my achievements to prove it.</a:t>
            </a:r>
          </a:p>
          <a:p>
            <a:r>
              <a:rPr lang="en-US" dirty="0"/>
              <a:t>Call to Action: Ask for a brief 15-minute Zoom call. </a:t>
            </a:r>
            <a:r>
              <a:rPr lang="en-US" b="1" dirty="0"/>
              <a:t>Tone:</a:t>
            </a:r>
            <a:r>
              <a:rPr lang="en-US" dirty="0"/>
              <a:t> Highly respectful, concise, academic, and humble.</a:t>
            </a:r>
          </a:p>
        </p:txBody>
      </p:sp>
      <p:sp>
        <p:nvSpPr>
          <p:cNvPr id="13" name="Rounded Rectangle 10">
            <a:extLst>
              <a:ext uri="{FF2B5EF4-FFF2-40B4-BE49-F238E27FC236}">
                <a16:creationId xmlns:a16="http://schemas.microsoft.com/office/drawing/2014/main" id="{80F65FD4-12B1-CD24-37CA-EA2EEBDD9DBE}"/>
              </a:ext>
            </a:extLst>
          </p:cNvPr>
          <p:cNvSpPr/>
          <p:nvPr/>
        </p:nvSpPr>
        <p:spPr>
          <a:xfrm>
            <a:off x="-1" y="3157979"/>
            <a:ext cx="12057197" cy="3412503"/>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r>
              <a:rPr lang="en-US" dirty="0"/>
              <a:t>Subject: Prospective Student Inquiry / Federated Learning &amp; Privacy in Healthcare AI</a:t>
            </a:r>
          </a:p>
          <a:p>
            <a:r>
              <a:rPr lang="en-US" dirty="0"/>
              <a:t>Dear Dr. Smith,</a:t>
            </a:r>
          </a:p>
          <a:p>
            <a:r>
              <a:rPr lang="en-US" dirty="0"/>
              <a:t>I read your </a:t>
            </a:r>
            <a:r>
              <a:rPr lang="en-US" dirty="0">
                <a:solidFill>
                  <a:srgbClr val="FFFF00"/>
                </a:solidFill>
              </a:rPr>
              <a:t>recent paper </a:t>
            </a:r>
            <a:r>
              <a:rPr lang="en-US" dirty="0"/>
              <a:t>on 'Privacy in Healthcare AI' with great interest. Your approach to mitigating data leakage using differential privacy aligns perfectly with the research direction I hope to pursue for my graduate studies.</a:t>
            </a:r>
          </a:p>
          <a:p>
            <a:r>
              <a:rPr lang="en-US" dirty="0"/>
              <a:t>I am a senior Computer Science student </a:t>
            </a:r>
            <a:r>
              <a:rPr lang="en-US" dirty="0">
                <a:solidFill>
                  <a:srgbClr val="FFFF00"/>
                </a:solidFill>
              </a:rPr>
              <a:t>(GPA: 3.9) </a:t>
            </a:r>
            <a:r>
              <a:rPr lang="en-US" dirty="0"/>
              <a:t>and recently </a:t>
            </a:r>
            <a:r>
              <a:rPr lang="en-US" dirty="0">
                <a:solidFill>
                  <a:srgbClr val="FFFF00"/>
                </a:solidFill>
              </a:rPr>
              <a:t>published a paper on optimizing </a:t>
            </a:r>
            <a:r>
              <a:rPr lang="en-US" dirty="0"/>
              <a:t>Federated Learning frameworks. Given </a:t>
            </a:r>
            <a:r>
              <a:rPr lang="en-US" dirty="0">
                <a:solidFill>
                  <a:srgbClr val="FFFF00"/>
                </a:solidFill>
              </a:rPr>
              <a:t>my strong background in </a:t>
            </a:r>
            <a:r>
              <a:rPr lang="en-US" dirty="0" err="1">
                <a:solidFill>
                  <a:srgbClr val="FFFF00"/>
                </a:solidFill>
              </a:rPr>
              <a:t>PyTorch</a:t>
            </a:r>
            <a:r>
              <a:rPr lang="en-US" dirty="0">
                <a:solidFill>
                  <a:srgbClr val="FFFF00"/>
                </a:solidFill>
              </a:rPr>
              <a:t> </a:t>
            </a:r>
            <a:r>
              <a:rPr lang="en-US" dirty="0"/>
              <a:t>and my prior work on distributed AI models, I believe my skill set could contribute meaningfully </a:t>
            </a:r>
            <a:r>
              <a:rPr lang="en-US" dirty="0">
                <a:solidFill>
                  <a:srgbClr val="FFFF00"/>
                </a:solidFill>
              </a:rPr>
              <a:t>to your ongoing projects</a:t>
            </a:r>
            <a:r>
              <a:rPr lang="en-US" dirty="0"/>
              <a:t>.</a:t>
            </a:r>
          </a:p>
          <a:p>
            <a:r>
              <a:rPr lang="en-US" dirty="0"/>
              <a:t>I am currently seeking a thesis advisor and would be honored to work under your guidance. I have attached my CV for your reference.</a:t>
            </a:r>
          </a:p>
          <a:p>
            <a:r>
              <a:rPr lang="en-US" dirty="0"/>
              <a:t>Would you be open to </a:t>
            </a:r>
            <a:r>
              <a:rPr lang="en-US" dirty="0">
                <a:solidFill>
                  <a:srgbClr val="FFFF00"/>
                </a:solidFill>
              </a:rPr>
              <a:t>a brief 15-minute Zoom call </a:t>
            </a:r>
            <a:r>
              <a:rPr lang="en-US" dirty="0"/>
              <a:t>next week to discuss your lab's upcoming projects and whether I might be a good fit?</a:t>
            </a:r>
          </a:p>
          <a:p>
            <a:r>
              <a:rPr lang="en-US" dirty="0"/>
              <a:t>Thank you for your time and consideration.</a:t>
            </a:r>
          </a:p>
          <a:p>
            <a:r>
              <a:rPr lang="en-US" dirty="0"/>
              <a:t>Sincerely, [Your Name] [Link to Google Scholar / GitHub]"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What Is Prompt Engineering?</a:t>
            </a:r>
          </a:p>
        </p:txBody>
      </p:sp>
      <p:sp>
        <p:nvSpPr>
          <p:cNvPr id="3" name="Rectangle 2"/>
          <p:cNvSpPr/>
          <p:nvPr/>
        </p:nvSpPr>
        <p:spPr>
          <a:xfrm>
            <a:off x="731520" y="100584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10058400" cy="457200"/>
          </a:xfrm>
          <a:prstGeom prst="rect">
            <a:avLst/>
          </a:prstGeom>
          <a:noFill/>
        </p:spPr>
        <p:txBody>
          <a:bodyPr wrap="square">
            <a:spAutoFit/>
          </a:bodyPr>
          <a:lstStyle/>
          <a:p>
            <a:pPr algn="l">
              <a:defRPr sz="1800" b="0">
                <a:solidFill>
                  <a:srgbClr val="E2E8F0"/>
                </a:solidFill>
                <a:latin typeface="Segoe UI"/>
              </a:defRPr>
            </a:pPr>
            <a:r>
              <a:rPr dirty="0"/>
              <a:t>Programming in natural language — you define the task, role, format, and constraints.</a:t>
            </a:r>
          </a:p>
        </p:txBody>
      </p:sp>
      <p:sp>
        <p:nvSpPr>
          <p:cNvPr id="5" name="Rounded Rectangle 4"/>
          <p:cNvSpPr/>
          <p:nvPr/>
        </p:nvSpPr>
        <p:spPr>
          <a:xfrm>
            <a:off x="731520" y="201168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103120"/>
            <a:ext cx="4572000" cy="365760"/>
          </a:xfrm>
          <a:prstGeom prst="rect">
            <a:avLst/>
          </a:prstGeom>
          <a:noFill/>
        </p:spPr>
        <p:txBody>
          <a:bodyPr wrap="square">
            <a:spAutoFit/>
          </a:bodyPr>
          <a:lstStyle/>
          <a:p>
            <a:pPr algn="l">
              <a:defRPr sz="1800" b="1">
                <a:solidFill>
                  <a:srgbClr val="FBBF24"/>
                </a:solidFill>
                <a:latin typeface="Segoe UI"/>
              </a:defRPr>
            </a:pPr>
            <a:r>
              <a:t>⚠️  Vague</a:t>
            </a:r>
          </a:p>
        </p:txBody>
      </p:sp>
      <p:sp>
        <p:nvSpPr>
          <p:cNvPr id="7" name="Rounded Rectangle 6"/>
          <p:cNvSpPr/>
          <p:nvPr/>
        </p:nvSpPr>
        <p:spPr>
          <a:xfrm>
            <a:off x="914400" y="2560320"/>
            <a:ext cx="4663440" cy="64008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400">
                <a:solidFill>
                  <a:srgbClr val="4ADE80"/>
                </a:solidFill>
                <a:latin typeface="Cascadia Code"/>
              </a:defRPr>
            </a:pPr>
            <a:r>
              <a:t>"Help with my essay."</a:t>
            </a:r>
          </a:p>
        </p:txBody>
      </p:sp>
      <p:sp>
        <p:nvSpPr>
          <p:cNvPr id="8" name="TextBox 7"/>
          <p:cNvSpPr txBox="1"/>
          <p:nvPr/>
        </p:nvSpPr>
        <p:spPr>
          <a:xfrm>
            <a:off x="914400" y="3291840"/>
            <a:ext cx="4663440" cy="365760"/>
          </a:xfrm>
          <a:prstGeom prst="rect">
            <a:avLst/>
          </a:prstGeom>
          <a:noFill/>
        </p:spPr>
        <p:txBody>
          <a:bodyPr wrap="square">
            <a:spAutoFit/>
          </a:bodyPr>
          <a:lstStyle/>
          <a:p>
            <a:pPr algn="l">
              <a:defRPr sz="1300" b="0">
                <a:solidFill>
                  <a:srgbClr val="94A3B8"/>
                </a:solidFill>
                <a:latin typeface="Segoe UI"/>
              </a:defRPr>
            </a:pPr>
            <a:r>
              <a:t>→ Model doesn't know subject, length, or style</a:t>
            </a:r>
          </a:p>
        </p:txBody>
      </p:sp>
      <p:sp>
        <p:nvSpPr>
          <p:cNvPr id="9" name="Rounded Rectangle 8"/>
          <p:cNvSpPr/>
          <p:nvPr/>
        </p:nvSpPr>
        <p:spPr>
          <a:xfrm>
            <a:off x="6217920" y="2011680"/>
            <a:ext cx="5303520" cy="182880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2103120"/>
            <a:ext cx="4937760" cy="365760"/>
          </a:xfrm>
          <a:prstGeom prst="rect">
            <a:avLst/>
          </a:prstGeom>
          <a:noFill/>
        </p:spPr>
        <p:txBody>
          <a:bodyPr wrap="square">
            <a:spAutoFit/>
          </a:bodyPr>
          <a:lstStyle/>
          <a:p>
            <a:pPr algn="l">
              <a:defRPr sz="1800" b="1">
                <a:solidFill>
                  <a:srgbClr val="4ADE80"/>
                </a:solidFill>
                <a:latin typeface="Segoe UI"/>
              </a:defRPr>
            </a:pPr>
            <a:r>
              <a:t>✅  Specific</a:t>
            </a:r>
          </a:p>
        </p:txBody>
      </p:sp>
      <p:sp>
        <p:nvSpPr>
          <p:cNvPr id="11" name="Rounded Rectangle 10"/>
          <p:cNvSpPr/>
          <p:nvPr/>
        </p:nvSpPr>
        <p:spPr>
          <a:xfrm>
            <a:off x="6400800" y="2560320"/>
            <a:ext cx="4937760" cy="64008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"You are a tutor. Help me improve the</a:t>
            </a:r>
            <a:br/>
            <a:r>
              <a:t>thesis of this 500-word WWI essay..."</a:t>
            </a:r>
          </a:p>
        </p:txBody>
      </p:sp>
      <p:sp>
        <p:nvSpPr>
          <p:cNvPr id="12" name="TextBox 11"/>
          <p:cNvSpPr txBox="1"/>
          <p:nvPr/>
        </p:nvSpPr>
        <p:spPr>
          <a:xfrm>
            <a:off x="6400800" y="3291840"/>
            <a:ext cx="4937760" cy="365760"/>
          </a:xfrm>
          <a:prstGeom prst="rect">
            <a:avLst/>
          </a:prstGeom>
          <a:noFill/>
        </p:spPr>
        <p:txBody>
          <a:bodyPr wrap="square">
            <a:spAutoFit/>
          </a:bodyPr>
          <a:lstStyle/>
          <a:p>
            <a:pPr algn="l">
              <a:defRPr sz="1300" b="0">
                <a:solidFill>
                  <a:srgbClr val="4ADE80"/>
                </a:solidFill>
                <a:latin typeface="Segoe UI"/>
              </a:defRPr>
            </a:pPr>
            <a:r>
              <a:t>→ Model can actually help with precision</a:t>
            </a:r>
          </a:p>
        </p:txBody>
      </p:sp>
      <p:sp>
        <p:nvSpPr>
          <p:cNvPr id="13" name="TextBox 12"/>
          <p:cNvSpPr txBox="1"/>
          <p:nvPr/>
        </p:nvSpPr>
        <p:spPr>
          <a:xfrm>
            <a:off x="731520" y="4206240"/>
            <a:ext cx="10058400" cy="457200"/>
          </a:xfrm>
          <a:prstGeom prst="rect">
            <a:avLst/>
          </a:prstGeom>
          <a:noFill/>
        </p:spPr>
        <p:txBody>
          <a:bodyPr wrap="square">
            <a:spAutoFit/>
          </a:bodyPr>
          <a:lstStyle/>
          <a:p>
            <a:pPr algn="l">
              <a:defRPr sz="2400" b="1">
                <a:solidFill>
                  <a:srgbClr val="FFFFFF"/>
                </a:solidFill>
                <a:latin typeface="Segoe UI"/>
              </a:defRPr>
            </a:pPr>
            <a:r>
              <a:rPr dirty="0"/>
              <a:t>Who Benefits?</a:t>
            </a:r>
          </a:p>
        </p:txBody>
      </p:sp>
      <p:sp>
        <p:nvSpPr>
          <p:cNvPr id="14" name="Rounded Rectangle 13"/>
          <p:cNvSpPr/>
          <p:nvPr/>
        </p:nvSpPr>
        <p:spPr>
          <a:xfrm>
            <a:off x="731520" y="4754880"/>
            <a:ext cx="2468880" cy="11887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4846320"/>
            <a:ext cx="2194560" cy="365760"/>
          </a:xfrm>
          <a:prstGeom prst="rect">
            <a:avLst/>
          </a:prstGeom>
          <a:noFill/>
        </p:spPr>
        <p:txBody>
          <a:bodyPr wrap="square">
            <a:spAutoFit/>
          </a:bodyPr>
          <a:lstStyle/>
          <a:p>
            <a:pPr algn="l">
              <a:defRPr sz="1600" b="1">
                <a:solidFill>
                  <a:srgbClr val="38BDF8"/>
                </a:solidFill>
                <a:latin typeface="Segoe UI"/>
              </a:defRPr>
            </a:pPr>
            <a:r>
              <a:rPr dirty="0"/>
              <a:t>💻  Developers</a:t>
            </a:r>
          </a:p>
        </p:txBody>
      </p:sp>
      <p:sp>
        <p:nvSpPr>
          <p:cNvPr id="16" name="TextBox 15"/>
          <p:cNvSpPr txBox="1"/>
          <p:nvPr/>
        </p:nvSpPr>
        <p:spPr>
          <a:xfrm>
            <a:off x="868680" y="5257800"/>
            <a:ext cx="2194560" cy="548640"/>
          </a:xfrm>
          <a:prstGeom prst="rect">
            <a:avLst/>
          </a:prstGeom>
          <a:noFill/>
        </p:spPr>
        <p:txBody>
          <a:bodyPr wrap="square">
            <a:spAutoFit/>
          </a:bodyPr>
          <a:lstStyle/>
          <a:p>
            <a:pPr algn="l">
              <a:defRPr sz="1300" b="0">
                <a:solidFill>
                  <a:srgbClr val="94A3B8"/>
                </a:solidFill>
                <a:latin typeface="Segoe UI"/>
              </a:defRPr>
            </a:pPr>
            <a:r>
              <a:t>Code gen, debugging, docs, refactors</a:t>
            </a:r>
          </a:p>
        </p:txBody>
      </p:sp>
      <p:sp>
        <p:nvSpPr>
          <p:cNvPr id="17" name="Rounded Rectangle 16"/>
          <p:cNvSpPr/>
          <p:nvPr/>
        </p:nvSpPr>
        <p:spPr>
          <a:xfrm>
            <a:off x="3474720" y="4754880"/>
            <a:ext cx="2468880" cy="11887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11880" y="4846320"/>
            <a:ext cx="2194560" cy="365760"/>
          </a:xfrm>
          <a:prstGeom prst="rect">
            <a:avLst/>
          </a:prstGeom>
          <a:noFill/>
        </p:spPr>
        <p:txBody>
          <a:bodyPr wrap="square">
            <a:spAutoFit/>
          </a:bodyPr>
          <a:lstStyle/>
          <a:p>
            <a:pPr algn="l">
              <a:defRPr sz="1600" b="1">
                <a:solidFill>
                  <a:srgbClr val="38BDF8"/>
                </a:solidFill>
                <a:latin typeface="Segoe UI"/>
              </a:defRPr>
            </a:pPr>
            <a:r>
              <a:t>📣  Marketers</a:t>
            </a:r>
          </a:p>
        </p:txBody>
      </p:sp>
      <p:sp>
        <p:nvSpPr>
          <p:cNvPr id="19" name="TextBox 18"/>
          <p:cNvSpPr txBox="1"/>
          <p:nvPr/>
        </p:nvSpPr>
        <p:spPr>
          <a:xfrm>
            <a:off x="3611880" y="5257800"/>
            <a:ext cx="2194560" cy="548640"/>
          </a:xfrm>
          <a:prstGeom prst="rect">
            <a:avLst/>
          </a:prstGeom>
          <a:noFill/>
        </p:spPr>
        <p:txBody>
          <a:bodyPr wrap="square">
            <a:spAutoFit/>
          </a:bodyPr>
          <a:lstStyle/>
          <a:p>
            <a:pPr algn="l">
              <a:defRPr sz="1300" b="0">
                <a:solidFill>
                  <a:srgbClr val="94A3B8"/>
                </a:solidFill>
                <a:latin typeface="Segoe UI"/>
              </a:defRPr>
            </a:pPr>
            <a:r>
              <a:t>Copy, ads, emails, A/B ideas</a:t>
            </a:r>
          </a:p>
        </p:txBody>
      </p:sp>
      <p:sp>
        <p:nvSpPr>
          <p:cNvPr id="20" name="Rounded Rectangle 19"/>
          <p:cNvSpPr/>
          <p:nvPr/>
        </p:nvSpPr>
        <p:spPr>
          <a:xfrm>
            <a:off x="6217920" y="4754880"/>
            <a:ext cx="2468880" cy="11887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5080" y="4846320"/>
            <a:ext cx="2194560" cy="365760"/>
          </a:xfrm>
          <a:prstGeom prst="rect">
            <a:avLst/>
          </a:prstGeom>
          <a:noFill/>
        </p:spPr>
        <p:txBody>
          <a:bodyPr wrap="square">
            <a:spAutoFit/>
          </a:bodyPr>
          <a:lstStyle/>
          <a:p>
            <a:pPr algn="l">
              <a:defRPr sz="1600" b="1">
                <a:solidFill>
                  <a:srgbClr val="38BDF8"/>
                </a:solidFill>
                <a:latin typeface="Segoe UI"/>
              </a:defRPr>
            </a:pPr>
            <a:r>
              <a:t>🔬  Researchers</a:t>
            </a:r>
          </a:p>
        </p:txBody>
      </p:sp>
      <p:sp>
        <p:nvSpPr>
          <p:cNvPr id="22" name="TextBox 21"/>
          <p:cNvSpPr txBox="1"/>
          <p:nvPr/>
        </p:nvSpPr>
        <p:spPr>
          <a:xfrm>
            <a:off x="6355080" y="5257800"/>
            <a:ext cx="2194560" cy="548640"/>
          </a:xfrm>
          <a:prstGeom prst="rect">
            <a:avLst/>
          </a:prstGeom>
          <a:noFill/>
        </p:spPr>
        <p:txBody>
          <a:bodyPr wrap="square">
            <a:spAutoFit/>
          </a:bodyPr>
          <a:lstStyle/>
          <a:p>
            <a:pPr algn="l">
              <a:defRPr sz="1300" b="0">
                <a:solidFill>
                  <a:srgbClr val="94A3B8"/>
                </a:solidFill>
                <a:latin typeface="Segoe UI"/>
              </a:defRPr>
            </a:pPr>
            <a:r>
              <a:t>Summarization, lit review, brainstorming</a:t>
            </a:r>
          </a:p>
        </p:txBody>
      </p:sp>
      <p:sp>
        <p:nvSpPr>
          <p:cNvPr id="23" name="Rounded Rectangle 22"/>
          <p:cNvSpPr/>
          <p:nvPr/>
        </p:nvSpPr>
        <p:spPr>
          <a:xfrm>
            <a:off x="8961120" y="4754880"/>
            <a:ext cx="2468880" cy="11887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098280" y="4846320"/>
            <a:ext cx="2194560" cy="365760"/>
          </a:xfrm>
          <a:prstGeom prst="rect">
            <a:avLst/>
          </a:prstGeom>
          <a:noFill/>
        </p:spPr>
        <p:txBody>
          <a:bodyPr wrap="square">
            <a:spAutoFit/>
          </a:bodyPr>
          <a:lstStyle/>
          <a:p>
            <a:pPr algn="l">
              <a:defRPr sz="1600" b="1">
                <a:solidFill>
                  <a:srgbClr val="38BDF8"/>
                </a:solidFill>
                <a:latin typeface="Segoe UI"/>
              </a:defRPr>
            </a:pPr>
            <a:r>
              <a:t>👤  Everyone</a:t>
            </a:r>
          </a:p>
        </p:txBody>
      </p:sp>
      <p:sp>
        <p:nvSpPr>
          <p:cNvPr id="25" name="TextBox 24"/>
          <p:cNvSpPr txBox="1"/>
          <p:nvPr/>
        </p:nvSpPr>
        <p:spPr>
          <a:xfrm>
            <a:off x="9098280" y="5257800"/>
            <a:ext cx="2194560" cy="548640"/>
          </a:xfrm>
          <a:prstGeom prst="rect">
            <a:avLst/>
          </a:prstGeom>
          <a:noFill/>
        </p:spPr>
        <p:txBody>
          <a:bodyPr wrap="square">
            <a:spAutoFit/>
          </a:bodyPr>
          <a:lstStyle/>
          <a:p>
            <a:pPr algn="l">
              <a:defRPr sz="1300" b="0">
                <a:solidFill>
                  <a:srgbClr val="94A3B8"/>
                </a:solidFill>
                <a:latin typeface="Segoe UI"/>
              </a:defRPr>
            </a:pPr>
            <a:r>
              <a:t>Writing, planning, learning, decisions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P spid="8" grpId="0"/>
      <p:bldP spid="9" grpId="0" animBg="1"/>
      <p:bldP spid="10" grpId="0"/>
      <p:bldP spid="11" grpId="0" animBg="1"/>
      <p:bldP spid="12" grpId="0"/>
      <p:bldP spid="13" grpId="0"/>
      <p:bldP spid="14" grpId="0" animBg="1"/>
      <p:bldP spid="15" grpId="0"/>
      <p:bldP spid="16" grpId="0"/>
      <p:bldP spid="17" grpId="0" animBg="1"/>
      <p:bldP spid="18" grpId="0"/>
      <p:bldP spid="19" grpId="0"/>
      <p:bldP spid="20" grpId="0" animBg="1"/>
      <p:bldP spid="21" grpId="0"/>
      <p:bldP spid="22" grpId="0"/>
      <p:bldP spid="23" grpId="0" animBg="1"/>
      <p:bldP spid="24"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058400" cy="640080"/>
          </a:xfrm>
          <a:prstGeom prst="rect">
            <a:avLst/>
          </a:prstGeom>
          <a:noFill/>
        </p:spPr>
        <p:txBody>
          <a:bodyPr wrap="square">
            <a:spAutoFit/>
          </a:bodyPr>
          <a:lstStyle/>
          <a:p>
            <a:pPr algn="l">
              <a:defRPr sz="3600" b="1">
                <a:solidFill>
                  <a:srgbClr val="FFFFFF"/>
                </a:solidFill>
                <a:latin typeface="Segoe UI"/>
              </a:defRPr>
            </a:pPr>
            <a:r>
              <a:rPr dirty="0"/>
              <a:t>Foundation: How LLMs "Think"</a:t>
            </a:r>
          </a:p>
        </p:txBody>
      </p:sp>
      <p:sp>
        <p:nvSpPr>
          <p:cNvPr id="3" name="Rectangle 2"/>
          <p:cNvSpPr/>
          <p:nvPr/>
        </p:nvSpPr>
        <p:spPr>
          <a:xfrm>
            <a:off x="731520" y="914400"/>
            <a:ext cx="45720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097280"/>
            <a:ext cx="5486400" cy="457200"/>
          </a:xfrm>
          <a:prstGeom prst="rect">
            <a:avLst/>
          </a:prstGeom>
          <a:noFill/>
        </p:spPr>
        <p:txBody>
          <a:bodyPr wrap="square">
            <a:spAutoFit/>
          </a:bodyPr>
          <a:lstStyle/>
          <a:p>
            <a:pPr algn="l">
              <a:defRPr sz="2000" b="1">
                <a:solidFill>
                  <a:srgbClr val="38BDF8"/>
                </a:solidFill>
                <a:latin typeface="Segoe UI"/>
              </a:defRPr>
            </a:pPr>
            <a:r>
              <a:rPr dirty="0"/>
              <a:t>🧠  Next-Token Prediction (intuition only)</a:t>
            </a:r>
          </a:p>
        </p:txBody>
      </p:sp>
      <p:sp>
        <p:nvSpPr>
          <p:cNvPr id="5" name="TextBox 4"/>
          <p:cNvSpPr txBox="1"/>
          <p:nvPr/>
        </p:nvSpPr>
        <p:spPr>
          <a:xfrm>
            <a:off x="731520" y="1645920"/>
            <a:ext cx="5486400" cy="4389120"/>
          </a:xfrm>
          <a:prstGeom prst="rect">
            <a:avLst/>
          </a:prstGeom>
          <a:noFill/>
        </p:spPr>
        <p:txBody>
          <a:bodyPr wrap="square">
            <a:spAutoFit/>
          </a:bodyPr>
          <a:lstStyle/>
          <a:p>
            <a:endParaRPr dirty="0"/>
          </a:p>
          <a:p>
            <a:pPr>
              <a:spcBef>
                <a:spcPts val="600"/>
              </a:spcBef>
              <a:spcAft>
                <a:spcPts val="600"/>
              </a:spcAft>
            </a:pPr>
            <a:r>
              <a:rPr sz="1400" dirty="0">
                <a:solidFill>
                  <a:srgbClr val="E2E8F0"/>
                </a:solidFill>
                <a:latin typeface="Segoe UI"/>
              </a:rPr>
              <a:t>•  The model predicts the </a:t>
            </a:r>
            <a:r>
              <a:rPr sz="1400" b="1" dirty="0">
                <a:solidFill>
                  <a:srgbClr val="FFFFFF"/>
                </a:solidFill>
                <a:latin typeface="Segoe UI"/>
              </a:rPr>
              <a:t>next token</a:t>
            </a:r>
            <a:r>
              <a:rPr sz="1400" dirty="0">
                <a:solidFill>
                  <a:srgbClr val="E2E8F0"/>
                </a:solidFill>
                <a:latin typeface="Segoe UI"/>
              </a:rPr>
              <a:t> (word or sub-word) given everything so far in the prompt and conversation.</a:t>
            </a:r>
          </a:p>
          <a:p>
            <a:pPr>
              <a:spcBef>
                <a:spcPts val="600"/>
              </a:spcBef>
              <a:spcAft>
                <a:spcPts val="600"/>
              </a:spcAft>
            </a:pPr>
            <a:r>
              <a:rPr sz="1400" dirty="0">
                <a:solidFill>
                  <a:srgbClr val="E2E8F0"/>
                </a:solidFill>
                <a:latin typeface="Segoe UI"/>
              </a:rPr>
              <a:t>•  It has </a:t>
            </a:r>
            <a:r>
              <a:rPr sz="1400" b="1" dirty="0">
                <a:solidFill>
                  <a:srgbClr val="FFFFFF"/>
                </a:solidFill>
                <a:latin typeface="Segoe UI"/>
              </a:rPr>
              <a:t>no memory</a:t>
            </a:r>
            <a:r>
              <a:rPr sz="1400" dirty="0">
                <a:solidFill>
                  <a:srgbClr val="E2E8F0"/>
                </a:solidFill>
                <a:latin typeface="Segoe UI"/>
              </a:rPr>
              <a:t> of past chats unless you include that information in the current context.</a:t>
            </a:r>
          </a:p>
          <a:p>
            <a:pPr>
              <a:spcBef>
                <a:spcPts val="600"/>
              </a:spcBef>
              <a:spcAft>
                <a:spcPts val="600"/>
              </a:spcAft>
            </a:pPr>
            <a:r>
              <a:rPr sz="1400" dirty="0">
                <a:solidFill>
                  <a:srgbClr val="E2E8F0"/>
                </a:solidFill>
                <a:latin typeface="Segoe UI"/>
              </a:rPr>
              <a:t>•  So: </a:t>
            </a:r>
            <a:r>
              <a:rPr sz="1400" b="1" dirty="0">
                <a:solidFill>
                  <a:srgbClr val="FFFFFF"/>
                </a:solidFill>
                <a:latin typeface="Segoe UI"/>
              </a:rPr>
              <a:t>context, specificity, and structure</a:t>
            </a:r>
            <a:r>
              <a:rPr sz="1400" dirty="0">
                <a:solidFill>
                  <a:srgbClr val="E2E8F0"/>
                </a:solidFill>
                <a:latin typeface="Segoe UI"/>
              </a:rPr>
              <a:t> in your prompt directly shape what it says next.</a:t>
            </a:r>
          </a:p>
          <a:p>
            <a:pPr>
              <a:spcBef>
                <a:spcPts val="600"/>
              </a:spcBef>
              <a:spcAft>
                <a:spcPts val="600"/>
              </a:spcAft>
            </a:pPr>
            <a:r>
              <a:rPr sz="1400" dirty="0">
                <a:solidFill>
                  <a:srgbClr val="E2E8F0"/>
                </a:solidFill>
                <a:latin typeface="Segoe UI"/>
              </a:rPr>
              <a:t>•  More relevant context and clearer instructions → more relevant and consistent outputs.</a:t>
            </a:r>
          </a:p>
        </p:txBody>
      </p:sp>
      <p:sp>
        <p:nvSpPr>
          <p:cNvPr id="6" name="TextBox 5"/>
          <p:cNvSpPr txBox="1"/>
          <p:nvPr/>
        </p:nvSpPr>
        <p:spPr>
          <a:xfrm>
            <a:off x="6583680" y="1097280"/>
            <a:ext cx="5029200" cy="457200"/>
          </a:xfrm>
          <a:prstGeom prst="rect">
            <a:avLst/>
          </a:prstGeom>
          <a:noFill/>
        </p:spPr>
        <p:txBody>
          <a:bodyPr wrap="square">
            <a:spAutoFit/>
          </a:bodyPr>
          <a:lstStyle/>
          <a:p>
            <a:pPr algn="l">
              <a:defRPr sz="2000" b="1">
                <a:solidFill>
                  <a:srgbClr val="38BDF8"/>
                </a:solidFill>
                <a:latin typeface="Segoe UI"/>
              </a:defRPr>
            </a:pPr>
            <a:r>
              <a:rPr dirty="0"/>
              <a:t>🎯  Steering vs. Commanding</a:t>
            </a:r>
          </a:p>
        </p:txBody>
      </p:sp>
      <p:sp>
        <p:nvSpPr>
          <p:cNvPr id="7" name="TextBox 6"/>
          <p:cNvSpPr txBox="1"/>
          <p:nvPr/>
        </p:nvSpPr>
        <p:spPr>
          <a:xfrm>
            <a:off x="6583680" y="1645920"/>
            <a:ext cx="5029200" cy="914400"/>
          </a:xfrm>
          <a:prstGeom prst="rect">
            <a:avLst/>
          </a:prstGeom>
          <a:noFill/>
        </p:spPr>
        <p:txBody>
          <a:bodyPr wrap="square">
            <a:spAutoFit/>
          </a:bodyPr>
          <a:lstStyle/>
          <a:p>
            <a:pPr>
              <a:spcBef>
                <a:spcPts val="400"/>
              </a:spcBef>
              <a:spcAft>
                <a:spcPts val="400"/>
              </a:spcAft>
            </a:pPr>
            <a:r>
              <a:rPr sz="1400" b="1" dirty="0">
                <a:solidFill>
                  <a:srgbClr val="F87171"/>
                </a:solidFill>
                <a:latin typeface="Segoe UI"/>
              </a:rPr>
              <a:t>•  Commanding: </a:t>
            </a:r>
            <a:r>
              <a:rPr sz="1400" dirty="0">
                <a:solidFill>
                  <a:srgbClr val="E2E8F0"/>
                </a:solidFill>
                <a:latin typeface="Segoe UI"/>
              </a:rPr>
              <a:t>"Summarize this." → Model chooses length, style, and focus.</a:t>
            </a:r>
          </a:p>
          <a:p>
            <a:pPr>
              <a:spcBef>
                <a:spcPts val="400"/>
              </a:spcBef>
              <a:spcAft>
                <a:spcPts val="400"/>
              </a:spcAft>
            </a:pPr>
            <a:r>
              <a:rPr sz="1400" b="1" dirty="0">
                <a:solidFill>
                  <a:srgbClr val="4ADE80"/>
                </a:solidFill>
                <a:latin typeface="Segoe UI"/>
              </a:rPr>
              <a:t>•  Steering: </a:t>
            </a:r>
            <a:r>
              <a:rPr sz="1400" dirty="0">
                <a:solidFill>
                  <a:srgbClr val="E2E8F0"/>
                </a:solidFill>
                <a:latin typeface="Segoe UI"/>
              </a:rPr>
              <a:t>"You are an executive assistant. Summarize this meeting transcript in 4 bullet points. Focus on decisions and action items. No filler." → You steer length, focus, and format.</a:t>
            </a:r>
          </a:p>
        </p:txBody>
      </p:sp>
      <p:sp>
        <p:nvSpPr>
          <p:cNvPr id="8" name="Rounded Rectangle 7"/>
          <p:cNvSpPr/>
          <p:nvPr/>
        </p:nvSpPr>
        <p:spPr>
          <a:xfrm>
            <a:off x="6583680" y="2926080"/>
            <a:ext cx="5029200" cy="109728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0" y="2971800"/>
            <a:ext cx="4663440" cy="274320"/>
          </a:xfrm>
          <a:prstGeom prst="rect">
            <a:avLst/>
          </a:prstGeom>
          <a:noFill/>
        </p:spPr>
        <p:txBody>
          <a:bodyPr wrap="square">
            <a:spAutoFit/>
          </a:bodyPr>
          <a:lstStyle/>
          <a:p>
            <a:pPr algn="l">
              <a:defRPr sz="1400" b="1">
                <a:solidFill>
                  <a:srgbClr val="F87171"/>
                </a:solidFill>
                <a:latin typeface="Segoe UI"/>
              </a:defRPr>
            </a:pPr>
            <a:r>
              <a:rPr dirty="0"/>
              <a:t>❌  Commanding</a:t>
            </a:r>
          </a:p>
        </p:txBody>
      </p:sp>
      <p:sp>
        <p:nvSpPr>
          <p:cNvPr id="10" name="Rounded Rectangle 9"/>
          <p:cNvSpPr/>
          <p:nvPr/>
        </p:nvSpPr>
        <p:spPr>
          <a:xfrm>
            <a:off x="6766560" y="3291840"/>
            <a:ext cx="4663440" cy="5029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"Write an email."</a:t>
            </a:r>
          </a:p>
        </p:txBody>
      </p:sp>
      <p:sp>
        <p:nvSpPr>
          <p:cNvPr id="12" name="Rounded Rectangle 11"/>
          <p:cNvSpPr/>
          <p:nvPr/>
        </p:nvSpPr>
        <p:spPr>
          <a:xfrm>
            <a:off x="6583680" y="4160520"/>
            <a:ext cx="5029200" cy="1874519"/>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66560" y="4206240"/>
            <a:ext cx="4663440" cy="274320"/>
          </a:xfrm>
          <a:prstGeom prst="rect">
            <a:avLst/>
          </a:prstGeom>
          <a:noFill/>
        </p:spPr>
        <p:txBody>
          <a:bodyPr wrap="square">
            <a:spAutoFit/>
          </a:bodyPr>
          <a:lstStyle/>
          <a:p>
            <a:pPr algn="l">
              <a:defRPr sz="1400" b="1">
                <a:solidFill>
                  <a:srgbClr val="4ADE80"/>
                </a:solidFill>
                <a:latin typeface="Segoe UI"/>
              </a:defRPr>
            </a:pPr>
            <a:r>
              <a:t>✅  Steering</a:t>
            </a:r>
          </a:p>
        </p:txBody>
      </p:sp>
      <p:sp>
        <p:nvSpPr>
          <p:cNvPr id="14" name="Rounded Rectangle 13"/>
          <p:cNvSpPr/>
          <p:nvPr/>
        </p:nvSpPr>
        <p:spPr>
          <a:xfrm>
            <a:off x="6766560" y="4526280"/>
            <a:ext cx="4663440" cy="109728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200">
                <a:solidFill>
                  <a:srgbClr val="4ADE80"/>
                </a:solidFill>
                <a:latin typeface="Cascadia Code"/>
              </a:defRPr>
            </a:pPr>
            <a:r>
              <a:t>"You are replying to a client who</a:t>
            </a:r>
            <a:br/>
            <a:r>
              <a:t>asked for a project delay. Write a</a:t>
            </a:r>
            <a:br/>
            <a:r>
              <a:t>short, apologetic email. Propose new</a:t>
            </a:r>
            <a:br/>
            <a:r>
              <a:t>deadline: March 15. Tone: professional</a:t>
            </a:r>
            <a:br/>
            <a:r>
              <a:t>and reassuring."</a:t>
            </a:r>
          </a:p>
        </p:txBody>
      </p:sp>
      <p:sp>
        <p:nvSpPr>
          <p:cNvPr id="15" name="TextBox 14"/>
          <p:cNvSpPr txBox="1"/>
          <p:nvPr/>
        </p:nvSpPr>
        <p:spPr>
          <a:xfrm>
            <a:off x="6766560" y="5669280"/>
            <a:ext cx="4663440" cy="274320"/>
          </a:xfrm>
          <a:prstGeom prst="rect">
            <a:avLst/>
          </a:prstGeom>
          <a:noFill/>
        </p:spPr>
        <p:txBody>
          <a:bodyPr wrap="square">
            <a:spAutoFit/>
          </a:bodyPr>
          <a:lstStyle/>
          <a:p>
            <a:pPr algn="l">
              <a:defRPr sz="1100" b="0">
                <a:solidFill>
                  <a:srgbClr val="4ADE80"/>
                </a:solidFill>
                <a:latin typeface="Segoe UI"/>
              </a:defRPr>
            </a:pPr>
            <a:r>
              <a:t>→ You control: role, task, format, tone, constraint</a:t>
            </a:r>
          </a:p>
        </p:txBody>
      </p:sp>
      <p:sp>
        <p:nvSpPr>
          <p:cNvPr id="16" name="Rounded Rectangle 15"/>
          <p:cNvSpPr/>
          <p:nvPr/>
        </p:nvSpPr>
        <p:spPr>
          <a:xfrm>
            <a:off x="731520" y="5029200"/>
            <a:ext cx="5303520" cy="109728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5074920"/>
            <a:ext cx="4937760" cy="1005840"/>
          </a:xfrm>
          <a:prstGeom prst="rect">
            <a:avLst/>
          </a:prstGeom>
          <a:noFill/>
        </p:spPr>
        <p:txBody>
          <a:bodyPr wrap="square">
            <a:spAutoFit/>
          </a:bodyPr>
          <a:lstStyle/>
          <a:p>
            <a:pPr algn="l">
              <a:spcBef>
                <a:spcPts val="400"/>
              </a:spcBef>
              <a:spcAft>
                <a:spcPts val="400"/>
              </a:spcAft>
              <a:defRPr sz="1600" b="1">
                <a:solidFill>
                  <a:srgbClr val="38BDF8"/>
                </a:solidFill>
                <a:latin typeface="Segoe UI"/>
              </a:defRPr>
            </a:pPr>
            <a:r>
              <a:rPr dirty="0"/>
              <a:t>💡  Key Takeaway</a:t>
            </a:r>
          </a:p>
          <a:p>
            <a:pPr algn="l">
              <a:spcBef>
                <a:spcPts val="400"/>
              </a:spcBef>
              <a:spcAft>
                <a:spcPts val="400"/>
              </a:spcAft>
              <a:defRPr sz="1300" b="0">
                <a:solidFill>
                  <a:srgbClr val="E2E8F0"/>
                </a:solidFill>
                <a:latin typeface="Segoe UI"/>
              </a:defRPr>
            </a:pPr>
            <a:r>
              <a:rPr dirty="0"/>
              <a:t>Steering (role, audience, format, constraints) gives more consistent, usable results. The same model can seem brilliant or useless depending on clarity, context, and structure.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animBg="1"/>
      <p:bldP spid="9" grpId="0"/>
      <p:bldP spid="10" grpId="0" animBg="1"/>
      <p:bldP spid="12" grpId="0" animBg="1"/>
      <p:bldP spid="13" grpId="0"/>
      <p:bldP spid="14" grpId="0" animBg="1"/>
      <p:bldP spid="15" grpId="0"/>
      <p:bldP spid="16" grpId="0" animBg="1"/>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81196CC5-6245-8D52-12E9-B8ADFA225206}"/>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7B1E554F-EE30-28A5-DAD9-E6862AD6A9BB}"/>
              </a:ext>
            </a:extLst>
          </p:cNvPr>
          <p:cNvPicPr>
            <a:picLocks noChangeAspect="1"/>
          </p:cNvPicPr>
          <p:nvPr/>
        </p:nvPicPr>
        <p:blipFill>
          <a:blip r:embed="rId3"/>
          <a:stretch>
            <a:fillRect/>
          </a:stretch>
        </p:blipFill>
        <p:spPr>
          <a:xfrm>
            <a:off x="2333455" y="186070"/>
            <a:ext cx="7525089" cy="6485860"/>
          </a:xfrm>
          <a:prstGeom prst="rect">
            <a:avLst/>
          </a:prstGeom>
        </p:spPr>
      </p:pic>
    </p:spTree>
    <p:extLst>
      <p:ext uri="{BB962C8B-B14F-4D97-AF65-F5344CB8AC3E}">
        <p14:creationId xmlns:p14="http://schemas.microsoft.com/office/powerpoint/2010/main" val="333550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Core Techniques — Your Prompt Engineering Toolkit</a:t>
            </a:r>
          </a:p>
        </p:txBody>
      </p:sp>
      <p:sp>
        <p:nvSpPr>
          <p:cNvPr id="3" name="Rectangle 2"/>
          <p:cNvSpPr/>
          <p:nvPr/>
        </p:nvSpPr>
        <p:spPr>
          <a:xfrm>
            <a:off x="731520" y="1005840"/>
            <a:ext cx="50292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554480"/>
            <a:ext cx="1463040" cy="50800"/>
          </a:xfrm>
          <a:prstGeom prst="roundRect">
            <a:avLst>
              <a:gd name="adj" fmla="val 4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280160" cy="457200"/>
          </a:xfrm>
          <a:prstGeom prst="rect">
            <a:avLst/>
          </a:prstGeom>
          <a:noFill/>
        </p:spPr>
        <p:txBody>
          <a:bodyPr wrap="square">
            <a:spAutoFit/>
          </a:bodyPr>
          <a:lstStyle/>
          <a:p>
            <a:pPr algn="ctr">
              <a:defRPr sz="3200" b="0">
                <a:solidFill>
                  <a:srgbClr val="38BDF8"/>
                </a:solidFill>
                <a:latin typeface="Segoe UI"/>
              </a:defRPr>
            </a:pPr>
            <a:r>
              <a:t>🎯</a:t>
            </a:r>
          </a:p>
        </p:txBody>
      </p:sp>
      <p:sp>
        <p:nvSpPr>
          <p:cNvPr id="7" name="TextBox 6"/>
          <p:cNvSpPr txBox="1"/>
          <p:nvPr/>
        </p:nvSpPr>
        <p:spPr>
          <a:xfrm>
            <a:off x="548640" y="2377440"/>
            <a:ext cx="1280160" cy="914400"/>
          </a:xfrm>
          <a:prstGeom prst="rect">
            <a:avLst/>
          </a:prstGeom>
          <a:noFill/>
        </p:spPr>
        <p:txBody>
          <a:bodyPr wrap="square">
            <a:spAutoFit/>
          </a:bodyPr>
          <a:lstStyle/>
          <a:p>
            <a:pPr algn="ctr">
              <a:defRPr sz="1400" b="1">
                <a:solidFill>
                  <a:srgbClr val="FFFFFF"/>
                </a:solidFill>
                <a:latin typeface="Segoe UI"/>
              </a:defRPr>
            </a:pPr>
            <a:r>
              <a:t>Be Specific &amp;</a:t>
            </a:r>
            <a:br/>
            <a:r>
              <a:t>Set the Scene</a:t>
            </a:r>
          </a:p>
        </p:txBody>
      </p:sp>
      <p:sp>
        <p:nvSpPr>
          <p:cNvPr id="8" name="TextBox 7"/>
          <p:cNvSpPr txBox="1"/>
          <p:nvPr/>
        </p:nvSpPr>
        <p:spPr>
          <a:xfrm>
            <a:off x="548640" y="3383280"/>
            <a:ext cx="1280160" cy="914400"/>
          </a:xfrm>
          <a:prstGeom prst="rect">
            <a:avLst/>
          </a:prstGeom>
          <a:noFill/>
        </p:spPr>
        <p:txBody>
          <a:bodyPr wrap="square">
            <a:spAutoFit/>
          </a:bodyPr>
          <a:lstStyle/>
          <a:p>
            <a:pPr algn="ctr">
              <a:defRPr sz="1200" b="0">
                <a:solidFill>
                  <a:srgbClr val="94A3B8"/>
                </a:solidFill>
                <a:latin typeface="Segoe UI"/>
              </a:defRPr>
            </a:pPr>
            <a:r>
              <a:t>Role · Audience</a:t>
            </a:r>
            <a:br/>
            <a:r>
              <a:t>Tone · Format</a:t>
            </a:r>
          </a:p>
        </p:txBody>
      </p:sp>
      <p:sp>
        <p:nvSpPr>
          <p:cNvPr id="9" name="Rounded Rectangle 8"/>
          <p:cNvSpPr/>
          <p:nvPr/>
        </p:nvSpPr>
        <p:spPr>
          <a:xfrm>
            <a:off x="2084832"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084832" y="1554480"/>
            <a:ext cx="1463040" cy="50800"/>
          </a:xfrm>
          <a:prstGeom prst="roundRect">
            <a:avLst>
              <a:gd name="adj" fmla="val 4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76272" y="1828800"/>
            <a:ext cx="1280160" cy="457200"/>
          </a:xfrm>
          <a:prstGeom prst="rect">
            <a:avLst/>
          </a:prstGeom>
          <a:noFill/>
        </p:spPr>
        <p:txBody>
          <a:bodyPr wrap="square">
            <a:spAutoFit/>
          </a:bodyPr>
          <a:lstStyle/>
          <a:p>
            <a:pPr algn="ctr">
              <a:defRPr sz="3200" b="0">
                <a:solidFill>
                  <a:srgbClr val="4ADE80"/>
                </a:solidFill>
                <a:latin typeface="Segoe UI"/>
              </a:defRPr>
            </a:pPr>
            <a:r>
              <a:t>📋</a:t>
            </a:r>
          </a:p>
        </p:txBody>
      </p:sp>
      <p:sp>
        <p:nvSpPr>
          <p:cNvPr id="12" name="TextBox 11"/>
          <p:cNvSpPr txBox="1"/>
          <p:nvPr/>
        </p:nvSpPr>
        <p:spPr>
          <a:xfrm>
            <a:off x="2176272" y="2377440"/>
            <a:ext cx="1280160" cy="914400"/>
          </a:xfrm>
          <a:prstGeom prst="rect">
            <a:avLst/>
          </a:prstGeom>
          <a:noFill/>
        </p:spPr>
        <p:txBody>
          <a:bodyPr wrap="square">
            <a:spAutoFit/>
          </a:bodyPr>
          <a:lstStyle/>
          <a:p>
            <a:pPr algn="ctr">
              <a:defRPr sz="1400" b="1">
                <a:solidFill>
                  <a:srgbClr val="FFFFFF"/>
                </a:solidFill>
                <a:latin typeface="Segoe UI"/>
              </a:defRPr>
            </a:pPr>
            <a:r>
              <a:t>Few-Shot</a:t>
            </a:r>
            <a:br/>
            <a:r>
              <a:t>Examples</a:t>
            </a:r>
          </a:p>
        </p:txBody>
      </p:sp>
      <p:sp>
        <p:nvSpPr>
          <p:cNvPr id="13" name="TextBox 12"/>
          <p:cNvSpPr txBox="1"/>
          <p:nvPr/>
        </p:nvSpPr>
        <p:spPr>
          <a:xfrm>
            <a:off x="2176272" y="3383280"/>
            <a:ext cx="1280160" cy="914400"/>
          </a:xfrm>
          <a:prstGeom prst="rect">
            <a:avLst/>
          </a:prstGeom>
          <a:noFill/>
        </p:spPr>
        <p:txBody>
          <a:bodyPr wrap="square">
            <a:spAutoFit/>
          </a:bodyPr>
          <a:lstStyle/>
          <a:p>
            <a:pPr algn="ctr">
              <a:defRPr sz="1200" b="0">
                <a:solidFill>
                  <a:srgbClr val="94A3B8"/>
                </a:solidFill>
                <a:latin typeface="Segoe UI"/>
              </a:defRPr>
            </a:pPr>
            <a:r>
              <a:t>2–4 input→output</a:t>
            </a:r>
            <a:br/>
            <a:r>
              <a:t>pairs teach pattern</a:t>
            </a:r>
          </a:p>
        </p:txBody>
      </p:sp>
      <p:sp>
        <p:nvSpPr>
          <p:cNvPr id="14" name="Rounded Rectangle 13"/>
          <p:cNvSpPr/>
          <p:nvPr/>
        </p:nvSpPr>
        <p:spPr>
          <a:xfrm>
            <a:off x="3712464"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712464" y="1554480"/>
            <a:ext cx="1463040" cy="50800"/>
          </a:xfrm>
          <a:prstGeom prst="roundRect">
            <a:avLst>
              <a:gd name="adj" fmla="val 4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03904" y="1828800"/>
            <a:ext cx="1280160" cy="457200"/>
          </a:xfrm>
          <a:prstGeom prst="rect">
            <a:avLst/>
          </a:prstGeom>
          <a:noFill/>
        </p:spPr>
        <p:txBody>
          <a:bodyPr wrap="square">
            <a:spAutoFit/>
          </a:bodyPr>
          <a:lstStyle/>
          <a:p>
            <a:pPr algn="ctr">
              <a:defRPr sz="3200" b="0">
                <a:solidFill>
                  <a:srgbClr val="FBBF24"/>
                </a:solidFill>
                <a:latin typeface="Segoe UI"/>
              </a:defRPr>
            </a:pPr>
            <a:r>
              <a:t>🧠</a:t>
            </a:r>
          </a:p>
        </p:txBody>
      </p:sp>
      <p:sp>
        <p:nvSpPr>
          <p:cNvPr id="17" name="TextBox 16"/>
          <p:cNvSpPr txBox="1"/>
          <p:nvPr/>
        </p:nvSpPr>
        <p:spPr>
          <a:xfrm>
            <a:off x="3803904" y="2377440"/>
            <a:ext cx="1280160" cy="914400"/>
          </a:xfrm>
          <a:prstGeom prst="rect">
            <a:avLst/>
          </a:prstGeom>
          <a:noFill/>
        </p:spPr>
        <p:txBody>
          <a:bodyPr wrap="square">
            <a:spAutoFit/>
          </a:bodyPr>
          <a:lstStyle/>
          <a:p>
            <a:pPr algn="ctr">
              <a:defRPr sz="1400" b="1">
                <a:solidFill>
                  <a:srgbClr val="FFFFFF"/>
                </a:solidFill>
                <a:latin typeface="Segoe UI"/>
              </a:defRPr>
            </a:pPr>
            <a:r>
              <a:t>Chain-of-</a:t>
            </a:r>
            <a:br/>
            <a:r>
              <a:t>Thought (CoT)</a:t>
            </a:r>
          </a:p>
        </p:txBody>
      </p:sp>
      <p:sp>
        <p:nvSpPr>
          <p:cNvPr id="18" name="TextBox 17"/>
          <p:cNvSpPr txBox="1"/>
          <p:nvPr/>
        </p:nvSpPr>
        <p:spPr>
          <a:xfrm>
            <a:off x="3803904" y="3383280"/>
            <a:ext cx="1280160" cy="914400"/>
          </a:xfrm>
          <a:prstGeom prst="rect">
            <a:avLst/>
          </a:prstGeom>
          <a:noFill/>
        </p:spPr>
        <p:txBody>
          <a:bodyPr wrap="square">
            <a:spAutoFit/>
          </a:bodyPr>
          <a:lstStyle/>
          <a:p>
            <a:pPr algn="ctr">
              <a:defRPr sz="1200" b="0">
                <a:solidFill>
                  <a:srgbClr val="94A3B8"/>
                </a:solidFill>
                <a:latin typeface="Segoe UI"/>
              </a:defRPr>
            </a:pPr>
            <a:r>
              <a:t>"Think step by step"</a:t>
            </a:r>
            <a:br/>
            <a:r>
              <a:t>before answering</a:t>
            </a:r>
          </a:p>
        </p:txBody>
      </p:sp>
      <p:sp>
        <p:nvSpPr>
          <p:cNvPr id="19" name="Rounded Rectangle 18"/>
          <p:cNvSpPr/>
          <p:nvPr/>
        </p:nvSpPr>
        <p:spPr>
          <a:xfrm>
            <a:off x="5340096"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340096" y="1554480"/>
            <a:ext cx="1463040" cy="50800"/>
          </a:xfrm>
          <a:prstGeom prst="roundRect">
            <a:avLst>
              <a:gd name="adj" fmla="val 4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31536" y="1828800"/>
            <a:ext cx="1280160" cy="457200"/>
          </a:xfrm>
          <a:prstGeom prst="rect">
            <a:avLst/>
          </a:prstGeom>
          <a:noFill/>
        </p:spPr>
        <p:txBody>
          <a:bodyPr wrap="square">
            <a:spAutoFit/>
          </a:bodyPr>
          <a:lstStyle/>
          <a:p>
            <a:pPr algn="ctr">
              <a:defRPr sz="3200" b="0">
                <a:solidFill>
                  <a:srgbClr val="A78BFA"/>
                </a:solidFill>
                <a:latin typeface="Segoe UI"/>
              </a:defRPr>
            </a:pPr>
            <a:r>
              <a:t>📊</a:t>
            </a:r>
          </a:p>
        </p:txBody>
      </p:sp>
      <p:sp>
        <p:nvSpPr>
          <p:cNvPr id="22" name="TextBox 21"/>
          <p:cNvSpPr txBox="1"/>
          <p:nvPr/>
        </p:nvSpPr>
        <p:spPr>
          <a:xfrm>
            <a:off x="5431536" y="2377440"/>
            <a:ext cx="1280160" cy="914400"/>
          </a:xfrm>
          <a:prstGeom prst="rect">
            <a:avLst/>
          </a:prstGeom>
          <a:noFill/>
        </p:spPr>
        <p:txBody>
          <a:bodyPr wrap="square">
            <a:spAutoFit/>
          </a:bodyPr>
          <a:lstStyle/>
          <a:p>
            <a:pPr algn="ctr">
              <a:defRPr sz="1400" b="1">
                <a:solidFill>
                  <a:srgbClr val="FFFFFF"/>
                </a:solidFill>
                <a:latin typeface="Segoe UI"/>
              </a:defRPr>
            </a:pPr>
            <a:r>
              <a:t>Structured</a:t>
            </a:r>
            <a:br/>
            <a:r>
              <a:t>Output</a:t>
            </a:r>
          </a:p>
        </p:txBody>
      </p:sp>
      <p:sp>
        <p:nvSpPr>
          <p:cNvPr id="23" name="TextBox 22"/>
          <p:cNvSpPr txBox="1"/>
          <p:nvPr/>
        </p:nvSpPr>
        <p:spPr>
          <a:xfrm>
            <a:off x="5431536" y="3383280"/>
            <a:ext cx="1280160" cy="914400"/>
          </a:xfrm>
          <a:prstGeom prst="rect">
            <a:avLst/>
          </a:prstGeom>
          <a:noFill/>
        </p:spPr>
        <p:txBody>
          <a:bodyPr wrap="square">
            <a:spAutoFit/>
          </a:bodyPr>
          <a:lstStyle/>
          <a:p>
            <a:pPr algn="ctr">
              <a:defRPr sz="1200" b="0">
                <a:solidFill>
                  <a:srgbClr val="94A3B8"/>
                </a:solidFill>
                <a:latin typeface="Segoe UI"/>
              </a:defRPr>
            </a:pPr>
            <a:r>
              <a:t>JSON · Tables</a:t>
            </a:r>
            <a:br/>
            <a:r>
              <a:t>XML · Markdown</a:t>
            </a:r>
          </a:p>
        </p:txBody>
      </p:sp>
      <p:sp>
        <p:nvSpPr>
          <p:cNvPr id="24" name="Rounded Rectangle 23"/>
          <p:cNvSpPr/>
          <p:nvPr/>
        </p:nvSpPr>
        <p:spPr>
          <a:xfrm>
            <a:off x="6967728"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967728" y="1554480"/>
            <a:ext cx="1463040" cy="50800"/>
          </a:xfrm>
          <a:prstGeom prst="roundRect">
            <a:avLst>
              <a:gd name="adj" fmla="val 4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59168" y="1828800"/>
            <a:ext cx="1280160" cy="457200"/>
          </a:xfrm>
          <a:prstGeom prst="rect">
            <a:avLst/>
          </a:prstGeom>
          <a:noFill/>
        </p:spPr>
        <p:txBody>
          <a:bodyPr wrap="square">
            <a:spAutoFit/>
          </a:bodyPr>
          <a:lstStyle/>
          <a:p>
            <a:pPr algn="ctr">
              <a:defRPr sz="3200" b="0">
                <a:solidFill>
                  <a:srgbClr val="F87171"/>
                </a:solidFill>
                <a:latin typeface="Segoe UI"/>
              </a:defRPr>
            </a:pPr>
            <a:r>
              <a:t>🚫</a:t>
            </a:r>
          </a:p>
        </p:txBody>
      </p:sp>
      <p:sp>
        <p:nvSpPr>
          <p:cNvPr id="27" name="TextBox 26"/>
          <p:cNvSpPr txBox="1"/>
          <p:nvPr/>
        </p:nvSpPr>
        <p:spPr>
          <a:xfrm>
            <a:off x="7059168" y="2377440"/>
            <a:ext cx="1280160" cy="914400"/>
          </a:xfrm>
          <a:prstGeom prst="rect">
            <a:avLst/>
          </a:prstGeom>
          <a:noFill/>
        </p:spPr>
        <p:txBody>
          <a:bodyPr wrap="square">
            <a:spAutoFit/>
          </a:bodyPr>
          <a:lstStyle/>
          <a:p>
            <a:pPr algn="ctr">
              <a:defRPr sz="1400" b="1">
                <a:solidFill>
                  <a:srgbClr val="FFFFFF"/>
                </a:solidFill>
                <a:latin typeface="Segoe UI"/>
              </a:defRPr>
            </a:pPr>
            <a:r>
              <a:t>Constraints &amp;</a:t>
            </a:r>
            <a:br/>
            <a:r>
              <a:t>Negative Instructions</a:t>
            </a:r>
          </a:p>
        </p:txBody>
      </p:sp>
      <p:sp>
        <p:nvSpPr>
          <p:cNvPr id="28" name="TextBox 27"/>
          <p:cNvSpPr txBox="1"/>
          <p:nvPr/>
        </p:nvSpPr>
        <p:spPr>
          <a:xfrm>
            <a:off x="7059168" y="3383280"/>
            <a:ext cx="1280160" cy="914400"/>
          </a:xfrm>
          <a:prstGeom prst="rect">
            <a:avLst/>
          </a:prstGeom>
          <a:noFill/>
        </p:spPr>
        <p:txBody>
          <a:bodyPr wrap="square">
            <a:spAutoFit/>
          </a:bodyPr>
          <a:lstStyle/>
          <a:p>
            <a:pPr algn="ctr">
              <a:defRPr sz="1200" b="0">
                <a:solidFill>
                  <a:srgbClr val="94A3B8"/>
                </a:solidFill>
                <a:latin typeface="Segoe UI"/>
              </a:defRPr>
            </a:pPr>
            <a:r>
              <a:t>Say what you</a:t>
            </a:r>
            <a:br/>
            <a:r>
              <a:t>DON'T want</a:t>
            </a:r>
          </a:p>
        </p:txBody>
      </p:sp>
      <p:sp>
        <p:nvSpPr>
          <p:cNvPr id="29" name="Rounded Rectangle 28"/>
          <p:cNvSpPr/>
          <p:nvPr/>
        </p:nvSpPr>
        <p:spPr>
          <a:xfrm>
            <a:off x="8595360"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595360" y="1554480"/>
            <a:ext cx="1463040" cy="50800"/>
          </a:xfrm>
          <a:prstGeom prst="roundRect">
            <a:avLst>
              <a:gd name="adj" fmla="val 4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86800" y="1828800"/>
            <a:ext cx="1280160" cy="457200"/>
          </a:xfrm>
          <a:prstGeom prst="rect">
            <a:avLst/>
          </a:prstGeom>
          <a:noFill/>
        </p:spPr>
        <p:txBody>
          <a:bodyPr wrap="square">
            <a:spAutoFit/>
          </a:bodyPr>
          <a:lstStyle/>
          <a:p>
            <a:pPr algn="ctr">
              <a:defRPr sz="3200" b="0">
                <a:solidFill>
                  <a:srgbClr val="22D3EE"/>
                </a:solidFill>
                <a:latin typeface="Segoe UI"/>
              </a:defRPr>
            </a:pPr>
            <a:r>
              <a:t>🔄</a:t>
            </a:r>
          </a:p>
        </p:txBody>
      </p:sp>
      <p:sp>
        <p:nvSpPr>
          <p:cNvPr id="32" name="TextBox 31"/>
          <p:cNvSpPr txBox="1"/>
          <p:nvPr/>
        </p:nvSpPr>
        <p:spPr>
          <a:xfrm>
            <a:off x="8686800" y="2377440"/>
            <a:ext cx="1280160" cy="914400"/>
          </a:xfrm>
          <a:prstGeom prst="rect">
            <a:avLst/>
          </a:prstGeom>
          <a:noFill/>
        </p:spPr>
        <p:txBody>
          <a:bodyPr wrap="square">
            <a:spAutoFit/>
          </a:bodyPr>
          <a:lstStyle/>
          <a:p>
            <a:pPr algn="ctr">
              <a:defRPr sz="1400" b="1">
                <a:solidFill>
                  <a:srgbClr val="FFFFFF"/>
                </a:solidFill>
                <a:latin typeface="Segoe UI"/>
              </a:defRPr>
            </a:pPr>
            <a:r>
              <a:t>Iterative</a:t>
            </a:r>
            <a:br/>
            <a:r>
              <a:t>Refinement</a:t>
            </a:r>
          </a:p>
        </p:txBody>
      </p:sp>
      <p:sp>
        <p:nvSpPr>
          <p:cNvPr id="33" name="TextBox 32"/>
          <p:cNvSpPr txBox="1"/>
          <p:nvPr/>
        </p:nvSpPr>
        <p:spPr>
          <a:xfrm>
            <a:off x="8686800" y="3383280"/>
            <a:ext cx="1280160" cy="914400"/>
          </a:xfrm>
          <a:prstGeom prst="rect">
            <a:avLst/>
          </a:prstGeom>
          <a:noFill/>
        </p:spPr>
        <p:txBody>
          <a:bodyPr wrap="square">
            <a:spAutoFit/>
          </a:bodyPr>
          <a:lstStyle/>
          <a:p>
            <a:pPr algn="ctr">
              <a:defRPr sz="1200" b="0">
                <a:solidFill>
                  <a:srgbClr val="94A3B8"/>
                </a:solidFill>
                <a:latin typeface="Segoe UI"/>
              </a:defRPr>
            </a:pPr>
            <a:r>
              <a:t>Treat as conversation</a:t>
            </a:r>
            <a:br/>
            <a:r>
              <a:t>not one-shot</a:t>
            </a:r>
          </a:p>
        </p:txBody>
      </p:sp>
      <p:sp>
        <p:nvSpPr>
          <p:cNvPr id="34" name="Rounded Rectangle 33"/>
          <p:cNvSpPr/>
          <p:nvPr/>
        </p:nvSpPr>
        <p:spPr>
          <a:xfrm>
            <a:off x="10222992"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0222992" y="1554480"/>
            <a:ext cx="1463040" cy="50800"/>
          </a:xfrm>
          <a:prstGeom prst="roundRect">
            <a:avLst>
              <a:gd name="adj" fmla="val 4000"/>
            </a:avLst>
          </a:prstGeom>
          <a:solidFill>
            <a:srgbClr val="E87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314432" y="1828800"/>
            <a:ext cx="1280160" cy="457200"/>
          </a:xfrm>
          <a:prstGeom prst="rect">
            <a:avLst/>
          </a:prstGeom>
          <a:noFill/>
        </p:spPr>
        <p:txBody>
          <a:bodyPr wrap="square">
            <a:spAutoFit/>
          </a:bodyPr>
          <a:lstStyle/>
          <a:p>
            <a:pPr algn="ctr">
              <a:defRPr sz="3200" b="0">
                <a:solidFill>
                  <a:srgbClr val="E879F9"/>
                </a:solidFill>
                <a:latin typeface="Segoe UI"/>
              </a:defRPr>
            </a:pPr>
            <a:r>
              <a:t>🎤</a:t>
            </a:r>
          </a:p>
        </p:txBody>
      </p:sp>
      <p:sp>
        <p:nvSpPr>
          <p:cNvPr id="37" name="TextBox 36"/>
          <p:cNvSpPr txBox="1"/>
          <p:nvPr/>
        </p:nvSpPr>
        <p:spPr>
          <a:xfrm>
            <a:off x="10314432" y="2377440"/>
            <a:ext cx="1280160" cy="914400"/>
          </a:xfrm>
          <a:prstGeom prst="rect">
            <a:avLst/>
          </a:prstGeom>
          <a:noFill/>
        </p:spPr>
        <p:txBody>
          <a:bodyPr wrap="square">
            <a:spAutoFit/>
          </a:bodyPr>
          <a:lstStyle/>
          <a:p>
            <a:pPr algn="ctr">
              <a:defRPr sz="1400" b="1">
                <a:solidFill>
                  <a:srgbClr val="FFFFFF"/>
                </a:solidFill>
                <a:latin typeface="Segoe UI"/>
              </a:defRPr>
            </a:pPr>
            <a:r>
              <a:t>Interview-Style</a:t>
            </a:r>
            <a:br/>
            <a:r>
              <a:t>Prompting</a:t>
            </a:r>
          </a:p>
        </p:txBody>
      </p:sp>
      <p:sp>
        <p:nvSpPr>
          <p:cNvPr id="38" name="TextBox 37"/>
          <p:cNvSpPr txBox="1"/>
          <p:nvPr/>
        </p:nvSpPr>
        <p:spPr>
          <a:xfrm>
            <a:off x="10314432" y="3383280"/>
            <a:ext cx="1280160" cy="914400"/>
          </a:xfrm>
          <a:prstGeom prst="rect">
            <a:avLst/>
          </a:prstGeom>
          <a:noFill/>
        </p:spPr>
        <p:txBody>
          <a:bodyPr wrap="square">
            <a:spAutoFit/>
          </a:bodyPr>
          <a:lstStyle/>
          <a:p>
            <a:pPr algn="ctr">
              <a:defRPr sz="1200" b="0">
                <a:solidFill>
                  <a:srgbClr val="94A3B8"/>
                </a:solidFill>
                <a:latin typeface="Segoe UI"/>
              </a:defRPr>
            </a:pPr>
            <a:r>
              <a:t>Let the model</a:t>
            </a:r>
            <a:br/>
            <a:r>
              <a:t>ask questions</a:t>
            </a:r>
          </a:p>
        </p:txBody>
      </p:sp>
      <p:sp>
        <p:nvSpPr>
          <p:cNvPr id="39" name="TextBox 38"/>
          <p:cNvSpPr txBox="1"/>
          <p:nvPr/>
        </p:nvSpPr>
        <p:spPr>
          <a:xfrm>
            <a:off x="731520" y="6126480"/>
            <a:ext cx="10058400" cy="457200"/>
          </a:xfrm>
          <a:prstGeom prst="rect">
            <a:avLst/>
          </a:prstGeom>
          <a:noFill/>
        </p:spPr>
        <p:txBody>
          <a:bodyPr wrap="square">
            <a:spAutoFit/>
          </a:bodyPr>
          <a:lstStyle/>
          <a:p>
            <a:pPr algn="ctr">
              <a:defRPr sz="1500" b="0">
                <a:solidFill>
                  <a:srgbClr val="94A3B8"/>
                </a:solidFill>
                <a:latin typeface="Segoe UI"/>
              </a:defRPr>
            </a:pPr>
            <a:r>
              <a:t>Each technique is practiced in a dedicated hands-on lab with AI evaluation.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1</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rPr dirty="0"/>
              <a:t>Set the Scene: Context &amp; Specificity</a:t>
            </a:r>
          </a:p>
        </p:txBody>
      </p:sp>
      <p:sp>
        <p:nvSpPr>
          <p:cNvPr id="4" name="Rectangle 3"/>
          <p:cNvSpPr/>
          <p:nvPr/>
        </p:nvSpPr>
        <p:spPr>
          <a:xfrm>
            <a:off x="731520" y="96012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38BDF8"/>
                </a:solidFill>
                <a:latin typeface="Segoe UI"/>
              </a:defRPr>
            </a:pPr>
            <a:r>
              <a:t>📖  Concept: Be Specific &amp; Set the Scene</a:t>
            </a:r>
          </a:p>
        </p:txBody>
      </p:sp>
      <p:sp>
        <p:nvSpPr>
          <p:cNvPr id="6" name="TextBox 5"/>
          <p:cNvSpPr txBox="1"/>
          <p:nvPr/>
        </p:nvSpPr>
        <p:spPr>
          <a:xfrm>
            <a:off x="731520" y="1737360"/>
            <a:ext cx="5029200" cy="3200400"/>
          </a:xfrm>
          <a:prstGeom prst="rect">
            <a:avLst/>
          </a:prstGeom>
          <a:noFill/>
        </p:spPr>
        <p:txBody>
          <a:bodyPr wrap="square">
            <a:spAutoFit/>
          </a:bodyPr>
          <a:lstStyle/>
          <a:p>
            <a:endParaRPr dirty="0"/>
          </a:p>
          <a:p>
            <a:pPr>
              <a:spcBef>
                <a:spcPts val="300"/>
              </a:spcBef>
              <a:spcAft>
                <a:spcPts val="300"/>
              </a:spcAft>
              <a:defRPr sz="1500">
                <a:solidFill>
                  <a:srgbClr val="E2E8F0"/>
                </a:solidFill>
                <a:latin typeface="Segoe UI"/>
              </a:defRPr>
            </a:pPr>
            <a:r>
              <a:rPr dirty="0"/>
              <a:t>Define role — "You are a senior technical writer"</a:t>
            </a:r>
          </a:p>
          <a:p>
            <a:pPr>
              <a:spcBef>
                <a:spcPts val="300"/>
              </a:spcBef>
              <a:spcAft>
                <a:spcPts val="300"/>
              </a:spcAft>
              <a:defRPr sz="1500">
                <a:solidFill>
                  <a:srgbClr val="E2E8F0"/>
                </a:solidFill>
                <a:latin typeface="Segoe UI"/>
              </a:defRPr>
            </a:pPr>
            <a:r>
              <a:rPr dirty="0"/>
              <a:t>Define audience — "Writing for </a:t>
            </a:r>
            <a:r>
              <a:rPr dirty="0" err="1"/>
              <a:t>devs</a:t>
            </a:r>
            <a:r>
              <a:rPr dirty="0"/>
              <a:t> who know Python"</a:t>
            </a:r>
          </a:p>
          <a:p>
            <a:pPr>
              <a:spcBef>
                <a:spcPts val="300"/>
              </a:spcBef>
              <a:spcAft>
                <a:spcPts val="300"/>
              </a:spcAft>
              <a:defRPr sz="1500">
                <a:solidFill>
                  <a:srgbClr val="E2E8F0"/>
                </a:solidFill>
                <a:latin typeface="Segoe UI"/>
              </a:defRPr>
            </a:pPr>
            <a:r>
              <a:rPr dirty="0"/>
              <a:t>Define tone — "Professional but friendly"</a:t>
            </a:r>
          </a:p>
          <a:p>
            <a:pPr>
              <a:spcBef>
                <a:spcPts val="300"/>
              </a:spcBef>
              <a:spcAft>
                <a:spcPts val="300"/>
              </a:spcAft>
              <a:defRPr sz="1500">
                <a:solidFill>
                  <a:srgbClr val="E2E8F0"/>
                </a:solidFill>
                <a:latin typeface="Segoe UI"/>
              </a:defRPr>
            </a:pPr>
            <a:r>
              <a:rPr dirty="0"/>
              <a:t>Define format — "3 paragraphs: overview, steps, pitfalls"</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38BDF8"/>
                </a:solidFill>
                <a:latin typeface="Segoe UI"/>
              </a:defRPr>
            </a:pPr>
            <a:r>
              <a:rPr dirty="0"/>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rPr dirty="0"/>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defRPr sz="1100">
                <a:solidFill>
                  <a:srgbClr val="4ADE80"/>
                </a:solidFill>
                <a:latin typeface="Cascadia Code"/>
              </a:defRPr>
            </a:pPr>
            <a:r>
              <a:rPr lang="en-US" dirty="0"/>
              <a:t>Write documentation for my API.</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defRPr sz="1100">
                <a:solidFill>
                  <a:srgbClr val="4ADE80"/>
                </a:solidFill>
                <a:latin typeface="Cascadia Code"/>
              </a:defRPr>
            </a:pPr>
            <a:r>
              <a:rPr lang="en-US" sz="1100" dirty="0"/>
              <a:t>You are a senior technical writer at a developer-tools company. Write the "Getting Started" section of our REST API docs. Audience: backend </a:t>
            </a:r>
            <a:r>
              <a:rPr lang="en-US" sz="1100" dirty="0" err="1"/>
              <a:t>devs</a:t>
            </a:r>
            <a:r>
              <a:rPr lang="en-US" sz="1100" dirty="0"/>
              <a:t> who know Python but have never used our product. </a:t>
            </a:r>
          </a:p>
          <a:p>
            <a:pPr>
              <a:defRPr sz="1100">
                <a:solidFill>
                  <a:srgbClr val="4ADE80"/>
                </a:solidFill>
                <a:latin typeface="Cascadia Code"/>
              </a:defRPr>
            </a:pPr>
            <a:r>
              <a:rPr lang="en-US" sz="1100" dirty="0"/>
              <a:t>Tone: professional but friendly</a:t>
            </a:r>
            <a:endParaRPr lang="fa-IR" sz="1100" dirty="0"/>
          </a:p>
          <a:p>
            <a:pPr>
              <a:defRPr sz="1100">
                <a:solidFill>
                  <a:srgbClr val="4ADE80"/>
                </a:solidFill>
                <a:latin typeface="Cascadia Code"/>
              </a:defRPr>
            </a:pPr>
            <a:r>
              <a:rPr lang="en-US" sz="1100" dirty="0"/>
              <a:t>Format: Markdown with exactly 3 sections</a:t>
            </a:r>
            <a:endParaRPr lang="fa-IR" sz="1100" dirty="0"/>
          </a:p>
          <a:p>
            <a:pPr>
              <a:defRPr sz="1100">
                <a:solidFill>
                  <a:srgbClr val="4ADE80"/>
                </a:solidFill>
                <a:latin typeface="Cascadia Code"/>
              </a:defRPr>
            </a:pPr>
            <a:r>
              <a:rPr lang="en-US" sz="1100" dirty="0"/>
              <a:t>1.Authentication (with a working </a:t>
            </a:r>
            <a:r>
              <a:rPr lang="en-US" sz="1100" dirty="0" err="1"/>
              <a:t>cURL</a:t>
            </a:r>
            <a:r>
              <a:rPr lang="en-US" sz="1100" dirty="0"/>
              <a:t> example) </a:t>
            </a:r>
          </a:p>
          <a:p>
            <a:pPr>
              <a:defRPr sz="1100">
                <a:solidFill>
                  <a:srgbClr val="4ADE80"/>
                </a:solidFill>
                <a:latin typeface="Cascadia Code"/>
              </a:defRPr>
            </a:pPr>
            <a:r>
              <a:rPr lang="en-US" sz="1100" dirty="0"/>
              <a:t>2. First request (step-by-step, numbered) </a:t>
            </a:r>
          </a:p>
          <a:p>
            <a:pPr>
              <a:defRPr sz="1100">
                <a:solidFill>
                  <a:srgbClr val="4ADE80"/>
                </a:solidFill>
                <a:latin typeface="Cascadia Code"/>
              </a:defRPr>
            </a:pPr>
            <a:r>
              <a:rPr lang="en-US" sz="1100" dirty="0"/>
              <a:t>3. Common errors (a table of HTTP status codes) </a:t>
            </a:r>
          </a:p>
          <a:p>
            <a:pPr>
              <a:defRPr sz="1100">
                <a:solidFill>
                  <a:srgbClr val="4ADE80"/>
                </a:solidFill>
                <a:latin typeface="Cascadia Code"/>
              </a:defRPr>
            </a:pPr>
            <a:r>
              <a:rPr lang="en-US" sz="1100" dirty="0"/>
              <a:t>Under 300 words. Use realistic endpoint names like /v1/tasks.</a:t>
            </a:r>
            <a:endParaRPr dirty="0"/>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rPr dirty="0"/>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rPr dirty="0"/>
              <a:t>Which prompt best applies all four scene-setting elements?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P spid="10" grpId="0" animBg="1"/>
      <p:bldP spid="11" grpId="0" animBg="1"/>
      <p:bldP spid="12" grpId="0"/>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gd name="adj" fmla="val 6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72A"/>
                </a:solidFill>
                <a:latin typeface="Segoe UI"/>
              </a:rPr>
              <a:t>Lab 1</a:t>
            </a:r>
          </a:p>
        </p:txBody>
      </p:sp>
      <p:sp>
        <p:nvSpPr>
          <p:cNvPr id="3" name="TextBox 2"/>
          <p:cNvSpPr txBox="1"/>
          <p:nvPr/>
        </p:nvSpPr>
        <p:spPr>
          <a:xfrm>
            <a:off x="1828800" y="320040"/>
            <a:ext cx="9601200" cy="548640"/>
          </a:xfrm>
          <a:prstGeom prst="rect">
            <a:avLst/>
          </a:prstGeom>
          <a:noFill/>
        </p:spPr>
        <p:txBody>
          <a:bodyPr wrap="square">
            <a:spAutoFit/>
          </a:bodyPr>
          <a:lstStyle/>
          <a:p>
            <a:pPr>
              <a:spcBef>
                <a:spcPts val="0"/>
              </a:spcBef>
              <a:spcAft>
                <a:spcPts val="0"/>
              </a:spcAft>
            </a:pPr>
            <a:r>
              <a:rPr sz="3200" b="1">
                <a:solidFill>
                  <a:srgbClr val="FFFFFF"/>
                </a:solidFill>
                <a:latin typeface="Segoe UI"/>
              </a:rPr>
              <a:t>Why Role Prompting Works</a:t>
            </a:r>
          </a:p>
        </p:txBody>
      </p:sp>
      <p:sp>
        <p:nvSpPr>
          <p:cNvPr id="4" name="Rectangle 3"/>
          <p:cNvSpPr/>
          <p:nvPr/>
        </p:nvSpPr>
        <p:spPr>
          <a:xfrm>
            <a:off x="731520" y="960120"/>
            <a:ext cx="3657600" cy="508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60000"/>
            <a:ext cx="10881360" cy="380000"/>
          </a:xfrm>
          <a:prstGeom prst="rect">
            <a:avLst/>
          </a:prstGeom>
          <a:noFill/>
        </p:spPr>
        <p:txBody>
          <a:bodyPr wrap="square">
            <a:spAutoFit/>
          </a:bodyPr>
          <a:lstStyle/>
          <a:p>
            <a:pPr>
              <a:spcBef>
                <a:spcPts val="0"/>
              </a:spcBef>
              <a:spcAft>
                <a:spcPts val="0"/>
              </a:spcAft>
            </a:pPr>
            <a:r>
              <a:rPr sz="1500" b="0" dirty="0">
                <a:solidFill>
                  <a:srgbClr val="94A3B8"/>
                </a:solidFill>
                <a:latin typeface="Segoe UI"/>
              </a:rPr>
              <a:t>A role is not acting: it conditions which tokens the model considers likely.</a:t>
            </a:r>
          </a:p>
        </p:txBody>
      </p:sp>
      <p:sp>
        <p:nvSpPr>
          <p:cNvPr id="6" name="Rounded Rectangle 5"/>
          <p:cNvSpPr/>
          <p:nvPr/>
        </p:nvSpPr>
        <p:spPr>
          <a:xfrm>
            <a:off x="731520" y="1508760"/>
            <a:ext cx="5303520" cy="196596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00200"/>
            <a:ext cx="4937760" cy="365760"/>
          </a:xfrm>
          <a:prstGeom prst="rect">
            <a:avLst/>
          </a:prstGeom>
          <a:noFill/>
        </p:spPr>
        <p:txBody>
          <a:bodyPr wrap="square">
            <a:spAutoFit/>
          </a:bodyPr>
          <a:lstStyle/>
          <a:p>
            <a:pPr>
              <a:spcBef>
                <a:spcPts val="0"/>
              </a:spcBef>
              <a:spcAft>
                <a:spcPts val="0"/>
              </a:spcAft>
            </a:pPr>
            <a:r>
              <a:rPr sz="1800" b="1" dirty="0">
                <a:solidFill>
                  <a:srgbClr val="38BDF8"/>
                </a:solidFill>
                <a:latin typeface="Segoe UI"/>
              </a:rPr>
              <a:t>🎯  Conditions the Output Space</a:t>
            </a:r>
          </a:p>
        </p:txBody>
      </p:sp>
      <p:sp>
        <p:nvSpPr>
          <p:cNvPr id="8" name="TextBox 7"/>
          <p:cNvSpPr txBox="1"/>
          <p:nvPr/>
        </p:nvSpPr>
        <p:spPr>
          <a:xfrm>
            <a:off x="914400" y="2028760"/>
            <a:ext cx="4937760" cy="1365960"/>
          </a:xfrm>
          <a:prstGeom prst="rect">
            <a:avLst/>
          </a:prstGeom>
          <a:noFill/>
        </p:spPr>
        <p:txBody>
          <a:bodyPr wrap="square">
            <a:spAutoFit/>
          </a:bodyPr>
          <a:lstStyle/>
          <a:p>
            <a:pPr>
              <a:spcBef>
                <a:spcPts val="250"/>
              </a:spcBef>
              <a:spcAft>
                <a:spcPts val="250"/>
              </a:spcAft>
            </a:pPr>
            <a:r>
              <a:rPr sz="1300" b="0" dirty="0">
                <a:solidFill>
                  <a:srgbClr val="E2E8F0"/>
                </a:solidFill>
                <a:latin typeface="Segoe UI"/>
              </a:rPr>
              <a:t>A role is a statistical condition on next-token prediction</a:t>
            </a:r>
          </a:p>
          <a:p>
            <a:pPr>
              <a:spcBef>
                <a:spcPts val="250"/>
              </a:spcBef>
              <a:spcAft>
                <a:spcPts val="250"/>
              </a:spcAft>
            </a:pPr>
            <a:r>
              <a:rPr sz="1300" b="0" dirty="0">
                <a:solidFill>
                  <a:srgbClr val="E2E8F0"/>
                </a:solidFill>
                <a:latin typeface="Segoe UI"/>
              </a:rPr>
              <a:t>"What is relativity?" → kids' book? Wikipedia? lecture?</a:t>
            </a:r>
          </a:p>
          <a:p>
            <a:pPr>
              <a:spcBef>
                <a:spcPts val="250"/>
              </a:spcBef>
              <a:spcAft>
                <a:spcPts val="250"/>
              </a:spcAft>
            </a:pPr>
            <a:r>
              <a:rPr sz="1200" b="0" dirty="0">
                <a:solidFill>
                  <a:srgbClr val="4ADE80"/>
                </a:solidFill>
                <a:latin typeface="Segoe UI"/>
              </a:rPr>
              <a:t>"You are a theoretical physics professor at Princeton…"</a:t>
            </a:r>
          </a:p>
          <a:p>
            <a:pPr>
              <a:spcBef>
                <a:spcPts val="250"/>
              </a:spcBef>
              <a:spcAft>
                <a:spcPts val="250"/>
              </a:spcAft>
            </a:pPr>
            <a:r>
              <a:rPr sz="1200" b="0" dirty="0">
                <a:solidFill>
                  <a:srgbClr val="22D3EE"/>
                </a:solidFill>
                <a:latin typeface="Segoe UI"/>
              </a:rPr>
              <a:t>→ academic terms, rigorous reasoning, no casual filler</a:t>
            </a:r>
          </a:p>
        </p:txBody>
      </p:sp>
      <p:sp>
        <p:nvSpPr>
          <p:cNvPr id="9" name="Rounded Rectangle 8"/>
          <p:cNvSpPr/>
          <p:nvPr/>
        </p:nvSpPr>
        <p:spPr>
          <a:xfrm>
            <a:off x="6309360" y="1508760"/>
            <a:ext cx="5303520" cy="196596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600200"/>
            <a:ext cx="4937760" cy="365760"/>
          </a:xfrm>
          <a:prstGeom prst="rect">
            <a:avLst/>
          </a:prstGeom>
          <a:noFill/>
        </p:spPr>
        <p:txBody>
          <a:bodyPr wrap="square">
            <a:spAutoFit/>
          </a:bodyPr>
          <a:lstStyle/>
          <a:p>
            <a:pPr>
              <a:spcBef>
                <a:spcPts val="0"/>
              </a:spcBef>
              <a:spcAft>
                <a:spcPts val="0"/>
              </a:spcAft>
            </a:pPr>
            <a:r>
              <a:rPr sz="1800" b="1" dirty="0">
                <a:solidFill>
                  <a:srgbClr val="38BDF8"/>
                </a:solidFill>
                <a:latin typeface="Segoe UI"/>
              </a:rPr>
              <a:t>📚  Prioritizes Domain Vocabulary</a:t>
            </a:r>
          </a:p>
        </p:txBody>
      </p:sp>
      <p:sp>
        <p:nvSpPr>
          <p:cNvPr id="11" name="TextBox 10"/>
          <p:cNvSpPr txBox="1"/>
          <p:nvPr/>
        </p:nvSpPr>
        <p:spPr>
          <a:xfrm>
            <a:off x="6492240" y="2028760"/>
            <a:ext cx="4937760" cy="1365960"/>
          </a:xfrm>
          <a:prstGeom prst="rect">
            <a:avLst/>
          </a:prstGeom>
          <a:noFill/>
        </p:spPr>
        <p:txBody>
          <a:bodyPr wrap="square">
            <a:spAutoFit/>
          </a:bodyPr>
          <a:lstStyle/>
          <a:p>
            <a:pPr>
              <a:spcBef>
                <a:spcPts val="250"/>
              </a:spcBef>
              <a:spcAft>
                <a:spcPts val="250"/>
              </a:spcAft>
            </a:pPr>
            <a:r>
              <a:rPr sz="1300" b="0" dirty="0">
                <a:solidFill>
                  <a:srgbClr val="E2E8F0"/>
                </a:solidFill>
                <a:latin typeface="Segoe UI"/>
              </a:rPr>
              <a:t>Each field has its own terms and phrasing patterns</a:t>
            </a:r>
          </a:p>
          <a:p>
            <a:pPr>
              <a:spcBef>
                <a:spcPts val="250"/>
              </a:spcBef>
              <a:spcAft>
                <a:spcPts val="250"/>
              </a:spcAft>
            </a:pPr>
            <a:r>
              <a:rPr sz="1200" b="0" dirty="0">
                <a:solidFill>
                  <a:srgbClr val="4ADE80"/>
                </a:solidFill>
                <a:latin typeface="Segoe UI"/>
              </a:rPr>
              <a:t>Security expert → Vulnerability, Attack Surface, Zero Trust</a:t>
            </a:r>
          </a:p>
          <a:p>
            <a:pPr>
              <a:spcBef>
                <a:spcPts val="250"/>
              </a:spcBef>
              <a:spcAft>
                <a:spcPts val="250"/>
              </a:spcAft>
            </a:pPr>
            <a:r>
              <a:rPr sz="1200" b="0" dirty="0">
                <a:solidFill>
                  <a:srgbClr val="22D3EE"/>
                </a:solidFill>
                <a:latin typeface="Segoe UI"/>
              </a:rPr>
              <a:t>Systems architect → Throughput, Latency, Idempotency</a:t>
            </a:r>
          </a:p>
          <a:p>
            <a:pPr>
              <a:spcBef>
                <a:spcPts val="250"/>
              </a:spcBef>
              <a:spcAft>
                <a:spcPts val="250"/>
              </a:spcAft>
            </a:pPr>
            <a:r>
              <a:rPr sz="1300" b="0" dirty="0">
                <a:solidFill>
                  <a:srgbClr val="E2E8F0"/>
                </a:solidFill>
                <a:latin typeface="Segoe UI"/>
              </a:rPr>
              <a:t>Result: less generic, more technical depth</a:t>
            </a:r>
          </a:p>
        </p:txBody>
      </p:sp>
      <p:sp>
        <p:nvSpPr>
          <p:cNvPr id="12" name="Rounded Rectangle 11"/>
          <p:cNvSpPr/>
          <p:nvPr/>
        </p:nvSpPr>
        <p:spPr>
          <a:xfrm>
            <a:off x="731520" y="3566160"/>
            <a:ext cx="5303520" cy="196596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657600"/>
            <a:ext cx="4937760" cy="365760"/>
          </a:xfrm>
          <a:prstGeom prst="rect">
            <a:avLst/>
          </a:prstGeom>
          <a:noFill/>
        </p:spPr>
        <p:txBody>
          <a:bodyPr wrap="square">
            <a:spAutoFit/>
          </a:bodyPr>
          <a:lstStyle/>
          <a:p>
            <a:pPr>
              <a:spcBef>
                <a:spcPts val="0"/>
              </a:spcBef>
              <a:spcAft>
                <a:spcPts val="0"/>
              </a:spcAft>
            </a:pPr>
            <a:r>
              <a:rPr sz="1800" b="1" dirty="0">
                <a:solidFill>
                  <a:srgbClr val="38BDF8"/>
                </a:solidFill>
                <a:latin typeface="Segoe UI"/>
              </a:rPr>
              <a:t>🧭  Shapes Reasoning &amp; Perspective</a:t>
            </a:r>
          </a:p>
        </p:txBody>
      </p:sp>
      <p:sp>
        <p:nvSpPr>
          <p:cNvPr id="14" name="TextBox 13"/>
          <p:cNvSpPr txBox="1"/>
          <p:nvPr/>
        </p:nvSpPr>
        <p:spPr>
          <a:xfrm>
            <a:off x="914400" y="4086160"/>
            <a:ext cx="4937760" cy="1365960"/>
          </a:xfrm>
          <a:prstGeom prst="rect">
            <a:avLst/>
          </a:prstGeom>
          <a:noFill/>
        </p:spPr>
        <p:txBody>
          <a:bodyPr wrap="square">
            <a:spAutoFit/>
          </a:bodyPr>
          <a:lstStyle/>
          <a:p>
            <a:pPr>
              <a:spcBef>
                <a:spcPts val="250"/>
              </a:spcBef>
              <a:spcAft>
                <a:spcPts val="250"/>
              </a:spcAft>
            </a:pPr>
            <a:r>
              <a:rPr sz="1300" b="0" dirty="0">
                <a:solidFill>
                  <a:srgbClr val="E2E8F0"/>
                </a:solidFill>
                <a:latin typeface="Segoe UI"/>
              </a:rPr>
              <a:t>"Should we move to micro-frontends?"</a:t>
            </a:r>
          </a:p>
          <a:p>
            <a:pPr>
              <a:spcBef>
                <a:spcPts val="250"/>
              </a:spcBef>
              <a:spcAft>
                <a:spcPts val="250"/>
              </a:spcAft>
            </a:pPr>
            <a:r>
              <a:rPr sz="1200" b="0" dirty="0">
                <a:solidFill>
                  <a:srgbClr val="4ADE80"/>
                </a:solidFill>
                <a:latin typeface="Segoe UI"/>
              </a:rPr>
              <a:t>Junior developer → trendy tech, fun to learn</a:t>
            </a:r>
          </a:p>
          <a:p>
            <a:pPr>
              <a:spcBef>
                <a:spcPts val="250"/>
              </a:spcBef>
              <a:spcAft>
                <a:spcPts val="250"/>
              </a:spcAft>
            </a:pPr>
            <a:r>
              <a:rPr sz="1200" b="0" dirty="0">
                <a:solidFill>
                  <a:srgbClr val="22D3EE"/>
                </a:solidFill>
                <a:latin typeface="Segoe UI"/>
              </a:rPr>
              <a:t>Senior CTO → deploy cost, maintenance, team size, ROI</a:t>
            </a:r>
          </a:p>
          <a:p>
            <a:pPr>
              <a:spcBef>
                <a:spcPts val="250"/>
              </a:spcBef>
              <a:spcAft>
                <a:spcPts val="250"/>
              </a:spcAft>
            </a:pPr>
            <a:r>
              <a:rPr sz="1300" b="0" dirty="0">
                <a:solidFill>
                  <a:srgbClr val="E2E8F0"/>
                </a:solidFill>
                <a:latin typeface="Segoe UI"/>
              </a:rPr>
              <a:t>The role decides which variables get priority</a:t>
            </a:r>
          </a:p>
        </p:txBody>
      </p:sp>
      <p:sp>
        <p:nvSpPr>
          <p:cNvPr id="15" name="Rounded Rectangle 14"/>
          <p:cNvSpPr/>
          <p:nvPr/>
        </p:nvSpPr>
        <p:spPr>
          <a:xfrm>
            <a:off x="6309360" y="3566160"/>
            <a:ext cx="5303520" cy="196596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3657600"/>
            <a:ext cx="4937760" cy="365760"/>
          </a:xfrm>
          <a:prstGeom prst="rect">
            <a:avLst/>
          </a:prstGeom>
          <a:noFill/>
        </p:spPr>
        <p:txBody>
          <a:bodyPr wrap="square">
            <a:spAutoFit/>
          </a:bodyPr>
          <a:lstStyle/>
          <a:p>
            <a:pPr>
              <a:spcBef>
                <a:spcPts val="0"/>
              </a:spcBef>
              <a:spcAft>
                <a:spcPts val="0"/>
              </a:spcAft>
            </a:pPr>
            <a:r>
              <a:rPr sz="1800" b="1" dirty="0">
                <a:solidFill>
                  <a:srgbClr val="38BDF8"/>
                </a:solidFill>
                <a:latin typeface="Segoe UI"/>
              </a:rPr>
              <a:t>🗜️  Compresses Long Instructions</a:t>
            </a:r>
          </a:p>
        </p:txBody>
      </p:sp>
      <p:sp>
        <p:nvSpPr>
          <p:cNvPr id="17" name="TextBox 16"/>
          <p:cNvSpPr txBox="1"/>
          <p:nvPr/>
        </p:nvSpPr>
        <p:spPr>
          <a:xfrm>
            <a:off x="6492240" y="4086160"/>
            <a:ext cx="4937760" cy="1365960"/>
          </a:xfrm>
          <a:prstGeom prst="rect">
            <a:avLst/>
          </a:prstGeom>
          <a:noFill/>
        </p:spPr>
        <p:txBody>
          <a:bodyPr wrap="square">
            <a:spAutoFit/>
          </a:bodyPr>
          <a:lstStyle/>
          <a:p>
            <a:pPr>
              <a:spcBef>
                <a:spcPts val="250"/>
              </a:spcBef>
              <a:spcAft>
                <a:spcPts val="250"/>
              </a:spcAft>
            </a:pPr>
            <a:r>
              <a:rPr sz="1200" b="0" dirty="0">
                <a:solidFill>
                  <a:srgbClr val="4ADE80"/>
                </a:solidFill>
                <a:latin typeface="Segoe UI"/>
              </a:rPr>
              <a:t>"You are a Senior Cloud Solutions Architect."</a:t>
            </a:r>
          </a:p>
          <a:p>
            <a:pPr>
              <a:spcBef>
                <a:spcPts val="250"/>
              </a:spcBef>
              <a:spcAft>
                <a:spcPts val="250"/>
              </a:spcAft>
            </a:pPr>
            <a:r>
              <a:rPr sz="1300" b="0" dirty="0">
                <a:solidFill>
                  <a:srgbClr val="E2E8F0"/>
                </a:solidFill>
                <a:latin typeface="Segoe UI"/>
              </a:rPr>
              <a:t>= professional tone + cloud terminology + high availability</a:t>
            </a:r>
          </a:p>
          <a:p>
            <a:pPr>
              <a:spcBef>
                <a:spcPts val="250"/>
              </a:spcBef>
              <a:spcAft>
                <a:spcPts val="250"/>
              </a:spcAft>
            </a:pPr>
            <a:r>
              <a:rPr sz="1300" b="0" dirty="0">
                <a:solidFill>
                  <a:srgbClr val="E2E8F0"/>
                </a:solidFill>
                <a:latin typeface="Segoe UI"/>
              </a:rPr>
              <a:t>   + modular code + no clichés</a:t>
            </a:r>
          </a:p>
          <a:p>
            <a:pPr>
              <a:spcBef>
                <a:spcPts val="250"/>
              </a:spcBef>
              <a:spcAft>
                <a:spcPts val="250"/>
              </a:spcAft>
            </a:pPr>
            <a:r>
              <a:rPr sz="1300" b="0" dirty="0">
                <a:solidFill>
                  <a:srgbClr val="22D3EE"/>
                </a:solidFill>
                <a:latin typeface="Segoe UI"/>
              </a:rPr>
              <a:t>One job title packs many implicit expectations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P spid="9" grpId="0" animBg="1"/>
      <p:bldP spid="10" grpId="0"/>
      <p:bldP spid="11" grpId="0"/>
      <p:bldP spid="12" grpId="0" animBg="1"/>
      <p:bldP spid="13" grpId="0"/>
      <p:bldP spid="14" grpId="0"/>
      <p:bldP spid="15" grpId="0" animBg="1"/>
      <p:bldP spid="16"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1</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1: Python Hiring on LinkedIn</a:t>
            </a:r>
          </a:p>
        </p:txBody>
      </p:sp>
      <p:sp>
        <p:nvSpPr>
          <p:cNvPr id="4" name="Rectangle 3"/>
          <p:cNvSpPr/>
          <p:nvPr/>
        </p:nvSpPr>
        <p:spPr>
          <a:xfrm>
            <a:off x="731520" y="96012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38BDF8"/>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Your company urgently needs a Python developer.</a:t>
            </a:r>
            <a:br/>
            <a:br/>
            <a:r>
              <a:t>Write a prompt that produces an engaging LinkedIn recruiting post.</a:t>
            </a:r>
            <a:br/>
            <a:br/>
            <a:r>
              <a:t>You MUST explicitly specify:</a:t>
            </a:r>
            <a:br/>
            <a:r>
              <a:t>  • Role (20 pts) — e.g., technical recruiter</a:t>
            </a:r>
            <a:br/>
            <a:r>
              <a:t>  • Audience (20 pts) — the Python candidates</a:t>
            </a:r>
            <a:br/>
            <a:r>
              <a:t>  • Tone (20 pts) — professional, welcoming</a:t>
            </a:r>
            <a:br/>
            <a:r>
              <a:t>  • Format (40 pts) — paragraph structure + example/analogy</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Role (20): assigns hiring manager / recruiter</a:t>
            </a:r>
          </a:p>
          <a:p>
            <a:pPr>
              <a:spcBef>
                <a:spcPts val="300"/>
              </a:spcBef>
              <a:spcAft>
                <a:spcPts val="300"/>
              </a:spcAft>
              <a:defRPr sz="1300">
                <a:solidFill>
                  <a:srgbClr val="E2E8F0"/>
                </a:solidFill>
                <a:latin typeface="Segoe UI"/>
              </a:defRPr>
            </a:pPr>
            <a:r>
              <a:t>Audience (20): identifies Python candidates precisely</a:t>
            </a:r>
          </a:p>
          <a:p>
            <a:pPr>
              <a:spcBef>
                <a:spcPts val="300"/>
              </a:spcBef>
              <a:spcAft>
                <a:spcPts val="300"/>
              </a:spcAft>
              <a:defRPr sz="1300">
                <a:solidFill>
                  <a:srgbClr val="E2E8F0"/>
                </a:solidFill>
                <a:latin typeface="Segoe UI"/>
              </a:defRPr>
            </a:pPr>
            <a:r>
              <a:t>Tone (20): professional, welcoming, accessible</a:t>
            </a:r>
          </a:p>
          <a:p>
            <a:pPr>
              <a:spcBef>
                <a:spcPts val="300"/>
              </a:spcBef>
              <a:spcAft>
                <a:spcPts val="300"/>
              </a:spcAft>
              <a:defRPr sz="1300">
                <a:solidFill>
                  <a:srgbClr val="E2E8F0"/>
                </a:solidFill>
                <a:latin typeface="Segoe UI"/>
              </a:defRPr>
            </a:pPr>
            <a:r>
              <a:t>Format (40): clear structure + explicit example/analogy request</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rPr dirty="0"/>
              <a:t>⏱  </a:t>
            </a:r>
            <a:r>
              <a:rPr lang="fa-IR" dirty="0"/>
              <a:t>7</a:t>
            </a:r>
            <a:r>
              <a:rPr dirty="0"/>
              <a:t>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2</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Few-Shot Examples: Teaching by Pattern</a:t>
            </a:r>
          </a:p>
        </p:txBody>
      </p:sp>
      <p:sp>
        <p:nvSpPr>
          <p:cNvPr id="4" name="Rectangle 3"/>
          <p:cNvSpPr/>
          <p:nvPr/>
        </p:nvSpPr>
        <p:spPr>
          <a:xfrm>
            <a:off x="731520" y="960120"/>
            <a:ext cx="3657600" cy="5080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4ADE80"/>
                </a:solidFill>
                <a:latin typeface="Segoe UI"/>
              </a:defRPr>
            </a:pPr>
            <a:r>
              <a:t>📖  Concept: Few-Shot Prompting</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Give 2–4 input → output example pairs</a:t>
            </a:r>
          </a:p>
          <a:p>
            <a:pPr>
              <a:spcBef>
                <a:spcPts val="300"/>
              </a:spcBef>
              <a:spcAft>
                <a:spcPts val="300"/>
              </a:spcAft>
              <a:defRPr sz="1500">
                <a:solidFill>
                  <a:srgbClr val="E2E8F0"/>
                </a:solidFill>
                <a:latin typeface="Segoe UI"/>
              </a:defRPr>
            </a:pPr>
            <a:r>
              <a:t>Model infers the pattern and replicates it</a:t>
            </a:r>
          </a:p>
          <a:p>
            <a:pPr>
              <a:spcBef>
                <a:spcPts val="300"/>
              </a:spcBef>
              <a:spcAft>
                <a:spcPts val="300"/>
              </a:spcAft>
              <a:defRPr sz="1500">
                <a:solidFill>
                  <a:srgbClr val="E2E8F0"/>
                </a:solidFill>
                <a:latin typeface="Segoe UI"/>
              </a:defRPr>
            </a:pPr>
            <a:r>
              <a:t>Especially helpful for format, style, edge cases</a:t>
            </a:r>
          </a:p>
          <a:p>
            <a:pPr>
              <a:spcBef>
                <a:spcPts val="300"/>
              </a:spcBef>
              <a:spcAft>
                <a:spcPts val="300"/>
              </a:spcAft>
              <a:defRPr sz="1500">
                <a:solidFill>
                  <a:srgbClr val="E2E8F0"/>
                </a:solidFill>
                <a:latin typeface="Segoe UI"/>
              </a:defRPr>
            </a:pPr>
            <a:r>
              <a:t>More examples = more consistent behavior</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4ADE80"/>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Turn this feedback into</a:t>
            </a:r>
            <a:br/>
            <a:r>
              <a:t>a short ticket title.</a:t>
            </a:r>
            <a:br/>
            <a:r>
              <a:t>Feedback: "App crashes</a:t>
            </a:r>
            <a:br/>
            <a:r>
              <a:t>uploading PDF on iPhone."</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Format: [Area] Brief description.</a:t>
            </a:r>
            <a:br/>
            <a:br/>
            <a:r>
              <a:t>Feedback: "Login broken on Safari."</a:t>
            </a:r>
            <a:br/>
            <a:r>
              <a:t>Title: [Auth] Google login fails</a:t>
            </a:r>
            <a:br/>
            <a:br/>
            <a:r>
              <a:t>Feedback: "CSV exports 100 rows."</a:t>
            </a:r>
            <a:br/>
            <a:r>
              <a:t>Title: [Export] CSV limited to 100</a:t>
            </a:r>
            <a:br/>
            <a:br/>
            <a:r>
              <a:t>Feedback: "PDF crash on iPhone."</a:t>
            </a:r>
            <a:br/>
            <a:r>
              <a:t>Title: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2</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2: Content Moderation &amp; PII</a:t>
            </a:r>
          </a:p>
        </p:txBody>
      </p:sp>
      <p:sp>
        <p:nvSpPr>
          <p:cNvPr id="4" name="Rectangle 3"/>
          <p:cNvSpPr/>
          <p:nvPr/>
        </p:nvSpPr>
        <p:spPr>
          <a:xfrm>
            <a:off x="731520" y="960120"/>
            <a:ext cx="3657600" cy="5080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4ADE80"/>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Online pharmacy needs AI to summarize reviews.</a:t>
            </a:r>
            <a:br/>
            <a:br/>
            <a:r>
              <a:t>Two legal edge cases:</a:t>
            </a:r>
            <a:br/>
            <a:r>
              <a:t>  1. Users include PII (phone/national ID)</a:t>
            </a:r>
            <a:br/>
            <a:r>
              <a:t>  2. Users ask medical advice</a:t>
            </a:r>
            <a:br/>
            <a:br/>
            <a:r>
              <a:t>Write a few-shot prompt with edge-case examples:</a:t>
            </a:r>
            <a:br/>
            <a:r>
              <a:t>  • Safe review → one-sentence summary</a:t>
            </a:r>
            <a:br/>
            <a:r>
              <a:t>  • PII detected → [FLAG_PII] only</a:t>
            </a:r>
            <a:br/>
            <a:r>
              <a:t>  • Medical advice → [FLAG_MEDICAL] only</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PII Example (20): distinct PII demo</a:t>
            </a:r>
          </a:p>
          <a:p>
            <a:pPr>
              <a:spcBef>
                <a:spcPts val="300"/>
              </a:spcBef>
              <a:spcAft>
                <a:spcPts val="300"/>
              </a:spcAft>
              <a:defRPr sz="1300">
                <a:solidFill>
                  <a:srgbClr val="E2E8F0"/>
                </a:solidFill>
                <a:latin typeface="Segoe UI"/>
              </a:defRPr>
            </a:pPr>
            <a:r>
              <a:t>Medical Example (20): distinct medical demo</a:t>
            </a:r>
          </a:p>
          <a:p>
            <a:pPr>
              <a:spcBef>
                <a:spcPts val="300"/>
              </a:spcBef>
              <a:spcAft>
                <a:spcPts val="300"/>
              </a:spcAft>
              <a:defRPr sz="1300">
                <a:solidFill>
                  <a:srgbClr val="E2E8F0"/>
                </a:solidFill>
                <a:latin typeface="Segoe UI"/>
              </a:defRPr>
            </a:pPr>
            <a:r>
              <a:t>Processing Prevention (40): ONLY returns tag</a:t>
            </a:r>
          </a:p>
          <a:p>
            <a:pPr>
              <a:spcBef>
                <a:spcPts val="300"/>
              </a:spcBef>
              <a:spcAft>
                <a:spcPts val="300"/>
              </a:spcAft>
              <a:defRPr sz="1300">
                <a:solidFill>
                  <a:srgbClr val="E2E8F0"/>
                </a:solidFill>
                <a:latin typeface="Segoe UI"/>
              </a:defRPr>
            </a:pPr>
            <a:r>
              <a:t>Instruction Clarity (20): clear rules explained</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t>⏱  20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400000" cy="480000"/>
          </a:xfrm>
          <a:prstGeom prst="roundRect">
            <a:avLst>
              <a:gd name="adj" fmla="val 5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172A"/>
                </a:solidFill>
                <a:latin typeface="Segoe UI"/>
              </a:rPr>
              <a:t>DEEP DIVE</a:t>
            </a:r>
          </a:p>
        </p:txBody>
      </p:sp>
      <p:sp>
        <p:nvSpPr>
          <p:cNvPr id="3" name="TextBox 2"/>
          <p:cNvSpPr txBox="1"/>
          <p:nvPr/>
        </p:nvSpPr>
        <p:spPr>
          <a:xfrm>
            <a:off x="2250000" y="290000"/>
            <a:ext cx="9200000" cy="548640"/>
          </a:xfrm>
          <a:prstGeom prst="rect">
            <a:avLst/>
          </a:prstGeom>
          <a:noFill/>
        </p:spPr>
        <p:txBody>
          <a:bodyPr wrap="square">
            <a:spAutoFit/>
          </a:bodyPr>
          <a:lstStyle/>
          <a:p>
            <a:pPr algn="l">
              <a:spcBef>
                <a:spcPts val="0"/>
              </a:spcBef>
              <a:spcAft>
                <a:spcPts val="0"/>
              </a:spcAft>
            </a:pPr>
            <a:r>
              <a:rPr sz="3100" b="1" dirty="0">
                <a:solidFill>
                  <a:srgbClr val="FFFFFF"/>
                </a:solidFill>
                <a:latin typeface="Segoe UI"/>
              </a:rPr>
              <a:t>Order Sensitivity &amp; Recency Bias</a:t>
            </a:r>
          </a:p>
        </p:txBody>
      </p:sp>
      <p:sp>
        <p:nvSpPr>
          <p:cNvPr id="4" name="Rectangle 3"/>
          <p:cNvSpPr/>
          <p:nvPr/>
        </p:nvSpPr>
        <p:spPr>
          <a:xfrm>
            <a:off x="731520" y="920000"/>
            <a:ext cx="3657600" cy="45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20000"/>
            <a:ext cx="10881360" cy="380000"/>
          </a:xfrm>
          <a:prstGeom prst="rect">
            <a:avLst/>
          </a:prstGeom>
          <a:noFill/>
        </p:spPr>
        <p:txBody>
          <a:bodyPr wrap="square">
            <a:spAutoFit/>
          </a:bodyPr>
          <a:lstStyle/>
          <a:p>
            <a:pPr algn="l">
              <a:spcBef>
                <a:spcPts val="0"/>
              </a:spcBef>
              <a:spcAft>
                <a:spcPts val="0"/>
              </a:spcAft>
            </a:pPr>
            <a:r>
              <a:rPr sz="1400" b="0" dirty="0">
                <a:solidFill>
                  <a:srgbClr val="94A3B8"/>
                </a:solidFill>
                <a:latin typeface="Segoe UI"/>
              </a:rPr>
              <a:t>LLMs are surprisingly sensitive to option ordering: swapping sequence can flip the model's final judgment.</a:t>
            </a:r>
          </a:p>
        </p:txBody>
      </p:sp>
      <p:sp>
        <p:nvSpPr>
          <p:cNvPr id="6" name="Rounded Rectangle 5"/>
          <p:cNvSpPr/>
          <p:nvPr/>
        </p:nvSpPr>
        <p:spPr>
          <a:xfrm>
            <a:off x="731520" y="1480000"/>
            <a:ext cx="10881360" cy="1680000"/>
          </a:xfrm>
          <a:prstGeom prst="roundRect">
            <a:avLst>
              <a:gd name="adj" fmla="val 5000"/>
            </a:avLst>
          </a:prstGeom>
          <a:solidFill>
            <a:srgbClr val="16203A"/>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1520" y="1590000"/>
            <a:ext cx="10521360" cy="320000"/>
          </a:xfrm>
          <a:prstGeom prst="rect">
            <a:avLst/>
          </a:prstGeom>
          <a:noFill/>
        </p:spPr>
        <p:txBody>
          <a:bodyPr wrap="square">
            <a:spAutoFit/>
          </a:bodyPr>
          <a:lstStyle/>
          <a:p>
            <a:pPr algn="l">
              <a:spcBef>
                <a:spcPts val="0"/>
              </a:spcBef>
              <a:spcAft>
                <a:spcPts val="0"/>
              </a:spcAft>
            </a:pPr>
            <a:r>
              <a:rPr sz="1550" b="1" dirty="0">
                <a:solidFill>
                  <a:srgbClr val="FBBF24"/>
                </a:solidFill>
                <a:latin typeface="Segoe UI"/>
              </a:rPr>
              <a:t>🔎  Anthropic Frontier Research Observation</a:t>
            </a:r>
          </a:p>
        </p:txBody>
      </p:sp>
      <p:sp>
        <p:nvSpPr>
          <p:cNvPr id="8" name="TextBox 7"/>
          <p:cNvSpPr txBox="1"/>
          <p:nvPr/>
        </p:nvSpPr>
        <p:spPr>
          <a:xfrm>
            <a:off x="911520" y="2000000"/>
            <a:ext cx="10521360" cy="713016"/>
          </a:xfrm>
          <a:prstGeom prst="rect">
            <a:avLst/>
          </a:prstGeom>
          <a:noFill/>
        </p:spPr>
        <p:txBody>
          <a:bodyPr wrap="square">
            <a:spAutoFit/>
          </a:bodyPr>
          <a:lstStyle/>
          <a:p>
            <a:pPr algn="l">
              <a:spcBef>
                <a:spcPts val="150"/>
              </a:spcBef>
              <a:spcAft>
                <a:spcPts val="150"/>
              </a:spcAft>
            </a:pPr>
            <a:r>
              <a:rPr sz="1250" b="0" dirty="0">
                <a:solidFill>
                  <a:srgbClr val="4ADE80"/>
                </a:solidFill>
                <a:latin typeface="Segoe UI"/>
              </a:rPr>
              <a:t>"Claude is sensitive to ordering. When we swap the order of the arguments so that negative is first and positive is second, this changes Claude's overall assessment to positive."</a:t>
            </a:r>
          </a:p>
          <a:p>
            <a:pPr algn="l">
              <a:spcBef>
                <a:spcPts val="150"/>
              </a:spcBef>
              <a:spcAft>
                <a:spcPts val="150"/>
              </a:spcAft>
            </a:pPr>
            <a:r>
              <a:rPr sz="1200" b="0" dirty="0">
                <a:solidFill>
                  <a:srgbClr val="22D3EE"/>
                </a:solidFill>
                <a:latin typeface="Segoe UI"/>
              </a:rPr>
              <a:t>"In most situations, Claude is more likely to choose the second of two </a:t>
            </a:r>
            <a:r>
              <a:rPr sz="1200" b="0" dirty="0" err="1">
                <a:solidFill>
                  <a:srgbClr val="22D3EE"/>
                </a:solidFill>
                <a:latin typeface="Segoe UI"/>
              </a:rPr>
              <a:t>options,</a:t>
            </a:r>
            <a:r>
              <a:rPr lang="en-US" sz="1200" b="0" dirty="0" err="1">
                <a:solidFill>
                  <a:srgbClr val="22D3EE"/>
                </a:solidFill>
                <a:latin typeface="Segoe UI"/>
              </a:rPr>
              <a:t>why</a:t>
            </a:r>
            <a:r>
              <a:rPr lang="en-US" sz="1200" b="0" dirty="0">
                <a:solidFill>
                  <a:srgbClr val="22D3EE"/>
                </a:solidFill>
                <a:latin typeface="Segoe UI"/>
              </a:rPr>
              <a:t>?</a:t>
            </a:r>
            <a:endParaRPr sz="1200" b="0" dirty="0">
              <a:solidFill>
                <a:srgbClr val="22D3EE"/>
              </a:solidFill>
              <a:latin typeface="Segoe UI"/>
            </a:endParaRPr>
          </a:p>
        </p:txBody>
      </p:sp>
      <p:sp>
        <p:nvSpPr>
          <p:cNvPr id="9" name="Rounded Rectangle 8"/>
          <p:cNvSpPr/>
          <p:nvPr/>
        </p:nvSpPr>
        <p:spPr>
          <a:xfrm>
            <a:off x="731520" y="3340000"/>
            <a:ext cx="5257800" cy="3450000"/>
          </a:xfrm>
          <a:prstGeom prst="roundRect">
            <a:avLst>
              <a:gd name="adj" fmla="val 5000"/>
            </a:avLst>
          </a:prstGeom>
          <a:solidFill>
            <a:srgbClr val="16203A"/>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1520" y="3460000"/>
            <a:ext cx="4897800" cy="350000"/>
          </a:xfrm>
          <a:prstGeom prst="rect">
            <a:avLst/>
          </a:prstGeom>
          <a:noFill/>
        </p:spPr>
        <p:txBody>
          <a:bodyPr wrap="square">
            <a:spAutoFit/>
          </a:bodyPr>
          <a:lstStyle/>
          <a:p>
            <a:pPr algn="l">
              <a:spcBef>
                <a:spcPts val="0"/>
              </a:spcBef>
              <a:spcAft>
                <a:spcPts val="0"/>
              </a:spcAft>
            </a:pPr>
            <a:r>
              <a:rPr sz="1600" b="1" dirty="0">
                <a:solidFill>
                  <a:srgbClr val="38BDF8"/>
                </a:solidFill>
                <a:latin typeface="Segoe UI"/>
              </a:rPr>
              <a:t>1. Autoregressive Attention Gradient</a:t>
            </a:r>
          </a:p>
        </p:txBody>
      </p:sp>
      <p:sp>
        <p:nvSpPr>
          <p:cNvPr id="11" name="TextBox 10"/>
          <p:cNvSpPr txBox="1"/>
          <p:nvPr/>
        </p:nvSpPr>
        <p:spPr>
          <a:xfrm>
            <a:off x="911520" y="3860000"/>
            <a:ext cx="4897800" cy="2850000"/>
          </a:xfrm>
          <a:prstGeom prst="rect">
            <a:avLst/>
          </a:prstGeom>
          <a:noFill/>
        </p:spPr>
        <p:txBody>
          <a:bodyPr wrap="square">
            <a:spAutoFit/>
          </a:bodyPr>
          <a:lstStyle/>
          <a:p>
            <a:pPr algn="l">
              <a:spcBef>
                <a:spcPts val="100"/>
              </a:spcBef>
              <a:spcAft>
                <a:spcPts val="100"/>
              </a:spcAft>
            </a:pPr>
            <a:r>
              <a:rPr sz="1300" b="1">
                <a:solidFill>
                  <a:srgbClr val="4ADE80"/>
                </a:solidFill>
                <a:latin typeface="Segoe UI"/>
              </a:rPr>
              <a:t>• Left-to-Right Processing:</a:t>
            </a:r>
          </a:p>
          <a:p>
            <a:pPr algn="l">
              <a:spcBef>
                <a:spcPts val="100"/>
              </a:spcBef>
              <a:spcAft>
                <a:spcPts val="100"/>
              </a:spcAft>
            </a:pPr>
            <a:r>
              <a:rPr sz="1150" b="0">
                <a:solidFill>
                  <a:srgbClr val="E2E8F0"/>
                </a:solidFill>
                <a:latin typeface="Segoe UI"/>
              </a:rPr>
              <a:t>  Tokens are processed sequentially; tokens near the output generation point remain fresher in attention memory.</a:t>
            </a:r>
          </a:p>
          <a:p>
            <a:pPr algn="l">
              <a:spcBef>
                <a:spcPts val="100"/>
              </a:spcBef>
              <a:spcAft>
                <a:spcPts val="100"/>
              </a:spcAft>
            </a:pPr>
            <a:r>
              <a:rPr sz="1300" b="1">
                <a:solidFill>
                  <a:srgbClr val="4ADE80"/>
                </a:solidFill>
                <a:latin typeface="Segoe UI"/>
              </a:rPr>
              <a:t>• Higher Recency Salience:</a:t>
            </a:r>
          </a:p>
          <a:p>
            <a:pPr algn="l">
              <a:spcBef>
                <a:spcPts val="100"/>
              </a:spcBef>
              <a:spcAft>
                <a:spcPts val="100"/>
              </a:spcAft>
            </a:pPr>
            <a:r>
              <a:rPr sz="1150" b="0">
                <a:solidFill>
                  <a:srgbClr val="E2E8F0"/>
                </a:solidFill>
                <a:latin typeface="Segoe UI"/>
              </a:rPr>
              <a:t>  The model begins output generation with the highest attention gradient focused on the final sentences it just read.</a:t>
            </a:r>
          </a:p>
          <a:p>
            <a:pPr algn="l">
              <a:spcBef>
                <a:spcPts val="100"/>
              </a:spcBef>
              <a:spcAft>
                <a:spcPts val="100"/>
              </a:spcAft>
            </a:pPr>
            <a:r>
              <a:rPr sz="1300" b="1">
                <a:solidFill>
                  <a:srgbClr val="4ADE80"/>
                </a:solidFill>
                <a:latin typeface="Segoe UI"/>
              </a:rPr>
              <a:t>• Momentum Effect:</a:t>
            </a:r>
          </a:p>
          <a:p>
            <a:pPr algn="l">
              <a:spcBef>
                <a:spcPts val="100"/>
              </a:spcBef>
              <a:spcAft>
                <a:spcPts val="100"/>
              </a:spcAft>
            </a:pPr>
            <a:r>
              <a:rPr sz="1150" b="0">
                <a:solidFill>
                  <a:srgbClr val="22D3EE"/>
                </a:solidFill>
                <a:latin typeface="Segoe UI"/>
              </a:rPr>
              <a:t>  The final option dominates the initial sampled tokens, anchoring the rest of the response.</a:t>
            </a:r>
          </a:p>
        </p:txBody>
      </p:sp>
      <p:sp>
        <p:nvSpPr>
          <p:cNvPr id="12" name="Rounded Rectangle 11"/>
          <p:cNvSpPr/>
          <p:nvPr/>
        </p:nvSpPr>
        <p:spPr>
          <a:xfrm>
            <a:off x="6355080" y="3340000"/>
            <a:ext cx="5257800" cy="3450000"/>
          </a:xfrm>
          <a:prstGeom prst="roundRect">
            <a:avLst>
              <a:gd name="adj" fmla="val 5000"/>
            </a:avLst>
          </a:prstGeom>
          <a:solidFill>
            <a:srgbClr val="16203A"/>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5080" y="3460000"/>
            <a:ext cx="4897800" cy="350000"/>
          </a:xfrm>
          <a:prstGeom prst="rect">
            <a:avLst/>
          </a:prstGeom>
          <a:noFill/>
        </p:spPr>
        <p:txBody>
          <a:bodyPr wrap="square">
            <a:spAutoFit/>
          </a:bodyPr>
          <a:lstStyle/>
          <a:p>
            <a:pPr algn="l">
              <a:spcBef>
                <a:spcPts val="0"/>
              </a:spcBef>
              <a:spcAft>
                <a:spcPts val="0"/>
              </a:spcAft>
            </a:pPr>
            <a:r>
              <a:rPr sz="1600" b="1">
                <a:solidFill>
                  <a:srgbClr val="38BDF8"/>
                </a:solidFill>
                <a:latin typeface="Segoe UI"/>
              </a:rPr>
              <a:t>2. Human Rhetorical Training Bias</a:t>
            </a:r>
          </a:p>
        </p:txBody>
      </p:sp>
      <p:sp>
        <p:nvSpPr>
          <p:cNvPr id="14" name="TextBox 13"/>
          <p:cNvSpPr txBox="1"/>
          <p:nvPr/>
        </p:nvSpPr>
        <p:spPr>
          <a:xfrm>
            <a:off x="6535080" y="3860000"/>
            <a:ext cx="4897800" cy="2850000"/>
          </a:xfrm>
          <a:prstGeom prst="rect">
            <a:avLst/>
          </a:prstGeom>
          <a:noFill/>
        </p:spPr>
        <p:txBody>
          <a:bodyPr wrap="square">
            <a:spAutoFit/>
          </a:bodyPr>
          <a:lstStyle/>
          <a:p>
            <a:pPr algn="l">
              <a:spcBef>
                <a:spcPts val="100"/>
              </a:spcBef>
              <a:spcAft>
                <a:spcPts val="100"/>
              </a:spcAft>
            </a:pPr>
            <a:r>
              <a:rPr sz="1300" b="1" dirty="0">
                <a:solidFill>
                  <a:srgbClr val="4ADE80"/>
                </a:solidFill>
                <a:latin typeface="Segoe UI"/>
              </a:rPr>
              <a:t>• Common Web Rhetorical Pattern:</a:t>
            </a:r>
          </a:p>
          <a:p>
            <a:pPr algn="l">
              <a:spcBef>
                <a:spcPts val="100"/>
              </a:spcBef>
              <a:spcAft>
                <a:spcPts val="100"/>
              </a:spcAft>
            </a:pPr>
            <a:r>
              <a:rPr sz="1150" b="0" dirty="0">
                <a:solidFill>
                  <a:srgbClr val="E2E8F0"/>
                </a:solidFill>
                <a:latin typeface="Segoe UI"/>
              </a:rPr>
              <a:t>  In human articles and essays, authors typically open with flawed ideas before presenting the preferred conclusion:</a:t>
            </a:r>
          </a:p>
          <a:p>
            <a:pPr algn="l">
              <a:spcBef>
                <a:spcPts val="100"/>
              </a:spcBef>
              <a:spcAft>
                <a:spcPts val="100"/>
              </a:spcAft>
            </a:pPr>
            <a:r>
              <a:rPr sz="1150" b="1" dirty="0">
                <a:solidFill>
                  <a:srgbClr val="FBBF24"/>
                </a:solidFill>
                <a:latin typeface="Segoe UI"/>
              </a:rPr>
              <a:t>  "You might consider Option A, but it has bugs... therefore we recommend Option B."</a:t>
            </a:r>
          </a:p>
          <a:p>
            <a:pPr algn="l">
              <a:spcBef>
                <a:spcPts val="100"/>
              </a:spcBef>
              <a:spcAft>
                <a:spcPts val="100"/>
              </a:spcAft>
            </a:pPr>
            <a:r>
              <a:rPr sz="1300" b="1" dirty="0">
                <a:solidFill>
                  <a:srgbClr val="4ADE80"/>
                </a:solidFill>
                <a:latin typeface="Segoe UI"/>
              </a:rPr>
              <a:t>• Statistical Association:</a:t>
            </a:r>
          </a:p>
          <a:p>
            <a:pPr algn="l">
              <a:spcBef>
                <a:spcPts val="100"/>
              </a:spcBef>
              <a:spcAft>
                <a:spcPts val="100"/>
              </a:spcAft>
            </a:pPr>
            <a:r>
              <a:rPr sz="1150" b="0" dirty="0">
                <a:solidFill>
                  <a:srgbClr val="22D3EE"/>
                </a:solidFill>
                <a:latin typeface="Segoe UI"/>
              </a:rPr>
              <a:t>  Model weights associate later text positions with "winning conclusions" and consensus.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9" grpId="0" animBg="1"/>
      <p:bldP spid="10" grpId="0"/>
      <p:bldP spid="11" grpId="0"/>
      <p:bldP spid="12" grpId="0" animBg="1"/>
      <p:bldP spid="13"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00000" cy="480000"/>
          </a:xfrm>
          <a:prstGeom prst="roundRect">
            <a:avLst>
              <a:gd name="adj" fmla="val 5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0F172A"/>
                </a:solidFill>
                <a:latin typeface="Segoe UI"/>
              </a:rPr>
              <a:t>BEST PRACTICES</a:t>
            </a:r>
          </a:p>
        </p:txBody>
      </p:sp>
      <p:sp>
        <p:nvSpPr>
          <p:cNvPr id="3" name="TextBox 2"/>
          <p:cNvSpPr txBox="1"/>
          <p:nvPr/>
        </p:nvSpPr>
        <p:spPr>
          <a:xfrm>
            <a:off x="2450000" y="290000"/>
            <a:ext cx="9000000" cy="548640"/>
          </a:xfrm>
          <a:prstGeom prst="rect">
            <a:avLst/>
          </a:prstGeom>
          <a:noFill/>
        </p:spPr>
        <p:txBody>
          <a:bodyPr wrap="square">
            <a:spAutoFit/>
          </a:bodyPr>
          <a:lstStyle/>
          <a:p>
            <a:pPr algn="l">
              <a:spcBef>
                <a:spcPts val="0"/>
              </a:spcBef>
              <a:spcAft>
                <a:spcPts val="0"/>
              </a:spcAft>
            </a:pPr>
            <a:r>
              <a:rPr sz="3100" b="1" dirty="0">
                <a:solidFill>
                  <a:srgbClr val="FFFFFF"/>
                </a:solidFill>
                <a:latin typeface="Segoe UI"/>
              </a:rPr>
              <a:t>Mitigating Order Bias in Evaluations</a:t>
            </a:r>
          </a:p>
        </p:txBody>
      </p:sp>
      <p:sp>
        <p:nvSpPr>
          <p:cNvPr id="4" name="Rectangle 3"/>
          <p:cNvSpPr/>
          <p:nvPr/>
        </p:nvSpPr>
        <p:spPr>
          <a:xfrm>
            <a:off x="731520" y="920000"/>
            <a:ext cx="3657600" cy="45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20000"/>
            <a:ext cx="10881360" cy="380000"/>
          </a:xfrm>
          <a:prstGeom prst="rect">
            <a:avLst/>
          </a:prstGeom>
          <a:noFill/>
        </p:spPr>
        <p:txBody>
          <a:bodyPr wrap="square">
            <a:spAutoFit/>
          </a:bodyPr>
          <a:lstStyle/>
          <a:p>
            <a:pPr algn="l">
              <a:spcBef>
                <a:spcPts val="0"/>
              </a:spcBef>
              <a:spcAft>
                <a:spcPts val="0"/>
              </a:spcAft>
            </a:pPr>
            <a:r>
              <a:rPr sz="1400" b="0" dirty="0">
                <a:solidFill>
                  <a:srgbClr val="94A3B8"/>
                </a:solidFill>
                <a:latin typeface="Segoe UI"/>
              </a:rPr>
              <a:t>Essential techniques for LLM-as-a-Judge, offline evaluations, and comparative A/B testing prompts.</a:t>
            </a:r>
          </a:p>
        </p:txBody>
      </p:sp>
      <p:sp>
        <p:nvSpPr>
          <p:cNvPr id="6" name="Rounded Rectangle 5"/>
          <p:cNvSpPr/>
          <p:nvPr/>
        </p:nvSpPr>
        <p:spPr>
          <a:xfrm>
            <a:off x="731520" y="1480000"/>
            <a:ext cx="10881360" cy="1095000"/>
          </a:xfrm>
          <a:prstGeom prst="roundRect">
            <a:avLst>
              <a:gd name="adj" fmla="val 5000"/>
            </a:avLst>
          </a:prstGeom>
          <a:solidFill>
            <a:srgbClr val="2D1515"/>
          </a:solidFill>
          <a:ln w="12700">
            <a:solidFill>
              <a:srgbClr val="7F1D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5320" y="1675000"/>
            <a:ext cx="10521360" cy="830000"/>
          </a:xfrm>
          <a:prstGeom prst="rect">
            <a:avLst/>
          </a:prstGeom>
          <a:noFill/>
        </p:spPr>
        <p:txBody>
          <a:bodyPr wrap="square">
            <a:spAutoFit/>
          </a:bodyPr>
          <a:lstStyle/>
          <a:p>
            <a:pPr algn="l">
              <a:spcBef>
                <a:spcPts val="100"/>
              </a:spcBef>
              <a:spcAft>
                <a:spcPts val="100"/>
              </a:spcAft>
            </a:pPr>
            <a:r>
              <a:rPr sz="1200" b="0" dirty="0">
                <a:solidFill>
                  <a:srgbClr val="E2E8F0"/>
                </a:solidFill>
                <a:latin typeface="Segoe UI"/>
              </a:rPr>
              <a:t>When asking an LLM "Which response is better: Option A or Option B?", the model often selects the second option purely due to its placement! This introduces systematic evaluation skew in RAG offline evaluations and A/B benchmarking.</a:t>
            </a:r>
          </a:p>
        </p:txBody>
      </p:sp>
      <p:sp>
        <p:nvSpPr>
          <p:cNvPr id="9" name="Rounded Rectangle 8"/>
          <p:cNvSpPr/>
          <p:nvPr/>
        </p:nvSpPr>
        <p:spPr>
          <a:xfrm>
            <a:off x="731520" y="3010000"/>
            <a:ext cx="3480453" cy="3750000"/>
          </a:xfrm>
          <a:prstGeom prst="roundRect">
            <a:avLst>
              <a:gd name="adj" fmla="val 5000"/>
            </a:avLst>
          </a:prstGeom>
          <a:solidFill>
            <a:srgbClr val="16203A"/>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1520" y="3130000"/>
            <a:ext cx="3160453" cy="300000"/>
          </a:xfrm>
          <a:prstGeom prst="rect">
            <a:avLst/>
          </a:prstGeom>
          <a:noFill/>
        </p:spPr>
        <p:txBody>
          <a:bodyPr wrap="square">
            <a:spAutoFit/>
          </a:bodyPr>
          <a:lstStyle/>
          <a:p>
            <a:pPr algn="l">
              <a:spcBef>
                <a:spcPts val="40"/>
              </a:spcBef>
              <a:spcAft>
                <a:spcPts val="40"/>
              </a:spcAft>
            </a:pPr>
            <a:r>
              <a:rPr sz="1500" b="1" dirty="0">
                <a:solidFill>
                  <a:srgbClr val="38BDF8"/>
                </a:solidFill>
                <a:latin typeface="Segoe UI"/>
              </a:rPr>
              <a:t>🔄  1. Position Swapping</a:t>
            </a:r>
          </a:p>
          <a:p>
            <a:pPr algn="l">
              <a:spcBef>
                <a:spcPts val="40"/>
              </a:spcBef>
              <a:spcAft>
                <a:spcPts val="40"/>
              </a:spcAft>
            </a:pPr>
            <a:r>
              <a:rPr sz="1150" b="1" dirty="0">
                <a:solidFill>
                  <a:srgbClr val="FBBF24"/>
                </a:solidFill>
                <a:latin typeface="Segoe UI"/>
              </a:rPr>
              <a:t>Bidirectional Calibration</a:t>
            </a:r>
          </a:p>
        </p:txBody>
      </p:sp>
      <p:sp>
        <p:nvSpPr>
          <p:cNvPr id="11" name="TextBox 10"/>
          <p:cNvSpPr txBox="1"/>
          <p:nvPr/>
        </p:nvSpPr>
        <p:spPr>
          <a:xfrm>
            <a:off x="891520" y="3550000"/>
            <a:ext cx="3160453" cy="3130000"/>
          </a:xfrm>
          <a:prstGeom prst="rect">
            <a:avLst/>
          </a:prstGeom>
          <a:noFill/>
        </p:spPr>
        <p:txBody>
          <a:bodyPr wrap="square">
            <a:spAutoFit/>
          </a:bodyPr>
          <a:lstStyle/>
          <a:p>
            <a:pPr algn="l">
              <a:spcBef>
                <a:spcPts val="100"/>
              </a:spcBef>
              <a:spcAft>
                <a:spcPts val="100"/>
              </a:spcAft>
            </a:pPr>
            <a:r>
              <a:rPr sz="1250" b="1" dirty="0">
                <a:solidFill>
                  <a:srgbClr val="4ADE80"/>
                </a:solidFill>
                <a:latin typeface="Segoe UI"/>
              </a:rPr>
              <a:t>• Run Both Orderings:</a:t>
            </a:r>
          </a:p>
          <a:p>
            <a:pPr algn="l">
              <a:spcBef>
                <a:spcPts val="100"/>
              </a:spcBef>
              <a:spcAft>
                <a:spcPts val="100"/>
              </a:spcAft>
            </a:pPr>
            <a:r>
              <a:rPr sz="1150" b="0" dirty="0">
                <a:solidFill>
                  <a:srgbClr val="E2E8F0"/>
                </a:solidFill>
                <a:latin typeface="Segoe UI"/>
              </a:rPr>
              <a:t>  Evaluate prompt as (A, B), then invert to (B, A).</a:t>
            </a:r>
          </a:p>
          <a:p>
            <a:pPr algn="l">
              <a:spcBef>
                <a:spcPts val="100"/>
              </a:spcBef>
              <a:spcAft>
                <a:spcPts val="100"/>
              </a:spcAft>
            </a:pPr>
            <a:r>
              <a:rPr sz="1250" b="1" dirty="0">
                <a:solidFill>
                  <a:srgbClr val="4ADE80"/>
                </a:solidFill>
                <a:latin typeface="Segoe UI"/>
              </a:rPr>
              <a:t>• Consensus Scoring:</a:t>
            </a:r>
          </a:p>
          <a:p>
            <a:pPr algn="l">
              <a:spcBef>
                <a:spcPts val="100"/>
              </a:spcBef>
              <a:spcAft>
                <a:spcPts val="100"/>
              </a:spcAft>
            </a:pPr>
            <a:r>
              <a:rPr sz="1150" b="0" dirty="0">
                <a:solidFill>
                  <a:srgbClr val="E2E8F0"/>
                </a:solidFill>
                <a:latin typeface="Segoe UI"/>
              </a:rPr>
              <a:t>  Accept the decision only if the same conceptual candidate wins in both runs.</a:t>
            </a:r>
          </a:p>
          <a:p>
            <a:pPr algn="l">
              <a:spcBef>
                <a:spcPts val="100"/>
              </a:spcBef>
              <a:spcAft>
                <a:spcPts val="100"/>
              </a:spcAft>
            </a:pPr>
            <a:r>
              <a:rPr sz="1250" b="1" dirty="0">
                <a:solidFill>
                  <a:srgbClr val="4ADE80"/>
                </a:solidFill>
                <a:latin typeface="Segoe UI"/>
              </a:rPr>
              <a:t>• Catch Ambiguity:</a:t>
            </a:r>
          </a:p>
          <a:p>
            <a:pPr algn="l">
              <a:spcBef>
                <a:spcPts val="100"/>
              </a:spcBef>
              <a:spcAft>
                <a:spcPts val="100"/>
              </a:spcAft>
            </a:pPr>
            <a:r>
              <a:rPr sz="1150" b="1" dirty="0">
                <a:solidFill>
                  <a:srgbClr val="22D3EE"/>
                </a:solidFill>
                <a:latin typeface="Segoe UI"/>
              </a:rPr>
              <a:t>  If order flips the choice, mark as an uncertain Borderline / Tie.</a:t>
            </a:r>
          </a:p>
        </p:txBody>
      </p:sp>
      <p:sp>
        <p:nvSpPr>
          <p:cNvPr id="12" name="Rounded Rectangle 11"/>
          <p:cNvSpPr/>
          <p:nvPr/>
        </p:nvSpPr>
        <p:spPr>
          <a:xfrm>
            <a:off x="4431973" y="3010000"/>
            <a:ext cx="3480453" cy="3750000"/>
          </a:xfrm>
          <a:prstGeom prst="roundRect">
            <a:avLst>
              <a:gd name="adj" fmla="val 5000"/>
            </a:avLst>
          </a:prstGeom>
          <a:solidFill>
            <a:srgbClr val="16203A"/>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1973" y="3130000"/>
            <a:ext cx="3160453" cy="300000"/>
          </a:xfrm>
          <a:prstGeom prst="rect">
            <a:avLst/>
          </a:prstGeom>
          <a:noFill/>
        </p:spPr>
        <p:txBody>
          <a:bodyPr wrap="square">
            <a:spAutoFit/>
          </a:bodyPr>
          <a:lstStyle/>
          <a:p>
            <a:pPr algn="l">
              <a:spcBef>
                <a:spcPts val="40"/>
              </a:spcBef>
              <a:spcAft>
                <a:spcPts val="40"/>
              </a:spcAft>
            </a:pPr>
            <a:r>
              <a:rPr sz="1500" b="1" dirty="0">
                <a:solidFill>
                  <a:srgbClr val="38BDF8"/>
                </a:solidFill>
                <a:latin typeface="Segoe UI"/>
              </a:rPr>
              <a:t>⛓️  2. Enforce Reasoning</a:t>
            </a:r>
          </a:p>
          <a:p>
            <a:pPr algn="l">
              <a:spcBef>
                <a:spcPts val="40"/>
              </a:spcBef>
              <a:spcAft>
                <a:spcPts val="40"/>
              </a:spcAft>
            </a:pPr>
            <a:r>
              <a:rPr sz="1150" b="1" dirty="0" err="1">
                <a:solidFill>
                  <a:srgbClr val="FBBF24"/>
                </a:solidFill>
                <a:latin typeface="Segoe UI"/>
              </a:rPr>
              <a:t>CoT</a:t>
            </a:r>
            <a:r>
              <a:rPr sz="1150" b="1" dirty="0">
                <a:solidFill>
                  <a:srgbClr val="FBBF24"/>
                </a:solidFill>
                <a:latin typeface="Segoe UI"/>
              </a:rPr>
              <a:t> Before Selection</a:t>
            </a:r>
          </a:p>
        </p:txBody>
      </p:sp>
      <p:sp>
        <p:nvSpPr>
          <p:cNvPr id="14" name="TextBox 13"/>
          <p:cNvSpPr txBox="1"/>
          <p:nvPr/>
        </p:nvSpPr>
        <p:spPr>
          <a:xfrm>
            <a:off x="4591973" y="3550000"/>
            <a:ext cx="3160453" cy="3130000"/>
          </a:xfrm>
          <a:prstGeom prst="rect">
            <a:avLst/>
          </a:prstGeom>
          <a:noFill/>
        </p:spPr>
        <p:txBody>
          <a:bodyPr wrap="square">
            <a:spAutoFit/>
          </a:bodyPr>
          <a:lstStyle/>
          <a:p>
            <a:pPr algn="l">
              <a:spcBef>
                <a:spcPts val="100"/>
              </a:spcBef>
              <a:spcAft>
                <a:spcPts val="100"/>
              </a:spcAft>
            </a:pPr>
            <a:r>
              <a:rPr sz="1250" b="1" dirty="0">
                <a:solidFill>
                  <a:srgbClr val="4ADE80"/>
                </a:solidFill>
                <a:latin typeface="Segoe UI"/>
              </a:rPr>
              <a:t>• Delay the Decision:</a:t>
            </a:r>
          </a:p>
          <a:p>
            <a:pPr algn="l">
              <a:spcBef>
                <a:spcPts val="100"/>
              </a:spcBef>
              <a:spcAft>
                <a:spcPts val="100"/>
              </a:spcAft>
            </a:pPr>
            <a:r>
              <a:rPr sz="1150" b="0" dirty="0">
                <a:solidFill>
                  <a:srgbClr val="E2E8F0"/>
                </a:solidFill>
                <a:latin typeface="Segoe UI"/>
              </a:rPr>
              <a:t>  Never ask the model to state the winner in the opening sentence.</a:t>
            </a:r>
          </a:p>
          <a:p>
            <a:pPr algn="l">
              <a:spcBef>
                <a:spcPts val="100"/>
              </a:spcBef>
              <a:spcAft>
                <a:spcPts val="100"/>
              </a:spcAft>
            </a:pPr>
            <a:r>
              <a:rPr sz="1250" b="1" dirty="0">
                <a:solidFill>
                  <a:srgbClr val="4ADE80"/>
                </a:solidFill>
                <a:latin typeface="Segoe UI"/>
              </a:rPr>
              <a:t>• Structured Analysis:</a:t>
            </a:r>
          </a:p>
          <a:p>
            <a:pPr algn="l">
              <a:spcBef>
                <a:spcPts val="100"/>
              </a:spcBef>
              <a:spcAft>
                <a:spcPts val="100"/>
              </a:spcAft>
            </a:pPr>
            <a:r>
              <a:rPr sz="1150" b="0" dirty="0">
                <a:solidFill>
                  <a:srgbClr val="E2E8F0"/>
                </a:solidFill>
                <a:latin typeface="Segoe UI"/>
              </a:rPr>
              <a:t>  "List pros/cons of Option A, then Option B. Compare on Criteria X &amp; Y. Then decide."</a:t>
            </a:r>
          </a:p>
          <a:p>
            <a:pPr algn="l">
              <a:spcBef>
                <a:spcPts val="100"/>
              </a:spcBef>
              <a:spcAft>
                <a:spcPts val="100"/>
              </a:spcAft>
            </a:pPr>
            <a:r>
              <a:rPr sz="1250" b="1" dirty="0">
                <a:solidFill>
                  <a:srgbClr val="4ADE80"/>
                </a:solidFill>
                <a:latin typeface="Segoe UI"/>
              </a:rPr>
              <a:t>• Attention Balancing:</a:t>
            </a:r>
          </a:p>
          <a:p>
            <a:pPr algn="l">
              <a:spcBef>
                <a:spcPts val="100"/>
              </a:spcBef>
              <a:spcAft>
                <a:spcPts val="100"/>
              </a:spcAft>
            </a:pPr>
            <a:r>
              <a:rPr sz="1150" b="1" dirty="0">
                <a:solidFill>
                  <a:srgbClr val="22D3EE"/>
                </a:solidFill>
                <a:latin typeface="Segoe UI"/>
              </a:rPr>
              <a:t>  Self-generated tokens balance out raw input recency bias.</a:t>
            </a:r>
          </a:p>
        </p:txBody>
      </p:sp>
      <p:sp>
        <p:nvSpPr>
          <p:cNvPr id="15" name="Rounded Rectangle 14"/>
          <p:cNvSpPr/>
          <p:nvPr/>
        </p:nvSpPr>
        <p:spPr>
          <a:xfrm>
            <a:off x="8132426" y="3010000"/>
            <a:ext cx="3480453" cy="3750000"/>
          </a:xfrm>
          <a:prstGeom prst="roundRect">
            <a:avLst>
              <a:gd name="adj" fmla="val 5000"/>
            </a:avLst>
          </a:prstGeom>
          <a:solidFill>
            <a:srgbClr val="16203A"/>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92426" y="3130000"/>
            <a:ext cx="3160453" cy="300000"/>
          </a:xfrm>
          <a:prstGeom prst="rect">
            <a:avLst/>
          </a:prstGeom>
          <a:noFill/>
        </p:spPr>
        <p:txBody>
          <a:bodyPr wrap="square">
            <a:spAutoFit/>
          </a:bodyPr>
          <a:lstStyle/>
          <a:p>
            <a:pPr algn="l">
              <a:spcBef>
                <a:spcPts val="40"/>
              </a:spcBef>
              <a:spcAft>
                <a:spcPts val="40"/>
              </a:spcAft>
            </a:pPr>
            <a:r>
              <a:rPr sz="1500" b="1" dirty="0">
                <a:solidFill>
                  <a:srgbClr val="38BDF8"/>
                </a:solidFill>
                <a:latin typeface="Segoe UI"/>
              </a:rPr>
              <a:t>🏷️  3. Neutral XML Framing</a:t>
            </a:r>
          </a:p>
          <a:p>
            <a:pPr algn="l">
              <a:spcBef>
                <a:spcPts val="40"/>
              </a:spcBef>
              <a:spcAft>
                <a:spcPts val="40"/>
              </a:spcAft>
            </a:pPr>
            <a:r>
              <a:rPr sz="1150" b="1" dirty="0">
                <a:solidFill>
                  <a:srgbClr val="FBBF24"/>
                </a:solidFill>
                <a:latin typeface="Segoe UI"/>
              </a:rPr>
              <a:t>Anonymize Options</a:t>
            </a:r>
          </a:p>
        </p:txBody>
      </p:sp>
      <p:sp>
        <p:nvSpPr>
          <p:cNvPr id="17" name="TextBox 16"/>
          <p:cNvSpPr txBox="1"/>
          <p:nvPr/>
        </p:nvSpPr>
        <p:spPr>
          <a:xfrm>
            <a:off x="8292426" y="3550000"/>
            <a:ext cx="3160453" cy="3130000"/>
          </a:xfrm>
          <a:prstGeom prst="rect">
            <a:avLst/>
          </a:prstGeom>
          <a:noFill/>
        </p:spPr>
        <p:txBody>
          <a:bodyPr wrap="square">
            <a:spAutoFit/>
          </a:bodyPr>
          <a:lstStyle/>
          <a:p>
            <a:pPr algn="l">
              <a:spcBef>
                <a:spcPts val="100"/>
              </a:spcBef>
              <a:spcAft>
                <a:spcPts val="100"/>
              </a:spcAft>
            </a:pPr>
            <a:r>
              <a:rPr sz="1250" b="1" dirty="0">
                <a:solidFill>
                  <a:srgbClr val="4ADE80"/>
                </a:solidFill>
                <a:latin typeface="Segoe UI"/>
              </a:rPr>
              <a:t>• Avoid Numbered Lists:</a:t>
            </a:r>
          </a:p>
          <a:p>
            <a:pPr algn="l">
              <a:spcBef>
                <a:spcPts val="100"/>
              </a:spcBef>
              <a:spcAft>
                <a:spcPts val="100"/>
              </a:spcAft>
            </a:pPr>
            <a:r>
              <a:rPr sz="1150" b="0" dirty="0">
                <a:solidFill>
                  <a:srgbClr val="E2E8F0"/>
                </a:solidFill>
                <a:latin typeface="Segoe UI"/>
              </a:rPr>
              <a:t>  Numbers (1, 2) carry strong implicit sequence and priority bias.</a:t>
            </a:r>
          </a:p>
          <a:p>
            <a:pPr algn="l">
              <a:spcBef>
                <a:spcPts val="100"/>
              </a:spcBef>
              <a:spcAft>
                <a:spcPts val="100"/>
              </a:spcAft>
            </a:pPr>
            <a:r>
              <a:rPr sz="1250" b="1" dirty="0">
                <a:solidFill>
                  <a:srgbClr val="4ADE80"/>
                </a:solidFill>
                <a:latin typeface="Segoe UI"/>
              </a:rPr>
              <a:t>• Anonymized Tags:</a:t>
            </a:r>
          </a:p>
          <a:p>
            <a:pPr algn="l">
              <a:spcBef>
                <a:spcPts val="100"/>
              </a:spcBef>
              <a:spcAft>
                <a:spcPts val="100"/>
              </a:spcAft>
            </a:pPr>
            <a:r>
              <a:rPr sz="1150" b="0" dirty="0">
                <a:solidFill>
                  <a:srgbClr val="E2E8F0"/>
                </a:solidFill>
                <a:latin typeface="Segoe UI"/>
              </a:rPr>
              <a:t>  Wrap options in neutral XML: &lt;</a:t>
            </a:r>
            <a:r>
              <a:rPr sz="1150" b="0" dirty="0" err="1">
                <a:solidFill>
                  <a:srgbClr val="E2E8F0"/>
                </a:solidFill>
                <a:latin typeface="Segoe UI"/>
              </a:rPr>
              <a:t>candidate_alpha</a:t>
            </a:r>
            <a:r>
              <a:rPr sz="1150" b="0" dirty="0">
                <a:solidFill>
                  <a:srgbClr val="E2E8F0"/>
                </a:solidFill>
                <a:latin typeface="Segoe UI"/>
              </a:rPr>
              <a:t>&gt; and &lt;</a:t>
            </a:r>
            <a:r>
              <a:rPr sz="1150" b="0" dirty="0" err="1">
                <a:solidFill>
                  <a:srgbClr val="E2E8F0"/>
                </a:solidFill>
                <a:latin typeface="Segoe UI"/>
              </a:rPr>
              <a:t>candidate_beta</a:t>
            </a:r>
            <a:r>
              <a:rPr sz="1150" b="0" dirty="0">
                <a:solidFill>
                  <a:srgbClr val="E2E8F0"/>
                </a:solidFill>
                <a:latin typeface="Segoe UI"/>
              </a:rPr>
              <a:t>&gt;.</a:t>
            </a:r>
          </a:p>
          <a:p>
            <a:pPr algn="l">
              <a:spcBef>
                <a:spcPts val="100"/>
              </a:spcBef>
              <a:spcAft>
                <a:spcPts val="100"/>
              </a:spcAft>
            </a:pPr>
            <a:r>
              <a:rPr sz="1250" b="1" dirty="0">
                <a:solidFill>
                  <a:srgbClr val="4ADE80"/>
                </a:solidFill>
                <a:latin typeface="Segoe UI"/>
              </a:rPr>
              <a:t>• Clean Data Isolation:</a:t>
            </a:r>
          </a:p>
          <a:p>
            <a:pPr algn="l">
              <a:spcBef>
                <a:spcPts val="100"/>
              </a:spcBef>
              <a:spcAft>
                <a:spcPts val="100"/>
              </a:spcAft>
            </a:pPr>
            <a:r>
              <a:rPr sz="1150" b="1" dirty="0">
                <a:solidFill>
                  <a:srgbClr val="22D3EE"/>
                </a:solidFill>
                <a:latin typeface="Segoe UI"/>
              </a:rPr>
              <a:t>  Separates user content from the evaluation rubric cleanly.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8" grpId="0"/>
      <p:bldP spid="9" grpId="0" animBg="1"/>
      <p:bldP spid="10" grpId="0"/>
      <p:bldP spid="11" grpId="0"/>
      <p:bldP spid="12" grpId="0" animBg="1"/>
      <p:bldP spid="13" grpId="0"/>
      <p:bldP spid="14" grpId="0"/>
      <p:bldP spid="15" grpId="0" animBg="1"/>
      <p:bldP spid="16" grpId="0"/>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3</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Chain-of-Thought: Step-by-Step Reasoning</a:t>
            </a:r>
          </a:p>
        </p:txBody>
      </p:sp>
      <p:sp>
        <p:nvSpPr>
          <p:cNvPr id="4" name="Rectangle 3"/>
          <p:cNvSpPr/>
          <p:nvPr/>
        </p:nvSpPr>
        <p:spPr>
          <a:xfrm>
            <a:off x="731520" y="960120"/>
            <a:ext cx="3657600" cy="508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FBBF24"/>
                </a:solidFill>
                <a:latin typeface="Segoe UI"/>
              </a:defRPr>
            </a:pPr>
            <a:r>
              <a:t>📖  Concept: Chain-of-Thought (CoT)</a:t>
            </a:r>
          </a:p>
        </p:txBody>
      </p:sp>
      <p:sp>
        <p:nvSpPr>
          <p:cNvPr id="6" name="TextBox 5"/>
          <p:cNvSpPr txBox="1"/>
          <p:nvPr/>
        </p:nvSpPr>
        <p:spPr>
          <a:xfrm>
            <a:off x="731520" y="1737360"/>
            <a:ext cx="5029200" cy="3200400"/>
          </a:xfrm>
          <a:prstGeom prst="rect">
            <a:avLst/>
          </a:prstGeom>
          <a:noFill/>
        </p:spPr>
        <p:txBody>
          <a:bodyPr wrap="square">
            <a:spAutoFit/>
          </a:bodyPr>
          <a:lstStyle/>
          <a:p>
            <a:endParaRPr dirty="0"/>
          </a:p>
          <a:p>
            <a:pPr>
              <a:spcBef>
                <a:spcPts val="300"/>
              </a:spcBef>
              <a:spcAft>
                <a:spcPts val="300"/>
              </a:spcAft>
              <a:defRPr sz="1500">
                <a:solidFill>
                  <a:srgbClr val="E2E8F0"/>
                </a:solidFill>
                <a:latin typeface="Segoe UI"/>
              </a:defRPr>
            </a:pPr>
            <a:r>
              <a:rPr dirty="0"/>
              <a:t>Ask the model to reason step by step</a:t>
            </a:r>
          </a:p>
          <a:p>
            <a:pPr>
              <a:spcBef>
                <a:spcPts val="300"/>
              </a:spcBef>
              <a:spcAft>
                <a:spcPts val="300"/>
              </a:spcAft>
              <a:defRPr sz="1500">
                <a:solidFill>
                  <a:srgbClr val="E2E8F0"/>
                </a:solidFill>
                <a:latin typeface="Segoe UI"/>
              </a:defRPr>
            </a:pPr>
            <a:r>
              <a:rPr dirty="0"/>
              <a:t>Reduces errors on logic, math, multi-step tasks</a:t>
            </a:r>
          </a:p>
          <a:p>
            <a:pPr>
              <a:spcBef>
                <a:spcPts val="300"/>
              </a:spcBef>
              <a:spcAft>
                <a:spcPts val="300"/>
              </a:spcAft>
              <a:defRPr sz="1500">
                <a:solidFill>
                  <a:srgbClr val="E2E8F0"/>
                </a:solidFill>
                <a:latin typeface="Segoe UI"/>
              </a:defRPr>
            </a:pPr>
            <a:r>
              <a:rPr dirty="0"/>
              <a:t>Key phrases: "Think step by step" / "Show reasoning"</a:t>
            </a:r>
          </a:p>
          <a:p>
            <a:pPr>
              <a:spcBef>
                <a:spcPts val="300"/>
              </a:spcBef>
              <a:spcAft>
                <a:spcPts val="300"/>
              </a:spcAft>
              <a:defRPr sz="1500">
                <a:solidFill>
                  <a:srgbClr val="E2E8F0"/>
                </a:solidFill>
                <a:latin typeface="Segoe UI"/>
              </a:defRPr>
            </a:pPr>
            <a:r>
              <a:rPr dirty="0"/>
              <a:t>Prevents jumping to conclusions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3</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rPr dirty="0"/>
              <a:t>Lab 3: </a:t>
            </a:r>
            <a:r>
              <a:rPr lang="en-US" dirty="0"/>
              <a:t>COT</a:t>
            </a:r>
            <a:endParaRPr dirty="0"/>
          </a:p>
        </p:txBody>
      </p:sp>
      <p:sp>
        <p:nvSpPr>
          <p:cNvPr id="4" name="Rectangle 3"/>
          <p:cNvSpPr/>
          <p:nvPr/>
        </p:nvSpPr>
        <p:spPr>
          <a:xfrm>
            <a:off x="731520" y="960120"/>
            <a:ext cx="3657600" cy="508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400110"/>
          </a:xfrm>
          <a:prstGeom prst="rect">
            <a:avLst/>
          </a:prstGeom>
          <a:noFill/>
        </p:spPr>
        <p:txBody>
          <a:bodyPr wrap="square">
            <a:spAutoFit/>
          </a:bodyPr>
          <a:lstStyle/>
          <a:p>
            <a:pPr algn="l">
              <a:defRPr sz="2000" b="1">
                <a:solidFill>
                  <a:srgbClr val="FBBF24"/>
                </a:solidFill>
                <a:latin typeface="Segoe UI"/>
              </a:defRPr>
            </a:pPr>
            <a:r>
              <a:rPr dirty="0"/>
              <a:t>📋  </a:t>
            </a:r>
            <a:r>
              <a:rPr lang="en-US" dirty="0"/>
              <a:t>Example</a:t>
            </a:r>
            <a:endParaRPr dirty="0"/>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defRPr sz="1300">
                <a:solidFill>
                  <a:srgbClr val="4ADE80"/>
                </a:solidFill>
                <a:latin typeface="Cascadia Code"/>
              </a:defRPr>
            </a:pPr>
            <a:r>
              <a:rPr lang="en-US" sz="1300" dirty="0"/>
              <a:t>The CEO has asked you to choose between two project management tools (Jira vs. Trello) for a 20-person development team. Your constraints are: a </a:t>
            </a:r>
            <a:r>
              <a:rPr lang="en-US" sz="1300" b="1" dirty="0"/>
              <a:t>"very tight budget"</a:t>
            </a:r>
            <a:r>
              <a:rPr lang="en-US" sz="1300" dirty="0"/>
              <a:t> but a </a:t>
            </a:r>
            <a:r>
              <a:rPr lang="en-US" sz="1300" b="1" dirty="0"/>
              <a:t>"critical need for detailed Agile reporting."</a:t>
            </a:r>
            <a:r>
              <a:rPr lang="en-US" sz="1300" dirty="0"/>
              <a:t> </a:t>
            </a:r>
            <a:r>
              <a:rPr lang="en-US" sz="1300" i="1" dirty="0"/>
              <a:t>Without guidance, AI usually provides a generic, Wikipedia-style comparison and ultimately recommends one at random</a:t>
            </a:r>
            <a:endParaRPr dirty="0"/>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59" y="1660044"/>
            <a:ext cx="3749039" cy="4054956"/>
          </a:xfrm>
          <a:prstGeom prst="rect">
            <a:avLst/>
          </a:prstGeom>
          <a:noFill/>
        </p:spPr>
        <p:txBody>
          <a:bodyPr wrap="square">
            <a:spAutoFit/>
          </a:bodyPr>
          <a:lstStyle/>
          <a:p>
            <a:r>
              <a:rPr lang="en-US" sz="1500" dirty="0">
                <a:solidFill>
                  <a:srgbClr val="E2E8F0"/>
                </a:solidFill>
                <a:latin typeface="Segoe UI"/>
              </a:rPr>
              <a:t>We need to choose between Jira and Trello for our 20-person development team. We have a very tight budget, but detailed Agile/Sprint reporting is critical for us. Explain your reasoning </a:t>
            </a:r>
            <a:r>
              <a:rPr lang="en-US" sz="1500" dirty="0">
                <a:solidFill>
                  <a:srgbClr val="FFFF00"/>
                </a:solidFill>
                <a:latin typeface="Segoe UI"/>
              </a:rPr>
              <a:t>step-by-step before concluding</a:t>
            </a:r>
            <a:r>
              <a:rPr lang="en-US" sz="1500" dirty="0">
                <a:solidFill>
                  <a:srgbClr val="E2E8F0"/>
                </a:solidFill>
                <a:latin typeface="Segoe UI"/>
              </a:rPr>
              <a:t>:</a:t>
            </a:r>
          </a:p>
          <a:p>
            <a:r>
              <a:rPr lang="en-US" sz="1500" dirty="0">
                <a:solidFill>
                  <a:srgbClr val="FFFF00"/>
                </a:solidFill>
                <a:latin typeface="Segoe UI"/>
              </a:rPr>
              <a:t>First</a:t>
            </a:r>
            <a:r>
              <a:rPr lang="en-US" sz="1500" dirty="0">
                <a:solidFill>
                  <a:srgbClr val="E2E8F0"/>
                </a:solidFill>
                <a:latin typeface="Segoe UI"/>
              </a:rPr>
              <a:t>, calculate and compare the estimated monthly cost of both tools for 20 users.</a:t>
            </a:r>
          </a:p>
          <a:p>
            <a:r>
              <a:rPr lang="en-US" sz="1500" dirty="0">
                <a:solidFill>
                  <a:srgbClr val="FFFF00"/>
                </a:solidFill>
                <a:latin typeface="Segoe UI"/>
              </a:rPr>
              <a:t>Next</a:t>
            </a:r>
            <a:r>
              <a:rPr lang="en-US" sz="1500" dirty="0">
                <a:solidFill>
                  <a:srgbClr val="E2E8F0"/>
                </a:solidFill>
                <a:latin typeface="Segoe UI"/>
              </a:rPr>
              <a:t>, specifically evaluate the Agile reporting capabilities of each tool.</a:t>
            </a:r>
          </a:p>
          <a:p>
            <a:r>
              <a:rPr lang="en-US" sz="1500" dirty="0">
                <a:solidFill>
                  <a:srgbClr val="FFFF00"/>
                </a:solidFill>
                <a:latin typeface="Segoe UI"/>
              </a:rPr>
              <a:t>Third</a:t>
            </a:r>
            <a:r>
              <a:rPr lang="en-US" sz="1500" dirty="0">
                <a:solidFill>
                  <a:srgbClr val="E2E8F0"/>
                </a:solidFill>
                <a:latin typeface="Segoe UI"/>
              </a:rPr>
              <a:t>, analyze the trade-off: given our tight budget, does it make sense to pay Jira's higher cost for better reporting features?</a:t>
            </a:r>
          </a:p>
          <a:p>
            <a:r>
              <a:rPr lang="en-US" sz="1500" dirty="0">
                <a:solidFill>
                  <a:srgbClr val="E2E8F0"/>
                </a:solidFill>
                <a:latin typeface="Segoe UI"/>
              </a:rPr>
              <a:t>Finally, based purely on </a:t>
            </a:r>
            <a:r>
              <a:rPr lang="en-US" sz="1500" dirty="0">
                <a:solidFill>
                  <a:srgbClr val="FFFF00"/>
                </a:solidFill>
                <a:latin typeface="Segoe UI"/>
              </a:rPr>
              <a:t>this step-by-step </a:t>
            </a:r>
            <a:r>
              <a:rPr lang="en-US" sz="1500" dirty="0">
                <a:solidFill>
                  <a:srgbClr val="E2E8F0"/>
                </a:solidFill>
                <a:latin typeface="Segoe UI"/>
              </a:rPr>
              <a:t>analysis, state your definitive final choice.</a:t>
            </a:r>
          </a:p>
          <a:p>
            <a:pPr>
              <a:spcBef>
                <a:spcPts val="300"/>
              </a:spcBef>
              <a:spcAft>
                <a:spcPts val="300"/>
              </a:spcAft>
              <a:defRPr sz="1300">
                <a:solidFill>
                  <a:srgbClr val="E2E8F0"/>
                </a:solidFill>
                <a:latin typeface="Segoe UI"/>
              </a:defRPr>
            </a:pPr>
            <a:endParaRPr sz="1500" dirty="0"/>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rPr dirty="0"/>
              <a:t>⏱  </a:t>
            </a:r>
            <a:r>
              <a:rPr lang="fa-IR" dirty="0"/>
              <a:t>5</a:t>
            </a:r>
            <a:r>
              <a:rPr dirty="0"/>
              <a:t>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097280" cy="480000"/>
          </a:xfrm>
          <a:prstGeom prst="roundRect">
            <a:avLst>
              <a:gd name="adj" fmla="val 5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172A"/>
                </a:solidFill>
                <a:latin typeface="Segoe UI"/>
              </a:rPr>
              <a:t>API TOOL</a:t>
            </a:r>
          </a:p>
        </p:txBody>
      </p:sp>
      <p:sp>
        <p:nvSpPr>
          <p:cNvPr id="3" name="TextBox 2"/>
          <p:cNvSpPr txBox="1"/>
          <p:nvPr/>
        </p:nvSpPr>
        <p:spPr>
          <a:xfrm>
            <a:off x="1950000" y="290000"/>
            <a:ext cx="9500000" cy="548640"/>
          </a:xfrm>
          <a:prstGeom prst="rect">
            <a:avLst/>
          </a:prstGeom>
          <a:noFill/>
        </p:spPr>
        <p:txBody>
          <a:bodyPr wrap="square">
            <a:spAutoFit/>
          </a:bodyPr>
          <a:lstStyle/>
          <a:p>
            <a:pPr algn="l">
              <a:spcBef>
                <a:spcPts val="0"/>
              </a:spcBef>
              <a:spcAft>
                <a:spcPts val="0"/>
              </a:spcAft>
            </a:pPr>
            <a:r>
              <a:rPr sz="3200" b="1">
                <a:solidFill>
                  <a:srgbClr val="FFFFFF"/>
                </a:solidFill>
                <a:latin typeface="Segoe UI"/>
              </a:rPr>
              <a:t>API Parameter: stop_sequences</a:t>
            </a:r>
          </a:p>
        </p:txBody>
      </p:sp>
      <p:sp>
        <p:nvSpPr>
          <p:cNvPr id="4" name="Rectangle 3"/>
          <p:cNvSpPr/>
          <p:nvPr/>
        </p:nvSpPr>
        <p:spPr>
          <a:xfrm>
            <a:off x="731520" y="920000"/>
            <a:ext cx="3657600" cy="45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80000"/>
            <a:ext cx="5250000" cy="4050000"/>
          </a:xfrm>
          <a:prstGeom prst="roundRect">
            <a:avLst>
              <a:gd name="adj" fmla="val 5000"/>
            </a:avLst>
          </a:prstGeom>
          <a:solidFill>
            <a:srgbClr val="16203A"/>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1520" y="1600000"/>
            <a:ext cx="4890000" cy="350000"/>
          </a:xfrm>
          <a:prstGeom prst="rect">
            <a:avLst/>
          </a:prstGeom>
          <a:noFill/>
        </p:spPr>
        <p:txBody>
          <a:bodyPr wrap="square">
            <a:spAutoFit/>
          </a:bodyPr>
          <a:lstStyle/>
          <a:p>
            <a:pPr algn="l">
              <a:spcBef>
                <a:spcPts val="0"/>
              </a:spcBef>
              <a:spcAft>
                <a:spcPts val="0"/>
              </a:spcAft>
            </a:pPr>
            <a:r>
              <a:rPr sz="1700" b="1" dirty="0">
                <a:solidFill>
                  <a:srgbClr val="38BDF8"/>
                </a:solidFill>
                <a:latin typeface="Segoe UI"/>
              </a:rPr>
              <a:t>🎯  Key Production Use Cases</a:t>
            </a:r>
          </a:p>
        </p:txBody>
      </p:sp>
      <p:sp>
        <p:nvSpPr>
          <p:cNvPr id="8" name="TextBox 7"/>
          <p:cNvSpPr txBox="1"/>
          <p:nvPr/>
        </p:nvSpPr>
        <p:spPr>
          <a:xfrm>
            <a:off x="911520" y="2000000"/>
            <a:ext cx="4890000" cy="3450000"/>
          </a:xfrm>
          <a:prstGeom prst="rect">
            <a:avLst/>
          </a:prstGeom>
          <a:noFill/>
        </p:spPr>
        <p:txBody>
          <a:bodyPr wrap="square">
            <a:spAutoFit/>
          </a:bodyPr>
          <a:lstStyle/>
          <a:p>
            <a:pPr algn="l">
              <a:spcBef>
                <a:spcPts val="140"/>
              </a:spcBef>
              <a:spcAft>
                <a:spcPts val="140"/>
              </a:spcAft>
            </a:pPr>
            <a:r>
              <a:rPr sz="1300" b="1">
                <a:solidFill>
                  <a:srgbClr val="4ADE80"/>
                </a:solidFill>
                <a:latin typeface="Segoe UI"/>
              </a:rPr>
              <a:t>1. Structured Output Isolation</a:t>
            </a:r>
          </a:p>
          <a:p>
            <a:pPr algn="l">
              <a:spcBef>
                <a:spcPts val="140"/>
              </a:spcBef>
              <a:spcAft>
                <a:spcPts val="140"/>
              </a:spcAft>
            </a:pPr>
            <a:r>
              <a:rPr sz="1150" b="0">
                <a:solidFill>
                  <a:srgbClr val="E2E8F0"/>
                </a:solidFill>
                <a:latin typeface="Segoe UI"/>
              </a:rPr>
              <a:t>    Stop at "&lt;/result&gt;" or "}" so the model never adds trailing fluff ("Hope this helps!").</a:t>
            </a:r>
          </a:p>
          <a:p>
            <a:pPr algn="l">
              <a:spcBef>
                <a:spcPts val="140"/>
              </a:spcBef>
              <a:spcAft>
                <a:spcPts val="140"/>
              </a:spcAft>
            </a:pPr>
            <a:r>
              <a:rPr sz="1300" b="1">
                <a:solidFill>
                  <a:srgbClr val="4ADE80"/>
                </a:solidFill>
                <a:latin typeface="Segoe UI"/>
              </a:rPr>
              <a:t>2. Code-Only Blocks</a:t>
            </a:r>
          </a:p>
          <a:p>
            <a:pPr algn="l">
              <a:spcBef>
                <a:spcPts val="140"/>
              </a:spcBef>
              <a:spcAft>
                <a:spcPts val="140"/>
              </a:spcAft>
            </a:pPr>
            <a:r>
              <a:rPr sz="1150" b="0">
                <a:solidFill>
                  <a:srgbClr val="E2E8F0"/>
                </a:solidFill>
                <a:latin typeface="Segoe UI"/>
              </a:rPr>
              <a:t>    Set stop sequence to "```" to terminate the response instantly after the code snippet.</a:t>
            </a:r>
          </a:p>
          <a:p>
            <a:pPr algn="l">
              <a:spcBef>
                <a:spcPts val="140"/>
              </a:spcBef>
              <a:spcAft>
                <a:spcPts val="140"/>
              </a:spcAft>
            </a:pPr>
            <a:r>
              <a:rPr sz="1300" b="1">
                <a:solidFill>
                  <a:srgbClr val="4ADE80"/>
                </a:solidFill>
                <a:latin typeface="Segoe UI"/>
              </a:rPr>
              <a:t>3. Role &amp; Chat Boundaries</a:t>
            </a:r>
          </a:p>
          <a:p>
            <a:pPr algn="l">
              <a:spcBef>
                <a:spcPts val="140"/>
              </a:spcBef>
              <a:spcAft>
                <a:spcPts val="140"/>
              </a:spcAft>
            </a:pPr>
            <a:r>
              <a:rPr sz="1150" b="0">
                <a:solidFill>
                  <a:srgbClr val="E2E8F0"/>
                </a:solidFill>
                <a:latin typeface="Segoe UI"/>
              </a:rPr>
              <a:t>    Stop at "\n\nHuman:" to prevent the model from impersonating the user in turn-based chat.</a:t>
            </a:r>
          </a:p>
          <a:p>
            <a:pPr algn="l">
              <a:spcBef>
                <a:spcPts val="140"/>
              </a:spcBef>
              <a:spcAft>
                <a:spcPts val="140"/>
              </a:spcAft>
            </a:pPr>
            <a:r>
              <a:rPr sz="1300" b="1">
                <a:solidFill>
                  <a:srgbClr val="4ADE80"/>
                </a:solidFill>
                <a:latin typeface="Segoe UI"/>
              </a:rPr>
              <a:t>4. Strict Item Counts &amp; Cost Control</a:t>
            </a:r>
          </a:p>
          <a:p>
            <a:pPr algn="l">
              <a:spcBef>
                <a:spcPts val="140"/>
              </a:spcBef>
              <a:spcAft>
                <a:spcPts val="140"/>
              </a:spcAft>
            </a:pPr>
            <a:r>
              <a:rPr sz="1150" b="0">
                <a:solidFill>
                  <a:srgbClr val="E2E8F0"/>
                </a:solidFill>
                <a:latin typeface="Segoe UI"/>
              </a:rPr>
              <a:t>    Want exactly 5 items? Stop at "6." to save latency and token charges automatically.</a:t>
            </a:r>
          </a:p>
        </p:txBody>
      </p:sp>
      <p:sp>
        <p:nvSpPr>
          <p:cNvPr id="9" name="Rounded Rectangle 8"/>
          <p:cNvSpPr/>
          <p:nvPr/>
        </p:nvSpPr>
        <p:spPr>
          <a:xfrm>
            <a:off x="731520" y="5495256"/>
            <a:ext cx="5250000" cy="1400000"/>
          </a:xfrm>
          <a:prstGeom prst="roundRect">
            <a:avLst>
              <a:gd name="adj" fmla="val 5000"/>
            </a:avLst>
          </a:prstGeom>
          <a:solidFill>
            <a:srgbClr val="1C1917"/>
          </a:solidFill>
          <a:ln w="12700">
            <a:solidFill>
              <a:srgbClr val="7835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1520" y="5650000"/>
            <a:ext cx="4890000" cy="300000"/>
          </a:xfrm>
          <a:prstGeom prst="rect">
            <a:avLst/>
          </a:prstGeom>
          <a:noFill/>
        </p:spPr>
        <p:txBody>
          <a:bodyPr wrap="square">
            <a:spAutoFit/>
          </a:bodyPr>
          <a:lstStyle/>
          <a:p>
            <a:pPr algn="l">
              <a:spcBef>
                <a:spcPts val="0"/>
              </a:spcBef>
              <a:spcAft>
                <a:spcPts val="0"/>
              </a:spcAft>
            </a:pPr>
            <a:r>
              <a:rPr sz="1450" b="1" dirty="0">
                <a:solidFill>
                  <a:srgbClr val="FBBF24"/>
                </a:solidFill>
                <a:latin typeface="Segoe UI"/>
              </a:rPr>
              <a:t>⚡  Why </a:t>
            </a:r>
            <a:r>
              <a:rPr sz="1450" b="1" dirty="0" err="1">
                <a:solidFill>
                  <a:srgbClr val="FBBF24"/>
                </a:solidFill>
                <a:latin typeface="Segoe UI"/>
              </a:rPr>
              <a:t>stop_sequences</a:t>
            </a:r>
            <a:r>
              <a:rPr sz="1450" b="1" dirty="0">
                <a:solidFill>
                  <a:srgbClr val="FBBF24"/>
                </a:solidFill>
                <a:latin typeface="Segoe UI"/>
              </a:rPr>
              <a:t> Beats Prompt Instructions</a:t>
            </a:r>
          </a:p>
        </p:txBody>
      </p:sp>
      <p:sp>
        <p:nvSpPr>
          <p:cNvPr id="11" name="TextBox 10"/>
          <p:cNvSpPr txBox="1"/>
          <p:nvPr/>
        </p:nvSpPr>
        <p:spPr>
          <a:xfrm>
            <a:off x="911520" y="5965256"/>
            <a:ext cx="4890000" cy="880000"/>
          </a:xfrm>
          <a:prstGeom prst="rect">
            <a:avLst/>
          </a:prstGeom>
          <a:noFill/>
        </p:spPr>
        <p:txBody>
          <a:bodyPr wrap="square">
            <a:spAutoFit/>
          </a:bodyPr>
          <a:lstStyle/>
          <a:p>
            <a:pPr algn="l">
              <a:spcBef>
                <a:spcPts val="180"/>
              </a:spcBef>
              <a:spcAft>
                <a:spcPts val="180"/>
              </a:spcAft>
            </a:pPr>
            <a:r>
              <a:rPr sz="1150" b="0" dirty="0">
                <a:solidFill>
                  <a:srgbClr val="E2E8F0"/>
                </a:solidFill>
                <a:latin typeface="Segoe UI"/>
              </a:rPr>
              <a:t>• Prompts like "do not say anything else" are probabilistic (~5-10% failure rate).</a:t>
            </a:r>
          </a:p>
          <a:p>
            <a:pPr algn="l">
              <a:spcBef>
                <a:spcPts val="180"/>
              </a:spcBef>
              <a:spcAft>
                <a:spcPts val="180"/>
              </a:spcAft>
            </a:pPr>
            <a:r>
              <a:rPr sz="1150" b="1" dirty="0">
                <a:solidFill>
                  <a:srgbClr val="22D3EE"/>
                </a:solidFill>
                <a:latin typeface="Segoe UI"/>
              </a:rPr>
              <a:t>• </a:t>
            </a:r>
            <a:r>
              <a:rPr sz="1150" b="1" dirty="0" err="1">
                <a:solidFill>
                  <a:srgbClr val="22D3EE"/>
                </a:solidFill>
                <a:latin typeface="Segoe UI"/>
              </a:rPr>
              <a:t>stop_sequences</a:t>
            </a:r>
            <a:r>
              <a:rPr sz="1150" b="1" dirty="0">
                <a:solidFill>
                  <a:srgbClr val="22D3EE"/>
                </a:solidFill>
                <a:latin typeface="Segoe UI"/>
              </a:rPr>
              <a:t> is enforced directly by the sampler engine — 100% guaranteed cutoff.</a:t>
            </a:r>
          </a:p>
        </p:txBody>
      </p:sp>
      <p:sp>
        <p:nvSpPr>
          <p:cNvPr id="12" name="Rounded Rectangle 11"/>
          <p:cNvSpPr/>
          <p:nvPr/>
        </p:nvSpPr>
        <p:spPr>
          <a:xfrm>
            <a:off x="6362880" y="1480000"/>
            <a:ext cx="5250000" cy="5610000"/>
          </a:xfrm>
          <a:prstGeom prst="roundRect">
            <a:avLst>
              <a:gd name="adj" fmla="val 5000"/>
            </a:avLst>
          </a:prstGeom>
          <a:solidFill>
            <a:srgbClr val="0B1120"/>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62880" y="1480000"/>
            <a:ext cx="5250000" cy="400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r>
              <a:rPr sz="1200" b="1" dirty="0">
                <a:solidFill>
                  <a:srgbClr val="94A3B8"/>
                </a:solidFill>
                <a:latin typeface="Segoe UI"/>
              </a:rPr>
              <a:t>   API Request Payload (Claude Messages API)</a:t>
            </a:r>
          </a:p>
        </p:txBody>
      </p:sp>
      <p:sp>
        <p:nvSpPr>
          <p:cNvPr id="14" name="TextBox 13"/>
          <p:cNvSpPr txBox="1"/>
          <p:nvPr/>
        </p:nvSpPr>
        <p:spPr>
          <a:xfrm>
            <a:off x="6582880" y="1980000"/>
            <a:ext cx="4810000" cy="5010000"/>
          </a:xfrm>
          <a:prstGeom prst="rect">
            <a:avLst/>
          </a:prstGeom>
          <a:noFill/>
        </p:spPr>
        <p:txBody>
          <a:bodyPr wrap="square">
            <a:spAutoFit/>
          </a:bodyPr>
          <a:lstStyle/>
          <a:p>
            <a:pPr algn="l">
              <a:spcBef>
                <a:spcPts val="80"/>
              </a:spcBef>
              <a:spcAft>
                <a:spcPts val="80"/>
              </a:spcAft>
            </a:pPr>
            <a:r>
              <a:rPr sz="1200" b="1" dirty="0">
                <a:solidFill>
                  <a:srgbClr val="22D3EE"/>
                </a:solidFill>
                <a:latin typeface="Consolas"/>
              </a:rPr>
              <a:t>POST /v1/messages</a:t>
            </a:r>
          </a:p>
          <a:p>
            <a:pPr algn="l">
              <a:spcBef>
                <a:spcPts val="80"/>
              </a:spcBef>
              <a:spcAft>
                <a:spcPts val="80"/>
              </a:spcAft>
            </a:pPr>
            <a:r>
              <a:rPr sz="1200" b="0" dirty="0">
                <a:solidFill>
                  <a:srgbClr val="FFFFFF"/>
                </a:solidFill>
                <a:latin typeface="Consolas"/>
              </a:rPr>
              <a:t>{</a:t>
            </a:r>
          </a:p>
          <a:p>
            <a:pPr algn="l">
              <a:spcBef>
                <a:spcPts val="80"/>
              </a:spcBef>
              <a:spcAft>
                <a:spcPts val="80"/>
              </a:spcAft>
            </a:pPr>
            <a:r>
              <a:rPr sz="1200" b="0" dirty="0">
                <a:solidFill>
                  <a:srgbClr val="4ADE80"/>
                </a:solidFill>
                <a:latin typeface="Consolas"/>
              </a:rPr>
              <a:t>  "model": "claude-3-opus-20240229",</a:t>
            </a:r>
          </a:p>
          <a:p>
            <a:pPr algn="l">
              <a:spcBef>
                <a:spcPts val="80"/>
              </a:spcBef>
              <a:spcAft>
                <a:spcPts val="80"/>
              </a:spcAft>
            </a:pPr>
            <a:r>
              <a:rPr sz="1200" b="0" dirty="0">
                <a:solidFill>
                  <a:srgbClr val="E2E8F0"/>
                </a:solidFill>
                <a:latin typeface="Consolas"/>
              </a:rPr>
              <a:t>  "</a:t>
            </a:r>
            <a:r>
              <a:rPr sz="1200" b="0" dirty="0" err="1">
                <a:solidFill>
                  <a:srgbClr val="E2E8F0"/>
                </a:solidFill>
                <a:latin typeface="Consolas"/>
              </a:rPr>
              <a:t>max_tokens</a:t>
            </a:r>
            <a:r>
              <a:rPr sz="1200" b="0" dirty="0">
                <a:solidFill>
                  <a:srgbClr val="E2E8F0"/>
                </a:solidFill>
                <a:latin typeface="Consolas"/>
              </a:rPr>
              <a:t>": 1000,</a:t>
            </a:r>
          </a:p>
          <a:p>
            <a:pPr algn="l">
              <a:spcBef>
                <a:spcPts val="80"/>
              </a:spcBef>
              <a:spcAft>
                <a:spcPts val="80"/>
              </a:spcAft>
            </a:pPr>
            <a:r>
              <a:rPr sz="1200" b="0" dirty="0">
                <a:solidFill>
                  <a:srgbClr val="FFFFFF"/>
                </a:solidFill>
                <a:latin typeface="Consolas"/>
              </a:rPr>
              <a:t>  "messages": [</a:t>
            </a:r>
          </a:p>
          <a:p>
            <a:pPr algn="l">
              <a:spcBef>
                <a:spcPts val="80"/>
              </a:spcBef>
              <a:spcAft>
                <a:spcPts val="80"/>
              </a:spcAft>
            </a:pPr>
            <a:r>
              <a:rPr sz="1200" b="0" dirty="0">
                <a:solidFill>
                  <a:srgbClr val="FFFFFF"/>
                </a:solidFill>
                <a:latin typeface="Consolas"/>
              </a:rPr>
              <a:t>    {</a:t>
            </a:r>
          </a:p>
          <a:p>
            <a:pPr algn="l">
              <a:spcBef>
                <a:spcPts val="80"/>
              </a:spcBef>
              <a:spcAft>
                <a:spcPts val="80"/>
              </a:spcAft>
            </a:pPr>
            <a:r>
              <a:rPr sz="1200" b="0" dirty="0">
                <a:solidFill>
                  <a:srgbClr val="38BDF8"/>
                </a:solidFill>
                <a:latin typeface="Consolas"/>
              </a:rPr>
              <a:t>      "role": "user",</a:t>
            </a:r>
          </a:p>
          <a:p>
            <a:pPr algn="l">
              <a:spcBef>
                <a:spcPts val="80"/>
              </a:spcBef>
              <a:spcAft>
                <a:spcPts val="80"/>
              </a:spcAft>
            </a:pPr>
            <a:r>
              <a:rPr sz="1200" b="0" dirty="0">
                <a:solidFill>
                  <a:srgbClr val="4ADE80"/>
                </a:solidFill>
                <a:latin typeface="Consolas"/>
              </a:rPr>
              <a:t>      "content": "List 5 planets with key facts."</a:t>
            </a:r>
          </a:p>
          <a:p>
            <a:pPr algn="l">
              <a:spcBef>
                <a:spcPts val="80"/>
              </a:spcBef>
              <a:spcAft>
                <a:spcPts val="80"/>
              </a:spcAft>
            </a:pPr>
            <a:r>
              <a:rPr sz="1200" b="0" dirty="0">
                <a:solidFill>
                  <a:srgbClr val="FFFFFF"/>
                </a:solidFill>
                <a:latin typeface="Consolas"/>
              </a:rPr>
              <a:t>    }</a:t>
            </a:r>
          </a:p>
          <a:p>
            <a:pPr algn="l">
              <a:spcBef>
                <a:spcPts val="80"/>
              </a:spcBef>
              <a:spcAft>
                <a:spcPts val="80"/>
              </a:spcAft>
            </a:pPr>
            <a:r>
              <a:rPr sz="1200" b="0" dirty="0">
                <a:solidFill>
                  <a:srgbClr val="FFFFFF"/>
                </a:solidFill>
                <a:latin typeface="Consolas"/>
              </a:rPr>
              <a:t>  ],</a:t>
            </a:r>
          </a:p>
          <a:p>
            <a:pPr algn="l">
              <a:spcBef>
                <a:spcPts val="80"/>
              </a:spcBef>
              <a:spcAft>
                <a:spcPts val="80"/>
              </a:spcAft>
            </a:pPr>
            <a:r>
              <a:rPr sz="1200" b="1" dirty="0">
                <a:solidFill>
                  <a:srgbClr val="FBBF24"/>
                </a:solidFill>
                <a:latin typeface="Consolas"/>
              </a:rPr>
              <a:t>  "</a:t>
            </a:r>
            <a:r>
              <a:rPr sz="1200" b="1" dirty="0" err="1">
                <a:solidFill>
                  <a:srgbClr val="FBBF24"/>
                </a:solidFill>
                <a:latin typeface="Consolas"/>
              </a:rPr>
              <a:t>stop_sequences</a:t>
            </a:r>
            <a:r>
              <a:rPr sz="1200" b="1" dirty="0">
                <a:solidFill>
                  <a:srgbClr val="FBBF24"/>
                </a:solidFill>
                <a:latin typeface="Consolas"/>
              </a:rPr>
              <a:t>": [</a:t>
            </a:r>
          </a:p>
          <a:p>
            <a:pPr algn="l">
              <a:spcBef>
                <a:spcPts val="80"/>
              </a:spcBef>
              <a:spcAft>
                <a:spcPts val="80"/>
              </a:spcAft>
            </a:pPr>
            <a:r>
              <a:rPr sz="1200" b="1" dirty="0">
                <a:solidFill>
                  <a:srgbClr val="FBBF24"/>
                </a:solidFill>
                <a:latin typeface="Consolas"/>
              </a:rPr>
              <a:t>    "6.",</a:t>
            </a:r>
          </a:p>
          <a:p>
            <a:pPr algn="l">
              <a:spcBef>
                <a:spcPts val="80"/>
              </a:spcBef>
              <a:spcAft>
                <a:spcPts val="80"/>
              </a:spcAft>
            </a:pPr>
            <a:r>
              <a:rPr sz="1200" b="1" dirty="0">
                <a:solidFill>
                  <a:srgbClr val="FBBF24"/>
                </a:solidFill>
                <a:latin typeface="Consolas"/>
              </a:rPr>
              <a:t>    "&lt;/list&gt;"</a:t>
            </a:r>
          </a:p>
          <a:p>
            <a:pPr algn="l">
              <a:spcBef>
                <a:spcPts val="80"/>
              </a:spcBef>
              <a:spcAft>
                <a:spcPts val="80"/>
              </a:spcAft>
            </a:pPr>
            <a:r>
              <a:rPr sz="1200" b="1" dirty="0">
                <a:solidFill>
                  <a:srgbClr val="FBBF24"/>
                </a:solidFill>
                <a:latin typeface="Consolas"/>
              </a:rPr>
              <a:t>  ]</a:t>
            </a:r>
          </a:p>
          <a:p>
            <a:pPr algn="l">
              <a:spcBef>
                <a:spcPts val="80"/>
              </a:spcBef>
              <a:spcAft>
                <a:spcPts val="80"/>
              </a:spcAft>
            </a:pPr>
            <a:r>
              <a:rPr sz="1200" b="0" dirty="0">
                <a:solidFill>
                  <a:srgbClr val="FFFFFF"/>
                </a:solidFill>
                <a:latin typeface="Consolas"/>
              </a:rPr>
              <a:t>}</a:t>
            </a:r>
          </a:p>
          <a:p>
            <a:pPr algn="l">
              <a:spcBef>
                <a:spcPts val="80"/>
              </a:spcBef>
              <a:spcAft>
                <a:spcPts val="80"/>
              </a:spcAft>
            </a:pPr>
            <a:endParaRPr sz="1200" b="0" dirty="0">
              <a:solidFill>
                <a:srgbClr val="FFFFFF"/>
              </a:solidFill>
              <a:latin typeface="Consolas"/>
            </a:endParaRPr>
          </a:p>
          <a:p>
            <a:pPr algn="l">
              <a:spcBef>
                <a:spcPts val="80"/>
              </a:spcBef>
              <a:spcAft>
                <a:spcPts val="80"/>
              </a:spcAft>
            </a:pPr>
            <a:r>
              <a:rPr sz="1100" b="0" dirty="0">
                <a:solidFill>
                  <a:srgbClr val="94A3B8"/>
                </a:solidFill>
                <a:latin typeface="Consolas"/>
              </a:rPr>
              <a:t>// Result: Model stops the moment it prints "6."</a:t>
            </a:r>
          </a:p>
          <a:p>
            <a:pPr algn="l">
              <a:spcBef>
                <a:spcPts val="80"/>
              </a:spcBef>
              <a:spcAft>
                <a:spcPts val="80"/>
              </a:spcAft>
            </a:pPr>
            <a:r>
              <a:rPr sz="1100" b="1" dirty="0">
                <a:solidFill>
                  <a:srgbClr val="22D3EE"/>
                </a:solidFill>
                <a:latin typeface="Consolas"/>
              </a:rPr>
              <a:t>// Stop Reason: "</a:t>
            </a:r>
            <a:r>
              <a:rPr sz="1100" b="1" dirty="0" err="1">
                <a:solidFill>
                  <a:srgbClr val="22D3EE"/>
                </a:solidFill>
                <a:latin typeface="Consolas"/>
              </a:rPr>
              <a:t>stop_sequence</a:t>
            </a:r>
            <a:r>
              <a:rPr sz="1100" b="1" dirty="0">
                <a:solidFill>
                  <a:srgbClr val="22D3EE"/>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animBg="1"/>
      <p:bldP spid="10" grpId="0"/>
      <p:bldP spid="11" grpId="0"/>
      <p:bldP spid="12" grpId="0" animBg="1"/>
      <p:bldP spid="13" grpId="0" animBg="1"/>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4</a:t>
            </a:r>
          </a:p>
        </p:txBody>
      </p:sp>
      <p:sp>
        <p:nvSpPr>
          <p:cNvPr id="3" name="TextBox 2"/>
          <p:cNvSpPr txBox="1"/>
          <p:nvPr/>
        </p:nvSpPr>
        <p:spPr>
          <a:xfrm>
            <a:off x="1828800" y="320040"/>
            <a:ext cx="9144000" cy="369332"/>
          </a:xfrm>
          <a:prstGeom prst="rect">
            <a:avLst/>
          </a:prstGeom>
          <a:noFill/>
        </p:spPr>
        <p:txBody>
          <a:bodyPr wrap="square">
            <a:spAutoFit/>
          </a:bodyPr>
          <a:lstStyle/>
          <a:p>
            <a:r>
              <a:rPr dirty="0">
                <a:solidFill>
                  <a:schemeClr val="lt1"/>
                </a:solidFill>
              </a:rPr>
              <a:t>Structured Output &amp; XML Tags</a:t>
            </a:r>
          </a:p>
        </p:txBody>
      </p:sp>
      <p:sp>
        <p:nvSpPr>
          <p:cNvPr id="4" name="Rectangle 3"/>
          <p:cNvSpPr/>
          <p:nvPr/>
        </p:nvSpPr>
        <p:spPr>
          <a:xfrm>
            <a:off x="731520" y="960120"/>
            <a:ext cx="3657600" cy="508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A78BFA"/>
                </a:solidFill>
                <a:latin typeface="Segoe UI"/>
              </a:defRPr>
            </a:pPr>
            <a:r>
              <a:t>📖  Concept: Structured Output</a:t>
            </a:r>
          </a:p>
        </p:txBody>
      </p:sp>
      <p:sp>
        <p:nvSpPr>
          <p:cNvPr id="6" name="TextBox 5"/>
          <p:cNvSpPr txBox="1"/>
          <p:nvPr/>
        </p:nvSpPr>
        <p:spPr>
          <a:xfrm>
            <a:off x="595042" y="1763435"/>
            <a:ext cx="5029200" cy="2031325"/>
          </a:xfrm>
          <a:prstGeom prst="rect">
            <a:avLst/>
          </a:prstGeom>
          <a:noFill/>
        </p:spPr>
        <p:txBody>
          <a:bodyPr wrap="square">
            <a:spAutoFit/>
          </a:bodyPr>
          <a:lstStyle/>
          <a:p>
            <a:pPr marL="342900" indent="-342900">
              <a:buAutoNum type="arabicPeriod"/>
            </a:pPr>
            <a:r>
              <a:rPr lang="en-US" dirty="0">
                <a:solidFill>
                  <a:schemeClr val="lt1"/>
                </a:solidFill>
              </a:rPr>
              <a:t>Clear Separation of Instructions and Inputs/Variables</a:t>
            </a:r>
          </a:p>
          <a:p>
            <a:pPr marL="342900" indent="-342900">
              <a:buAutoNum type="arabicPeriod"/>
            </a:pPr>
            <a:r>
              <a:rPr lang="en-US" dirty="0">
                <a:solidFill>
                  <a:schemeClr val="lt1"/>
                </a:solidFill>
              </a:rPr>
              <a:t>Native XML Optimization (Claude-tuned)</a:t>
            </a:r>
          </a:p>
          <a:p>
            <a:pPr marL="342900" indent="-342900">
              <a:buAutoNum type="arabicPeriod"/>
            </a:pPr>
            <a:r>
              <a:rPr lang="en-US" dirty="0">
                <a:solidFill>
                  <a:schemeClr val="lt1"/>
                </a:solidFill>
              </a:rPr>
              <a:t>Prompt Injection &amp; Conflict Prevention</a:t>
            </a:r>
          </a:p>
          <a:p>
            <a:pPr marL="342900" indent="-342900">
              <a:buAutoNum type="arabicPeriod"/>
            </a:pPr>
            <a:r>
              <a:rPr lang="fa-IR" dirty="0">
                <a:solidFill>
                  <a:schemeClr val="lt1"/>
                </a:solidFill>
              </a:rPr>
              <a:t> </a:t>
            </a:r>
            <a:r>
              <a:rPr lang="en-US" dirty="0">
                <a:solidFill>
                  <a:schemeClr val="lt1"/>
                </a:solidFill>
              </a:rPr>
              <a:t>Improved Structure and Readability</a:t>
            </a:r>
            <a:endParaRPr lang="fa-IR" dirty="0">
              <a:solidFill>
                <a:schemeClr val="lt1"/>
              </a:solidFill>
            </a:endParaRPr>
          </a:p>
          <a:p>
            <a:endParaRPr lang="fa-IR" dirty="0">
              <a:solidFill>
                <a:schemeClr val="lt1"/>
              </a:solidFill>
            </a:endParaRPr>
          </a:p>
          <a:p>
            <a:endParaRPr dirty="0">
              <a:solidFill>
                <a:schemeClr val="lt1"/>
              </a:solidFill>
            </a:endParaRP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A78BFA"/>
                </a:solidFill>
                <a:latin typeface="Segoe UI"/>
              </a:defRPr>
            </a:pPr>
            <a:r>
              <a:rPr dirty="0"/>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r>
              <a:rPr dirty="0"/>
              <a:t>Extract the users and tasks from this meeting transcript and give me a JSON output.</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r>
              <a:rPr dirty="0"/>
              <a:t>&lt;instructions&gt;</a:t>
            </a:r>
          </a:p>
          <a:p>
            <a:r>
              <a:rPr dirty="0"/>
              <a:t>Extract users and tasks from &lt;transcript&gt;. Output only JSON matching &lt;format&gt;.</a:t>
            </a:r>
          </a:p>
          <a:p>
            <a:r>
              <a:rPr dirty="0"/>
              <a:t>&lt;/instructions&gt;</a:t>
            </a:r>
          </a:p>
          <a:p>
            <a:r>
              <a:rPr dirty="0"/>
              <a:t>&lt;format&gt;</a:t>
            </a:r>
          </a:p>
          <a:p>
            <a:r>
              <a:rPr dirty="0"/>
              <a:t>{ ... JSON skeleton ... }</a:t>
            </a:r>
          </a:p>
          <a:p>
            <a:r>
              <a:rPr dirty="0"/>
              <a:t>&lt;/format&gt;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P spid="10" grpId="0" animBg="1"/>
      <p:bldP spid="11" grpId="0" animBg="1"/>
      <p:bldP spid="12" grpId="0"/>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4</a:t>
            </a:r>
          </a:p>
        </p:txBody>
      </p:sp>
      <p:sp>
        <p:nvSpPr>
          <p:cNvPr id="3" name="TextBox 2"/>
          <p:cNvSpPr txBox="1"/>
          <p:nvPr/>
        </p:nvSpPr>
        <p:spPr>
          <a:xfrm>
            <a:off x="2560320" y="365760"/>
            <a:ext cx="8229600" cy="369332"/>
          </a:xfrm>
          <a:prstGeom prst="rect">
            <a:avLst/>
          </a:prstGeom>
          <a:noFill/>
        </p:spPr>
        <p:txBody>
          <a:bodyPr wrap="square">
            <a:spAutoFit/>
          </a:bodyPr>
          <a:lstStyle/>
          <a:p>
            <a:r>
              <a:rPr dirty="0">
                <a:solidFill>
                  <a:schemeClr val="lt1"/>
                </a:solidFill>
              </a:rPr>
              <a:t>Lab 4: Structured Output &amp; XML Tags</a:t>
            </a:r>
          </a:p>
        </p:txBody>
      </p:sp>
      <p:sp>
        <p:nvSpPr>
          <p:cNvPr id="4" name="Rectangle 3"/>
          <p:cNvSpPr/>
          <p:nvPr/>
        </p:nvSpPr>
        <p:spPr>
          <a:xfrm>
            <a:off x="731520" y="960120"/>
            <a:ext cx="3657600" cy="508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A78BFA"/>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r>
              <a:rPr dirty="0"/>
              <a:t>1. Tag Structure: Use &lt;instructions&gt;, &lt;transcript&gt;, and &lt;format&gt; tags.</a:t>
            </a:r>
          </a:p>
          <a:p>
            <a:r>
              <a:rPr dirty="0"/>
              <a:t>2. JSON Skeleton: Draw a template with 'users' and 'tasks' linked by an ID.</a:t>
            </a:r>
          </a:p>
          <a:p>
            <a:r>
              <a:rPr dirty="0"/>
              <a:t>3. Edge Cases: Use 'null' for missing deadlines and skip idle users.</a:t>
            </a:r>
          </a:p>
          <a:p>
            <a:r>
              <a:rPr dirty="0"/>
              <a:t>4. Data Isolation: Instruct the AI to ignore commands hidden in the transcript.</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45079" y="1920241"/>
            <a:ext cx="3749039" cy="2308324"/>
          </a:xfrm>
          <a:prstGeom prst="rect">
            <a:avLst/>
          </a:prstGeom>
          <a:noFill/>
        </p:spPr>
        <p:txBody>
          <a:bodyPr wrap="square">
            <a:spAutoFit/>
          </a:bodyPr>
          <a:lstStyle/>
          <a:p>
            <a:r>
              <a:rPr dirty="0">
                <a:solidFill>
                  <a:schemeClr val="lt1"/>
                </a:solidFill>
              </a:rPr>
              <a:t>Tag Structure (25): uses &lt;instructions&gt;, &lt;format&gt;, etc.</a:t>
            </a:r>
          </a:p>
          <a:p>
            <a:r>
              <a:rPr dirty="0">
                <a:solidFill>
                  <a:schemeClr val="lt1"/>
                </a:solidFill>
              </a:rPr>
              <a:t>JSON Skeleton (25): separate arrays linked by ID.</a:t>
            </a:r>
          </a:p>
          <a:p>
            <a:r>
              <a:rPr dirty="0">
                <a:solidFill>
                  <a:schemeClr val="lt1"/>
                </a:solidFill>
              </a:rPr>
              <a:t>Edge Cases (25): null deadlines, skip idle users.</a:t>
            </a:r>
          </a:p>
          <a:p>
            <a:r>
              <a:rPr dirty="0">
                <a:solidFill>
                  <a:schemeClr val="lt1"/>
                </a:solidFill>
              </a:rPr>
              <a:t>Data Isolation (25): ignores commands inside the transcript.</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t>⏱  20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00000" cy="502920"/>
          </a:xfrm>
          <a:prstGeom prst="roundRect">
            <a:avLst>
              <a:gd name="adj" fmla="val 6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72A"/>
                </a:solidFill>
                <a:latin typeface="Segoe UI"/>
              </a:rPr>
              <a:t>Best Practices</a:t>
            </a:r>
          </a:p>
        </p:txBody>
      </p:sp>
      <p:sp>
        <p:nvSpPr>
          <p:cNvPr id="3" name="TextBox 2"/>
          <p:cNvSpPr txBox="1"/>
          <p:nvPr/>
        </p:nvSpPr>
        <p:spPr>
          <a:xfrm>
            <a:off x="2450000" y="320040"/>
            <a:ext cx="9601200" cy="584775"/>
          </a:xfrm>
          <a:prstGeom prst="rect">
            <a:avLst/>
          </a:prstGeom>
          <a:noFill/>
        </p:spPr>
        <p:txBody>
          <a:bodyPr wrap="square">
            <a:spAutoFit/>
          </a:bodyPr>
          <a:lstStyle/>
          <a:p>
            <a:pPr>
              <a:spcBef>
                <a:spcPts val="0"/>
              </a:spcBef>
              <a:spcAft>
                <a:spcPts val="0"/>
              </a:spcAft>
            </a:pPr>
            <a:r>
              <a:rPr lang="en-US" sz="3200" b="1" dirty="0">
                <a:solidFill>
                  <a:srgbClr val="FFFFFF"/>
                </a:solidFill>
                <a:latin typeface="Segoe UI"/>
              </a:rPr>
              <a:t>Where we should put instruction?</a:t>
            </a:r>
            <a:endParaRPr sz="3200" b="1" dirty="0">
              <a:solidFill>
                <a:srgbClr val="FFFFFF"/>
              </a:solidFill>
              <a:latin typeface="Segoe UI"/>
            </a:endParaRPr>
          </a:p>
        </p:txBody>
      </p:sp>
      <p:sp>
        <p:nvSpPr>
          <p:cNvPr id="4" name="Rectangle 3"/>
          <p:cNvSpPr/>
          <p:nvPr/>
        </p:nvSpPr>
        <p:spPr>
          <a:xfrm>
            <a:off x="731520" y="960120"/>
            <a:ext cx="3657600" cy="508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60000"/>
            <a:ext cx="10881360" cy="380000"/>
          </a:xfrm>
          <a:prstGeom prst="rect">
            <a:avLst/>
          </a:prstGeom>
          <a:noFill/>
        </p:spPr>
        <p:txBody>
          <a:bodyPr wrap="square">
            <a:spAutoFit/>
          </a:bodyPr>
          <a:lstStyle/>
          <a:p>
            <a:pPr>
              <a:spcBef>
                <a:spcPts val="0"/>
              </a:spcBef>
              <a:spcAft>
                <a:spcPts val="0"/>
              </a:spcAft>
            </a:pPr>
            <a:r>
              <a:rPr sz="1500" b="0" dirty="0">
                <a:solidFill>
                  <a:srgbClr val="94A3B8"/>
                </a:solidFill>
                <a:latin typeface="Segoe UI"/>
              </a:rPr>
              <a:t>Always place your questions and final instructions at the very end of the prompt, after all context.</a:t>
            </a:r>
          </a:p>
        </p:txBody>
      </p:sp>
      <p:sp>
        <p:nvSpPr>
          <p:cNvPr id="6" name="Rounded Rectangle 5"/>
          <p:cNvSpPr/>
          <p:nvPr/>
        </p:nvSpPr>
        <p:spPr>
          <a:xfrm>
            <a:off x="731520" y="1600000"/>
            <a:ext cx="10881360" cy="1582734"/>
          </a:xfrm>
          <a:prstGeom prst="roundRect">
            <a:avLst>
              <a:gd name="adj" fmla="val 6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0000" y="1750000"/>
            <a:ext cx="10500000" cy="2000000"/>
          </a:xfrm>
          <a:prstGeom prst="rect">
            <a:avLst/>
          </a:prstGeom>
          <a:noFill/>
        </p:spPr>
        <p:txBody>
          <a:bodyPr wrap="square">
            <a:spAutoFit/>
          </a:bodyPr>
          <a:lstStyle/>
          <a:p>
            <a:pPr>
              <a:spcBef>
                <a:spcPts val="250"/>
              </a:spcBef>
              <a:spcAft>
                <a:spcPts val="250"/>
              </a:spcAft>
            </a:pPr>
            <a:r>
              <a:rPr sz="1800" b="1" dirty="0">
                <a:solidFill>
                  <a:srgbClr val="F87171"/>
                </a:solidFill>
                <a:latin typeface="Segoe UI"/>
              </a:rPr>
              <a:t>?  The Problem: Question at the Top</a:t>
            </a:r>
          </a:p>
          <a:p>
            <a:pPr>
              <a:spcBef>
                <a:spcPts val="250"/>
              </a:spcBef>
              <a:spcAft>
                <a:spcPts val="250"/>
              </a:spcAft>
            </a:pPr>
            <a:r>
              <a:rPr sz="1400" b="0" dirty="0">
                <a:solidFill>
                  <a:srgbClr val="E2E8F0"/>
                </a:solidFill>
                <a:latin typeface="Segoe UI"/>
              </a:rPr>
              <a:t>Attention Gradient: If you put the question first, followed by 10 pages of documents, the question is thousands of tokens away. The model's attention on the constraints fades (Lost in the Middle).</a:t>
            </a:r>
          </a:p>
          <a:p>
            <a:pPr>
              <a:spcBef>
                <a:spcPts val="250"/>
              </a:spcBef>
              <a:spcAft>
                <a:spcPts val="250"/>
              </a:spcAft>
            </a:pPr>
            <a:r>
              <a:rPr sz="1400" b="0" dirty="0">
                <a:solidFill>
                  <a:srgbClr val="E2E8F0"/>
                </a:solidFill>
                <a:latin typeface="Segoe UI"/>
              </a:rPr>
              <a:t>Context Priming: The model might think its job is to continue the long document rather than answer the question!</a:t>
            </a:r>
          </a:p>
        </p:txBody>
      </p:sp>
      <p:sp>
        <p:nvSpPr>
          <p:cNvPr id="8" name="Rounded Rectangle 7"/>
          <p:cNvSpPr/>
          <p:nvPr/>
        </p:nvSpPr>
        <p:spPr>
          <a:xfrm>
            <a:off x="709320" y="3082734"/>
            <a:ext cx="10881360" cy="2100000"/>
          </a:xfrm>
          <a:prstGeom prst="roundRect">
            <a:avLst>
              <a:gd name="adj" fmla="val 6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6000" y="3282734"/>
            <a:ext cx="10500000" cy="1800000"/>
          </a:xfrm>
          <a:prstGeom prst="rect">
            <a:avLst/>
          </a:prstGeom>
          <a:noFill/>
        </p:spPr>
        <p:txBody>
          <a:bodyPr wrap="square">
            <a:spAutoFit/>
          </a:bodyPr>
          <a:lstStyle/>
          <a:p>
            <a:pPr>
              <a:spcBef>
                <a:spcPts val="250"/>
              </a:spcBef>
              <a:spcAft>
                <a:spcPts val="250"/>
              </a:spcAft>
            </a:pPr>
            <a:r>
              <a:rPr sz="1800" b="1" dirty="0">
                <a:solidFill>
                  <a:srgbClr val="4ADE80"/>
                </a:solidFill>
                <a:latin typeface="Segoe UI"/>
              </a:rPr>
              <a:t>??  The Solution: Question at the Bottom</a:t>
            </a:r>
          </a:p>
          <a:p>
            <a:pPr>
              <a:spcBef>
                <a:spcPts val="250"/>
              </a:spcBef>
              <a:spcAft>
                <a:spcPts val="250"/>
              </a:spcAft>
            </a:pPr>
            <a:r>
              <a:rPr sz="1400" b="0" dirty="0">
                <a:solidFill>
                  <a:srgbClr val="E2E8F0"/>
                </a:solidFill>
                <a:latin typeface="Segoe UI"/>
              </a:rPr>
              <a:t>Put documents first (wrapped in &lt;documents&gt; tags).</a:t>
            </a:r>
          </a:p>
          <a:p>
            <a:pPr>
              <a:spcBef>
                <a:spcPts val="250"/>
              </a:spcBef>
              <a:spcAft>
                <a:spcPts val="250"/>
              </a:spcAft>
            </a:pPr>
            <a:r>
              <a:rPr sz="1400" b="0" dirty="0">
                <a:solidFill>
                  <a:srgbClr val="E2E8F0"/>
                </a:solidFill>
                <a:latin typeface="Segoe UI"/>
              </a:rPr>
              <a:t>Put the exact instruction last. This keeps the goal in the model's "active working memory" with the highest attention weight right before it starts generating tokens.</a:t>
            </a:r>
          </a:p>
        </p:txBody>
      </p:sp>
      <p:sp>
        <p:nvSpPr>
          <p:cNvPr id="10" name="TextBox 9">
            <a:extLst>
              <a:ext uri="{FF2B5EF4-FFF2-40B4-BE49-F238E27FC236}">
                <a16:creationId xmlns:a16="http://schemas.microsoft.com/office/drawing/2014/main" id="{D54AA6A0-A701-DF95-3286-137C350A2A1B}"/>
              </a:ext>
            </a:extLst>
          </p:cNvPr>
          <p:cNvSpPr txBox="1"/>
          <p:nvPr/>
        </p:nvSpPr>
        <p:spPr>
          <a:xfrm>
            <a:off x="793189" y="5321814"/>
            <a:ext cx="10500000" cy="1300000"/>
          </a:xfrm>
          <a:prstGeom prst="rect">
            <a:avLst/>
          </a:prstGeom>
          <a:noFill/>
        </p:spPr>
        <p:txBody>
          <a:bodyPr wrap="square">
            <a:spAutoFit/>
          </a:bodyPr>
          <a:lstStyle/>
          <a:p>
            <a:pPr>
              <a:spcBef>
                <a:spcPts val="150"/>
              </a:spcBef>
              <a:spcAft>
                <a:spcPts val="150"/>
              </a:spcAft>
            </a:pPr>
            <a:r>
              <a:rPr sz="1800" b="1" dirty="0">
                <a:solidFill>
                  <a:srgbClr val="38BDF8"/>
                </a:solidFill>
                <a:latin typeface="Segoe UI"/>
              </a:rPr>
              <a:t>???  Bonus: Prompt Caching (Cost &amp; Latency)</a:t>
            </a:r>
          </a:p>
          <a:p>
            <a:pPr>
              <a:spcBef>
                <a:spcPts val="150"/>
              </a:spcBef>
              <a:spcAft>
                <a:spcPts val="150"/>
              </a:spcAft>
            </a:pPr>
            <a:r>
              <a:rPr sz="1300" b="0" dirty="0">
                <a:solidFill>
                  <a:srgbClr val="E2E8F0"/>
                </a:solidFill>
                <a:latin typeface="Segoe UI"/>
              </a:rPr>
              <a:t>KV Caching relies on a static prefix. If the dynamic question is at the top, the cache is busted every request.</a:t>
            </a:r>
          </a:p>
          <a:p>
            <a:pPr>
              <a:spcBef>
                <a:spcPts val="150"/>
              </a:spcBef>
              <a:spcAft>
                <a:spcPts val="150"/>
              </a:spcAft>
            </a:pPr>
            <a:r>
              <a:rPr sz="1300" b="1" dirty="0">
                <a:solidFill>
                  <a:srgbClr val="22D3EE"/>
                </a:solidFill>
                <a:latin typeface="Segoe UI"/>
              </a:rPr>
              <a:t>Putting the static document at the top allows massive cost (up to 90% cheaper) and latency reductions!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animBg="1"/>
      <p:bldP spid="9"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00000" cy="502920"/>
          </a:xfrm>
          <a:prstGeom prst="roundRect">
            <a:avLst>
              <a:gd name="adj" fmla="val 6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72A"/>
                </a:solidFill>
                <a:latin typeface="Segoe UI"/>
              </a:rPr>
              <a:t>Best Practices</a:t>
            </a:r>
          </a:p>
        </p:txBody>
      </p:sp>
      <p:sp>
        <p:nvSpPr>
          <p:cNvPr id="3" name="TextBox 2"/>
          <p:cNvSpPr txBox="1"/>
          <p:nvPr/>
        </p:nvSpPr>
        <p:spPr>
          <a:xfrm>
            <a:off x="2450000" y="320040"/>
            <a:ext cx="9601200" cy="548640"/>
          </a:xfrm>
          <a:prstGeom prst="rect">
            <a:avLst/>
          </a:prstGeom>
          <a:noFill/>
        </p:spPr>
        <p:txBody>
          <a:bodyPr wrap="square">
            <a:spAutoFit/>
          </a:bodyPr>
          <a:lstStyle/>
          <a:p>
            <a:pPr>
              <a:spcBef>
                <a:spcPts val="0"/>
              </a:spcBef>
              <a:spcAft>
                <a:spcPts val="0"/>
              </a:spcAft>
            </a:pPr>
            <a:r>
              <a:rPr sz="3200" b="1">
                <a:solidFill>
                  <a:srgbClr val="FFFFFF"/>
                </a:solidFill>
                <a:latin typeface="Segoe UI"/>
              </a:rPr>
              <a:t>The Ideal Prompt Architecture</a:t>
            </a:r>
          </a:p>
        </p:txBody>
      </p:sp>
      <p:sp>
        <p:nvSpPr>
          <p:cNvPr id="4" name="Rectangle 3"/>
          <p:cNvSpPr/>
          <p:nvPr/>
        </p:nvSpPr>
        <p:spPr>
          <a:xfrm>
            <a:off x="731520" y="960120"/>
            <a:ext cx="3657600" cy="508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60000"/>
            <a:ext cx="10881360" cy="380000"/>
          </a:xfrm>
          <a:prstGeom prst="rect">
            <a:avLst/>
          </a:prstGeom>
          <a:noFill/>
        </p:spPr>
        <p:txBody>
          <a:bodyPr wrap="square">
            <a:spAutoFit/>
          </a:bodyPr>
          <a:lstStyle/>
          <a:p>
            <a:pPr>
              <a:spcBef>
                <a:spcPts val="0"/>
              </a:spcBef>
              <a:spcAft>
                <a:spcPts val="0"/>
              </a:spcAft>
            </a:pPr>
            <a:r>
              <a:rPr sz="1500" b="0" dirty="0" err="1">
                <a:solidFill>
                  <a:srgbClr val="94A3B8"/>
                </a:solidFill>
                <a:latin typeface="Segoe UI"/>
              </a:rPr>
              <a:t>Anthropic's</a:t>
            </a:r>
            <a:r>
              <a:rPr sz="1500" b="0" dirty="0">
                <a:solidFill>
                  <a:srgbClr val="94A3B8"/>
                </a:solidFill>
                <a:latin typeface="Segoe UI"/>
              </a:rPr>
              <a:t> official structural recommendation for production pipelines.</a:t>
            </a:r>
          </a:p>
        </p:txBody>
      </p:sp>
      <p:sp>
        <p:nvSpPr>
          <p:cNvPr id="6" name="Rounded Rectangle 5"/>
          <p:cNvSpPr/>
          <p:nvPr/>
        </p:nvSpPr>
        <p:spPr>
          <a:xfrm>
            <a:off x="731520" y="1600000"/>
            <a:ext cx="10881360" cy="450000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0000" y="1750000"/>
            <a:ext cx="10500000" cy="4200000"/>
          </a:xfrm>
          <a:prstGeom prst="rect">
            <a:avLst/>
          </a:prstGeom>
          <a:noFill/>
        </p:spPr>
        <p:txBody>
          <a:bodyPr wrap="square">
            <a:spAutoFit/>
          </a:bodyPr>
          <a:lstStyle/>
          <a:p>
            <a:pPr>
              <a:spcBef>
                <a:spcPts val="150"/>
              </a:spcBef>
              <a:spcAft>
                <a:spcPts val="150"/>
              </a:spcAft>
            </a:pPr>
            <a:r>
              <a:rPr sz="1800" b="1" dirty="0">
                <a:solidFill>
                  <a:srgbClr val="38BDF8"/>
                </a:solidFill>
                <a:latin typeface="Segoe UI"/>
              </a:rPr>
              <a:t>1. System Prompt / Role</a:t>
            </a:r>
          </a:p>
          <a:p>
            <a:pPr>
              <a:spcBef>
                <a:spcPts val="150"/>
              </a:spcBef>
              <a:spcAft>
                <a:spcPts val="150"/>
              </a:spcAft>
            </a:pPr>
            <a:r>
              <a:rPr sz="1400" b="0" dirty="0">
                <a:solidFill>
                  <a:srgbClr val="E2E8F0"/>
                </a:solidFill>
                <a:latin typeface="Segoe UI"/>
              </a:rPr>
              <a:t>Establish persona, identity, and global rules at the system level.</a:t>
            </a:r>
          </a:p>
          <a:p>
            <a:pPr>
              <a:spcBef>
                <a:spcPts val="150"/>
              </a:spcBef>
              <a:spcAft>
                <a:spcPts val="150"/>
              </a:spcAft>
            </a:pPr>
            <a:r>
              <a:rPr sz="1800" b="1" dirty="0">
                <a:solidFill>
                  <a:srgbClr val="38BDF8"/>
                </a:solidFill>
                <a:latin typeface="Segoe UI"/>
              </a:rPr>
              <a:t>2. Documents / Context</a:t>
            </a:r>
          </a:p>
          <a:p>
            <a:pPr>
              <a:spcBef>
                <a:spcPts val="150"/>
              </a:spcBef>
              <a:spcAft>
                <a:spcPts val="150"/>
              </a:spcAft>
            </a:pPr>
            <a:r>
              <a:rPr sz="1400" b="0" dirty="0">
                <a:solidFill>
                  <a:srgbClr val="E2E8F0"/>
                </a:solidFill>
                <a:latin typeface="Segoe UI"/>
              </a:rPr>
              <a:t>Provide raw data or long documents wrapped inside &lt;documents&gt; XML tags.</a:t>
            </a:r>
          </a:p>
          <a:p>
            <a:pPr>
              <a:spcBef>
                <a:spcPts val="150"/>
              </a:spcBef>
              <a:spcAft>
                <a:spcPts val="150"/>
              </a:spcAft>
            </a:pPr>
            <a:r>
              <a:rPr sz="1800" b="1" dirty="0">
                <a:solidFill>
                  <a:srgbClr val="38BDF8"/>
                </a:solidFill>
                <a:latin typeface="Segoe UI"/>
              </a:rPr>
              <a:t>3. Examples</a:t>
            </a:r>
          </a:p>
          <a:p>
            <a:pPr>
              <a:spcBef>
                <a:spcPts val="150"/>
              </a:spcBef>
              <a:spcAft>
                <a:spcPts val="150"/>
              </a:spcAft>
            </a:pPr>
            <a:r>
              <a:rPr sz="1400" b="0" dirty="0">
                <a:solidFill>
                  <a:srgbClr val="E2E8F0"/>
                </a:solidFill>
                <a:latin typeface="Segoe UI"/>
              </a:rPr>
              <a:t>Provide few-shot examples (if needed) wrapped in &lt;examples&gt; tags.</a:t>
            </a:r>
          </a:p>
          <a:p>
            <a:pPr>
              <a:spcBef>
                <a:spcPts val="150"/>
              </a:spcBef>
              <a:spcAft>
                <a:spcPts val="150"/>
              </a:spcAft>
            </a:pPr>
            <a:r>
              <a:rPr sz="1800" b="1" dirty="0">
                <a:solidFill>
                  <a:srgbClr val="22D3EE"/>
                </a:solidFill>
                <a:latin typeface="Segoe UI"/>
              </a:rPr>
              <a:t>4. Instructions &amp; Specific Question</a:t>
            </a:r>
          </a:p>
          <a:p>
            <a:pPr>
              <a:spcBef>
                <a:spcPts val="150"/>
              </a:spcBef>
              <a:spcAft>
                <a:spcPts val="150"/>
              </a:spcAft>
            </a:pPr>
            <a:r>
              <a:rPr sz="1400" b="0" dirty="0">
                <a:solidFill>
                  <a:srgbClr val="E2E8F0"/>
                </a:solidFill>
                <a:latin typeface="Segoe UI"/>
              </a:rPr>
              <a:t>The exact task and operational instructions, placed at the very bottom.</a:t>
            </a:r>
          </a:p>
          <a:p>
            <a:pPr>
              <a:spcBef>
                <a:spcPts val="150"/>
              </a:spcBef>
              <a:spcAft>
                <a:spcPts val="150"/>
              </a:spcAft>
            </a:pPr>
            <a:r>
              <a:rPr sz="1800" b="1" dirty="0">
                <a:solidFill>
                  <a:srgbClr val="38BDF8"/>
                </a:solidFill>
                <a:latin typeface="Segoe UI"/>
              </a:rPr>
              <a:t>5. Prefill (Optional)</a:t>
            </a:r>
          </a:p>
          <a:p>
            <a:pPr>
              <a:spcBef>
                <a:spcPts val="150"/>
              </a:spcBef>
              <a:spcAft>
                <a:spcPts val="150"/>
              </a:spcAft>
            </a:pPr>
            <a:r>
              <a:rPr sz="1400" b="0" dirty="0">
                <a:solidFill>
                  <a:srgbClr val="E2E8F0"/>
                </a:solidFill>
                <a:latin typeface="Segoe UI"/>
              </a:rPr>
              <a:t>Pre-fill the assistant's response with an opening tag like &lt;answer&gt; to force compliance.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5</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Constraints &amp; Iterative Refinement</a:t>
            </a:r>
          </a:p>
        </p:txBody>
      </p:sp>
      <p:sp>
        <p:nvSpPr>
          <p:cNvPr id="4" name="Rectangle 3"/>
          <p:cNvSpPr/>
          <p:nvPr/>
        </p:nvSpPr>
        <p:spPr>
          <a:xfrm>
            <a:off x="731520" y="960120"/>
            <a:ext cx="3657600" cy="508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F87171"/>
                </a:solidFill>
                <a:latin typeface="Segoe UI"/>
              </a:defRPr>
            </a:pPr>
            <a:r>
              <a:rPr dirty="0"/>
              <a:t>📖  Concept: Negative Constraints + Iteration</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Say what you DON'T want (length, tone, format)</a:t>
            </a:r>
          </a:p>
          <a:p>
            <a:pPr>
              <a:spcBef>
                <a:spcPts val="300"/>
              </a:spcBef>
              <a:spcAft>
                <a:spcPts val="300"/>
              </a:spcAft>
              <a:defRPr sz="1500">
                <a:solidFill>
                  <a:srgbClr val="E2E8F0"/>
                </a:solidFill>
                <a:latin typeface="Segoe UI"/>
              </a:defRPr>
            </a:pPr>
            <a:r>
              <a:t>Reduces: too long, too casual, off-topic</a:t>
            </a:r>
          </a:p>
          <a:p>
            <a:pPr>
              <a:spcBef>
                <a:spcPts val="300"/>
              </a:spcBef>
              <a:spcAft>
                <a:spcPts val="300"/>
              </a:spcAft>
              <a:defRPr sz="1500">
                <a:solidFill>
                  <a:srgbClr val="E2E8F0"/>
                </a:solidFill>
                <a:latin typeface="Segoe UI"/>
              </a:defRPr>
            </a:pPr>
            <a:r>
              <a:t>"Do not start with Welcome" → actionable output</a:t>
            </a:r>
          </a:p>
          <a:p>
            <a:pPr>
              <a:spcBef>
                <a:spcPts val="300"/>
              </a:spcBef>
              <a:spcAft>
                <a:spcPts val="300"/>
              </a:spcAft>
              <a:defRPr sz="1500">
                <a:solidFill>
                  <a:srgbClr val="E2E8F0"/>
                </a:solidFill>
                <a:latin typeface="Segoe UI"/>
              </a:defRPr>
            </a:pPr>
            <a:r>
              <a:t>Treat prompting as a conversation, not one-shot</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F87171"/>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"Write a short intro for</a:t>
            </a:r>
            <a:br/>
            <a:r>
              <a:t>our onboarding doc."</a:t>
            </a:r>
            <a:br/>
            <a:br/>
            <a:r>
              <a:t>→ "Welcome! We're so</a:t>
            </a:r>
            <a:br/>
            <a:r>
              <a:t>excited to have you..."</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"Write a short intro for our</a:t>
            </a:r>
            <a:br/>
            <a:r>
              <a:t>onboarding doc.</a:t>
            </a:r>
            <a:br/>
            <a:r>
              <a:t>Do NOT start with 'Welcome'.</a:t>
            </a:r>
            <a:br/>
            <a:r>
              <a:t>Do NOT use generic greetings.</a:t>
            </a:r>
            <a:br/>
            <a:r>
              <a:t>Start directly with what the</a:t>
            </a:r>
            <a:br/>
            <a:r>
              <a:t>user will do in this section."</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t>Best way to prevent dramatic tone or bias?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5</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5: Neutral News Summary</a:t>
            </a:r>
          </a:p>
        </p:txBody>
      </p:sp>
      <p:sp>
        <p:nvSpPr>
          <p:cNvPr id="4" name="Rectangle 3"/>
          <p:cNvSpPr/>
          <p:nvPr/>
        </p:nvSpPr>
        <p:spPr>
          <a:xfrm>
            <a:off x="731520" y="960120"/>
            <a:ext cx="3657600" cy="508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F87171"/>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You are editor of a neutral corporate newsletter.</a:t>
            </a:r>
            <a:br/>
            <a:br/>
            <a:r>
              <a:t>Problem: AI loves dramatic words ("disaster",</a:t>
            </a:r>
            <a:br/>
            <a:r>
              <a:t>"shocking") and inserts personal bias.</a:t>
            </a:r>
            <a:br/>
            <a:br/>
            <a:r>
              <a:t>Write a prompt with at least 3 "must nots":</a:t>
            </a:r>
            <a:br/>
            <a:r>
              <a:t>  • Ban dramatic/emotional adjectives</a:t>
            </a:r>
            <a:br/>
            <a:r>
              <a:t>  • Ban personal opinions or analysis</a:t>
            </a:r>
            <a:br/>
            <a:r>
              <a:t>  • Ban specific formatting (e.g., bullet points)</a:t>
            </a:r>
            <a:br/>
            <a:r>
              <a:t>  • Use strong prohibitive language</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Assertiveness (25): strong prohibitive language</a:t>
            </a:r>
          </a:p>
          <a:p>
            <a:pPr>
              <a:spcBef>
                <a:spcPts val="300"/>
              </a:spcBef>
              <a:spcAft>
                <a:spcPts val="300"/>
              </a:spcAft>
              <a:defRPr sz="1300">
                <a:solidFill>
                  <a:srgbClr val="E2E8F0"/>
                </a:solidFill>
                <a:latin typeface="Segoe UI"/>
              </a:defRPr>
            </a:pPr>
            <a:r>
              <a:t>Bans emotional language (25)</a:t>
            </a:r>
          </a:p>
          <a:p>
            <a:pPr>
              <a:spcBef>
                <a:spcPts val="300"/>
              </a:spcBef>
              <a:spcAft>
                <a:spcPts val="300"/>
              </a:spcAft>
              <a:defRPr sz="1300">
                <a:solidFill>
                  <a:srgbClr val="E2E8F0"/>
                </a:solidFill>
                <a:latin typeface="Segoe UI"/>
              </a:defRPr>
            </a:pPr>
            <a:r>
              <a:t>Bans personal bias (25)</a:t>
            </a:r>
          </a:p>
          <a:p>
            <a:pPr>
              <a:spcBef>
                <a:spcPts val="300"/>
              </a:spcBef>
              <a:spcAft>
                <a:spcPts val="300"/>
              </a:spcAft>
              <a:defRPr sz="1300">
                <a:solidFill>
                  <a:srgbClr val="E2E8F0"/>
                </a:solidFill>
                <a:latin typeface="Segoe UI"/>
              </a:defRPr>
            </a:pPr>
            <a:r>
              <a:t>Format restriction (25)</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rPr dirty="0"/>
              <a:t>⏱  </a:t>
            </a:r>
            <a:r>
              <a:rPr lang="fa-IR" dirty="0"/>
              <a:t>7</a:t>
            </a:r>
            <a:r>
              <a:rPr dirty="0"/>
              <a:t>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6</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Interview-Style Prompting</a:t>
            </a:r>
          </a:p>
        </p:txBody>
      </p:sp>
      <p:sp>
        <p:nvSpPr>
          <p:cNvPr id="4" name="Rectangle 3"/>
          <p:cNvSpPr/>
          <p:nvPr/>
        </p:nvSpPr>
        <p:spPr>
          <a:xfrm>
            <a:off x="731520" y="960120"/>
            <a:ext cx="3657600" cy="50800"/>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E879F9"/>
                </a:solidFill>
                <a:latin typeface="Segoe UI"/>
              </a:defRPr>
            </a:pPr>
            <a:r>
              <a:t>📖  Concept: Let the Model Ask You Questions</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Give the task, ask the model to interview you</a:t>
            </a:r>
          </a:p>
          <a:p>
            <a:pPr>
              <a:spcBef>
                <a:spcPts val="300"/>
              </a:spcBef>
              <a:spcAft>
                <a:spcPts val="300"/>
              </a:spcAft>
              <a:defRPr sz="1500">
                <a:solidFill>
                  <a:srgbClr val="E2E8F0"/>
                </a:solidFill>
                <a:latin typeface="Segoe UI"/>
              </a:defRPr>
            </a:pPr>
            <a:r>
              <a:t>"Ask me any questions you need, one at a time"</a:t>
            </a:r>
          </a:p>
          <a:p>
            <a:pPr>
              <a:spcBef>
                <a:spcPts val="300"/>
              </a:spcBef>
              <a:spcAft>
                <a:spcPts val="300"/>
              </a:spcAft>
              <a:defRPr sz="1500">
                <a:solidFill>
                  <a:srgbClr val="E2E8F0"/>
                </a:solidFill>
                <a:latin typeface="Segoe UI"/>
              </a:defRPr>
            </a:pPr>
            <a:r>
              <a:t>Model surfaces gaps before generating</a:t>
            </a:r>
          </a:p>
          <a:p>
            <a:pPr>
              <a:spcBef>
                <a:spcPts val="300"/>
              </a:spcBef>
              <a:spcAft>
                <a:spcPts val="300"/>
              </a:spcAft>
              <a:defRPr sz="1500">
                <a:solidFill>
                  <a:srgbClr val="E2E8F0"/>
                </a:solidFill>
                <a:latin typeface="Segoe UI"/>
              </a:defRPr>
            </a:pPr>
            <a:r>
              <a:t>Best for complex or high-stakes tasks</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E879F9"/>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"Write a blog post about</a:t>
            </a:r>
            <a:br/>
            <a:r>
              <a:t>async standups for</a:t>
            </a:r>
            <a:br/>
            <a:r>
              <a:t>small teams."</a:t>
            </a:r>
            <a:br/>
            <a:br/>
            <a:r>
              <a:t>→ Generic, misses audience</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"I need a 400-word blog post</a:t>
            </a:r>
            <a:br/>
            <a:r>
              <a:t>about async standups.</a:t>
            </a:r>
            <a:br/>
            <a:br/>
            <a:r>
              <a:t>Before you write it, interview</a:t>
            </a:r>
            <a:br/>
            <a:r>
              <a:t>me: ask any questions you need.</a:t>
            </a:r>
            <a:br/>
            <a:r>
              <a:t>Ask ONE at a time.</a:t>
            </a:r>
            <a:br/>
            <a:r>
              <a:t>When you have enough, say</a:t>
            </a:r>
            <a:br/>
            <a:r>
              <a:t>'I have enough' and write it."</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rPr dirty="0"/>
              <a:t>"One question at a time" rule prevents what?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6</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6: Personalized Cover Letter</a:t>
            </a:r>
          </a:p>
        </p:txBody>
      </p:sp>
      <p:sp>
        <p:nvSpPr>
          <p:cNvPr id="4" name="Rectangle 3"/>
          <p:cNvSpPr/>
          <p:nvPr/>
        </p:nvSpPr>
        <p:spPr>
          <a:xfrm>
            <a:off x="731520" y="960120"/>
            <a:ext cx="3657600" cy="50800"/>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E879F9"/>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You want a cover letter for a "Product Manager"</a:t>
            </a:r>
            <a:br/>
            <a:r>
              <a:t>role. Direct prompts → generic robotic text.</a:t>
            </a:r>
            <a:br/>
            <a:br/>
            <a:r>
              <a:t>Write a prompt where AI acts as a Career Coach:</a:t>
            </a:r>
            <a:br/>
            <a:r>
              <a:t>  • Reads the job description first</a:t>
            </a:r>
            <a:br/>
            <a:r>
              <a:t>  • Interviews you ONE question at a time</a:t>
            </a:r>
            <a:br/>
            <a:r>
              <a:t>  • Extracts exactly 3 matching accomplishments</a:t>
            </a:r>
            <a:br/>
            <a:r>
              <a:t>  • Then writes the final cover letter</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External Reference Context (30): uses job desc</a:t>
            </a:r>
          </a:p>
          <a:p>
            <a:pPr>
              <a:spcBef>
                <a:spcPts val="300"/>
              </a:spcBef>
              <a:spcAft>
                <a:spcPts val="300"/>
              </a:spcAft>
              <a:defRPr sz="1300">
                <a:solidFill>
                  <a:srgbClr val="E2E8F0"/>
                </a:solidFill>
                <a:latin typeface="Segoe UI"/>
              </a:defRPr>
            </a:pPr>
            <a:r>
              <a:t>Single Question Rule (30): one at a time</a:t>
            </a:r>
          </a:p>
          <a:p>
            <a:pPr>
              <a:spcBef>
                <a:spcPts val="300"/>
              </a:spcBef>
              <a:spcAft>
                <a:spcPts val="300"/>
              </a:spcAft>
              <a:defRPr sz="1300">
                <a:solidFill>
                  <a:srgbClr val="E2E8F0"/>
                </a:solidFill>
                <a:latin typeface="Segoe UI"/>
              </a:defRPr>
            </a:pPr>
            <a:r>
              <a:t>Stopping Condition (20): after 3 accomplishments</a:t>
            </a:r>
          </a:p>
          <a:p>
            <a:pPr>
              <a:spcBef>
                <a:spcPts val="300"/>
              </a:spcBef>
              <a:spcAft>
                <a:spcPts val="300"/>
              </a:spcAft>
              <a:defRPr sz="1300">
                <a:solidFill>
                  <a:srgbClr val="E2E8F0"/>
                </a:solidFill>
                <a:latin typeface="Segoe UI"/>
              </a:defRPr>
            </a:pPr>
            <a:r>
              <a:t>Final Action Trigger (20): "I have enough data"</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rPr dirty="0"/>
              <a:t>⏱  </a:t>
            </a:r>
            <a:r>
              <a:rPr lang="fa-IR" dirty="0"/>
              <a:t>7</a:t>
            </a:r>
            <a:r>
              <a:rPr dirty="0"/>
              <a:t>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7</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Roles, Chaining &amp; Self-Evaluation</a:t>
            </a:r>
          </a:p>
        </p:txBody>
      </p:sp>
      <p:sp>
        <p:nvSpPr>
          <p:cNvPr id="4" name="Rectangle 3"/>
          <p:cNvSpPr/>
          <p:nvPr/>
        </p:nvSpPr>
        <p:spPr>
          <a:xfrm>
            <a:off x="731520" y="960120"/>
            <a:ext cx="3657600" cy="50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22D3EE"/>
                </a:solidFill>
                <a:latin typeface="Segoe UI"/>
              </a:defRPr>
            </a:pPr>
            <a:r>
              <a:t>📖  Concept: Advanced: Chain + Self-Critique</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System prompt: identity, rules, style (always-on)</a:t>
            </a:r>
          </a:p>
          <a:p>
            <a:pPr>
              <a:spcBef>
                <a:spcPts val="300"/>
              </a:spcBef>
              <a:spcAft>
                <a:spcPts val="300"/>
              </a:spcAft>
              <a:defRPr sz="1500">
                <a:solidFill>
                  <a:srgbClr val="E2E8F0"/>
                </a:solidFill>
                <a:latin typeface="Segoe UI"/>
              </a:defRPr>
            </a:pPr>
            <a:r>
              <a:t>User prompt: the actual task for this turn</a:t>
            </a:r>
          </a:p>
          <a:p>
            <a:pPr>
              <a:spcBef>
                <a:spcPts val="300"/>
              </a:spcBef>
              <a:spcAft>
                <a:spcPts val="300"/>
              </a:spcAft>
              <a:defRPr sz="1500">
                <a:solidFill>
                  <a:srgbClr val="E2E8F0"/>
                </a:solidFill>
                <a:latin typeface="Segoe UI"/>
              </a:defRPr>
            </a:pPr>
            <a:r>
              <a:t>Chain: output of step N → input of step N+1</a:t>
            </a:r>
          </a:p>
          <a:p>
            <a:pPr>
              <a:spcBef>
                <a:spcPts val="300"/>
              </a:spcBef>
              <a:spcAft>
                <a:spcPts val="300"/>
              </a:spcAft>
              <a:defRPr sz="1500">
                <a:solidFill>
                  <a:srgbClr val="E2E8F0"/>
                </a:solidFill>
                <a:latin typeface="Segoe UI"/>
              </a:defRPr>
            </a:pPr>
            <a:r>
              <a:t>Self-evaluation: critique own output, then improve</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22D3EE"/>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defRPr sz="1100">
                <a:solidFill>
                  <a:srgbClr val="4ADE80"/>
                </a:solidFill>
                <a:latin typeface="Cascadia Code"/>
              </a:defRPr>
            </a:pPr>
            <a:r>
              <a:rPr lang="en-US" sz="1100" dirty="0"/>
              <a:t>Write a LinkedIn message to a hiring manager for a Data Analyst role.</a:t>
            </a:r>
            <a:endParaRPr dirty="0"/>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19"/>
            <a:ext cx="4663440" cy="2148839"/>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r>
              <a:rPr lang="en-US" sz="1100" dirty="0">
                <a:solidFill>
                  <a:srgbClr val="4ADE80"/>
                </a:solidFill>
                <a:latin typeface="Cascadia Code"/>
              </a:rPr>
              <a:t>Step 1: Draft a short LinkedIn message to a hiring manager for a Data Analyst role.</a:t>
            </a:r>
          </a:p>
          <a:p>
            <a:r>
              <a:rPr lang="en-US" sz="1100" dirty="0">
                <a:solidFill>
                  <a:srgbClr val="4ADE80"/>
                </a:solidFill>
                <a:latin typeface="Cascadia Code"/>
              </a:rPr>
              <a:t>Step 2: Critique your draft. Score it 1-10 on "Authenticity". List every single cliché or buzzword you used (e.g., "passionate", "results-driven", "innovative", "leverage").</a:t>
            </a:r>
          </a:p>
          <a:p>
            <a:r>
              <a:rPr lang="en-US" sz="1100" dirty="0">
                <a:solidFill>
                  <a:srgbClr val="4ADE80"/>
                </a:solidFill>
                <a:latin typeface="Cascadia Code"/>
              </a:rPr>
              <a:t>Step 3: Rewrite the message to get a 10/10. Remove all the listed buzzwords. Tone: A confident, normal human being. Max 40 words</a:t>
            </a:r>
            <a:r>
              <a:rPr lang="en-US" dirty="0"/>
              <a:t>.</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t>Why specify exact metrics in self-critique?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gd name="adj" fmla="val 6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72A"/>
                </a:solidFill>
                <a:latin typeface="Segoe UI"/>
              </a:rPr>
              <a:t>Lab 7</a:t>
            </a:r>
          </a:p>
        </p:txBody>
      </p:sp>
      <p:sp>
        <p:nvSpPr>
          <p:cNvPr id="3" name="TextBox 2"/>
          <p:cNvSpPr txBox="1"/>
          <p:nvPr/>
        </p:nvSpPr>
        <p:spPr>
          <a:xfrm>
            <a:off x="1828800" y="320040"/>
            <a:ext cx="9601200" cy="548640"/>
          </a:xfrm>
          <a:prstGeom prst="rect">
            <a:avLst/>
          </a:prstGeom>
          <a:noFill/>
        </p:spPr>
        <p:txBody>
          <a:bodyPr wrap="square">
            <a:spAutoFit/>
          </a:bodyPr>
          <a:lstStyle/>
          <a:p>
            <a:pPr>
              <a:spcBef>
                <a:spcPts val="0"/>
              </a:spcBef>
              <a:spcAft>
                <a:spcPts val="0"/>
              </a:spcAft>
            </a:pPr>
            <a:r>
              <a:rPr sz="3200" b="1" dirty="0">
                <a:solidFill>
                  <a:srgbClr val="FFFFFF"/>
                </a:solidFill>
                <a:latin typeface="Segoe UI"/>
              </a:rPr>
              <a:t>Why Self-Evaluation Chains Work</a:t>
            </a:r>
          </a:p>
        </p:txBody>
      </p:sp>
      <p:sp>
        <p:nvSpPr>
          <p:cNvPr id="4" name="Rectangle 3"/>
          <p:cNvSpPr/>
          <p:nvPr/>
        </p:nvSpPr>
        <p:spPr>
          <a:xfrm>
            <a:off x="731520" y="960120"/>
            <a:ext cx="3657600" cy="508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60000"/>
            <a:ext cx="10881360" cy="380000"/>
          </a:xfrm>
          <a:prstGeom prst="rect">
            <a:avLst/>
          </a:prstGeom>
          <a:noFill/>
        </p:spPr>
        <p:txBody>
          <a:bodyPr wrap="square">
            <a:spAutoFit/>
          </a:bodyPr>
          <a:lstStyle/>
          <a:p>
            <a:pPr>
              <a:spcBef>
                <a:spcPts val="0"/>
              </a:spcBef>
              <a:spcAft>
                <a:spcPts val="0"/>
              </a:spcAft>
            </a:pPr>
            <a:r>
              <a:rPr sz="1500" b="0" dirty="0">
                <a:solidFill>
                  <a:srgbClr val="94A3B8"/>
                </a:solidFill>
                <a:latin typeface="Segoe UI"/>
              </a:rPr>
              <a:t>Don't ask for a perfect output in one shot. Turn it into a chain: draft → critique → rewrite.</a:t>
            </a:r>
          </a:p>
        </p:txBody>
      </p:sp>
      <p:sp>
        <p:nvSpPr>
          <p:cNvPr id="6" name="Rounded Rectangle 5"/>
          <p:cNvSpPr/>
          <p:nvPr/>
        </p:nvSpPr>
        <p:spPr>
          <a:xfrm>
            <a:off x="731520" y="1554480"/>
            <a:ext cx="3383280" cy="146304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645920"/>
            <a:ext cx="3054096" cy="365760"/>
          </a:xfrm>
          <a:prstGeom prst="rect">
            <a:avLst/>
          </a:prstGeom>
          <a:noFill/>
        </p:spPr>
        <p:txBody>
          <a:bodyPr wrap="square">
            <a:spAutoFit/>
          </a:bodyPr>
          <a:lstStyle/>
          <a:p>
            <a:pPr>
              <a:spcBef>
                <a:spcPts val="0"/>
              </a:spcBef>
              <a:spcAft>
                <a:spcPts val="0"/>
              </a:spcAft>
            </a:pPr>
            <a:r>
              <a:rPr sz="1600" b="1">
                <a:solidFill>
                  <a:srgbClr val="38BDF8"/>
                </a:solidFill>
                <a:latin typeface="Segoe UI"/>
              </a:rPr>
              <a:t>✍️  Step 1 · Draft</a:t>
            </a:r>
          </a:p>
        </p:txBody>
      </p:sp>
      <p:sp>
        <p:nvSpPr>
          <p:cNvPr id="8" name="TextBox 7"/>
          <p:cNvSpPr txBox="1"/>
          <p:nvPr/>
        </p:nvSpPr>
        <p:spPr>
          <a:xfrm>
            <a:off x="896112" y="2034480"/>
            <a:ext cx="3054096" cy="923040"/>
          </a:xfrm>
          <a:prstGeom prst="rect">
            <a:avLst/>
          </a:prstGeom>
          <a:noFill/>
        </p:spPr>
        <p:txBody>
          <a:bodyPr wrap="square">
            <a:spAutoFit/>
          </a:bodyPr>
          <a:lstStyle/>
          <a:p>
            <a:pPr>
              <a:spcBef>
                <a:spcPts val="250"/>
              </a:spcBef>
              <a:spcAft>
                <a:spcPts val="250"/>
              </a:spcAft>
            </a:pPr>
            <a:r>
              <a:rPr sz="1300" b="0">
                <a:solidFill>
                  <a:srgbClr val="E2E8F0"/>
                </a:solidFill>
                <a:latin typeface="Segoe UI"/>
              </a:rPr>
              <a:t>The model writes a first draft</a:t>
            </a:r>
          </a:p>
          <a:p>
            <a:pPr>
              <a:spcBef>
                <a:spcPts val="250"/>
              </a:spcBef>
              <a:spcAft>
                <a:spcPts val="250"/>
              </a:spcAft>
            </a:pPr>
            <a:r>
              <a:rPr sz="1200" b="0">
                <a:solidFill>
                  <a:srgbClr val="4ADE80"/>
                </a:solidFill>
                <a:latin typeface="Segoe UI"/>
              </a:rPr>
              <a:t>"Draft a short LinkedIn message to a hiring manager."</a:t>
            </a:r>
          </a:p>
        </p:txBody>
      </p:sp>
      <p:sp>
        <p:nvSpPr>
          <p:cNvPr id="9" name="TextBox 8"/>
          <p:cNvSpPr txBox="1"/>
          <p:nvPr/>
        </p:nvSpPr>
        <p:spPr>
          <a:xfrm>
            <a:off x="4114800" y="1986000"/>
            <a:ext cx="365760" cy="600000"/>
          </a:xfrm>
          <a:prstGeom prst="rect">
            <a:avLst/>
          </a:prstGeom>
          <a:noFill/>
        </p:spPr>
        <p:txBody>
          <a:bodyPr wrap="square" anchor="ctr">
            <a:spAutoFit/>
          </a:bodyPr>
          <a:lstStyle/>
          <a:p>
            <a:pPr algn="ctr">
              <a:spcBef>
                <a:spcPts val="0"/>
              </a:spcBef>
              <a:spcAft>
                <a:spcPts val="0"/>
              </a:spcAft>
            </a:pPr>
            <a:r>
              <a:rPr sz="2800" b="1" dirty="0">
                <a:solidFill>
                  <a:srgbClr val="38BDF8"/>
                </a:solidFill>
                <a:latin typeface="Segoe UI"/>
              </a:rPr>
              <a:t>→</a:t>
            </a:r>
          </a:p>
        </p:txBody>
      </p:sp>
      <p:sp>
        <p:nvSpPr>
          <p:cNvPr id="10" name="Rounded Rectangle 9"/>
          <p:cNvSpPr/>
          <p:nvPr/>
        </p:nvSpPr>
        <p:spPr>
          <a:xfrm>
            <a:off x="4480560" y="1554480"/>
            <a:ext cx="3383280" cy="1463040"/>
          </a:xfrm>
          <a:prstGeom prst="roundRect">
            <a:avLst>
              <a:gd name="adj" fmla="val 6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45152" y="1645920"/>
            <a:ext cx="3054096" cy="365760"/>
          </a:xfrm>
          <a:prstGeom prst="rect">
            <a:avLst/>
          </a:prstGeom>
          <a:noFill/>
        </p:spPr>
        <p:txBody>
          <a:bodyPr wrap="square">
            <a:spAutoFit/>
          </a:bodyPr>
          <a:lstStyle/>
          <a:p>
            <a:pPr>
              <a:spcBef>
                <a:spcPts val="0"/>
              </a:spcBef>
              <a:spcAft>
                <a:spcPts val="0"/>
              </a:spcAft>
            </a:pPr>
            <a:r>
              <a:rPr sz="1600" b="1" dirty="0">
                <a:solidFill>
                  <a:srgbClr val="F87171"/>
                </a:solidFill>
                <a:latin typeface="Segoe UI"/>
              </a:rPr>
              <a:t>🔍  Step 2 · Ruthless Critique</a:t>
            </a:r>
          </a:p>
        </p:txBody>
      </p:sp>
      <p:sp>
        <p:nvSpPr>
          <p:cNvPr id="12" name="TextBox 11"/>
          <p:cNvSpPr txBox="1"/>
          <p:nvPr/>
        </p:nvSpPr>
        <p:spPr>
          <a:xfrm>
            <a:off x="4645152" y="2034480"/>
            <a:ext cx="3054096" cy="923040"/>
          </a:xfrm>
          <a:prstGeom prst="rect">
            <a:avLst/>
          </a:prstGeom>
          <a:noFill/>
        </p:spPr>
        <p:txBody>
          <a:bodyPr wrap="square">
            <a:spAutoFit/>
          </a:bodyPr>
          <a:lstStyle/>
          <a:p>
            <a:pPr>
              <a:spcBef>
                <a:spcPts val="250"/>
              </a:spcBef>
              <a:spcAft>
                <a:spcPts val="250"/>
              </a:spcAft>
            </a:pPr>
            <a:r>
              <a:rPr sz="1300" b="0" dirty="0">
                <a:solidFill>
                  <a:srgbClr val="E2E8F0"/>
                </a:solidFill>
                <a:latin typeface="Segoe UI"/>
              </a:rPr>
              <a:t>Switch role: a strict critic reviews its own text</a:t>
            </a:r>
          </a:p>
          <a:p>
            <a:pPr>
              <a:spcBef>
                <a:spcPts val="250"/>
              </a:spcBef>
              <a:spcAft>
                <a:spcPts val="250"/>
              </a:spcAft>
            </a:pPr>
            <a:r>
              <a:rPr sz="1200" b="0" dirty="0">
                <a:solidFill>
                  <a:srgbClr val="4ADE80"/>
                </a:solidFill>
                <a:latin typeface="Segoe UI"/>
              </a:rPr>
              <a:t>"Score it 1–10 on authenticity. List every cliché or buzzword."</a:t>
            </a:r>
          </a:p>
        </p:txBody>
      </p:sp>
      <p:sp>
        <p:nvSpPr>
          <p:cNvPr id="13" name="TextBox 12"/>
          <p:cNvSpPr txBox="1"/>
          <p:nvPr/>
        </p:nvSpPr>
        <p:spPr>
          <a:xfrm>
            <a:off x="7863840" y="1986000"/>
            <a:ext cx="365760" cy="600000"/>
          </a:xfrm>
          <a:prstGeom prst="rect">
            <a:avLst/>
          </a:prstGeom>
          <a:noFill/>
        </p:spPr>
        <p:txBody>
          <a:bodyPr wrap="square" anchor="ctr">
            <a:spAutoFit/>
          </a:bodyPr>
          <a:lstStyle/>
          <a:p>
            <a:pPr algn="ctr">
              <a:spcBef>
                <a:spcPts val="0"/>
              </a:spcBef>
              <a:spcAft>
                <a:spcPts val="0"/>
              </a:spcAft>
            </a:pPr>
            <a:r>
              <a:rPr sz="2800" b="1">
                <a:solidFill>
                  <a:srgbClr val="38BDF8"/>
                </a:solidFill>
                <a:latin typeface="Segoe UI"/>
              </a:rPr>
              <a:t>→</a:t>
            </a:r>
          </a:p>
        </p:txBody>
      </p:sp>
      <p:sp>
        <p:nvSpPr>
          <p:cNvPr id="14" name="Rounded Rectangle 13"/>
          <p:cNvSpPr/>
          <p:nvPr/>
        </p:nvSpPr>
        <p:spPr>
          <a:xfrm>
            <a:off x="8229600" y="1554480"/>
            <a:ext cx="3383280" cy="1463040"/>
          </a:xfrm>
          <a:prstGeom prst="roundRect">
            <a:avLst>
              <a:gd name="adj" fmla="val 6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94192" y="1645920"/>
            <a:ext cx="3054096" cy="365760"/>
          </a:xfrm>
          <a:prstGeom prst="rect">
            <a:avLst/>
          </a:prstGeom>
          <a:noFill/>
        </p:spPr>
        <p:txBody>
          <a:bodyPr wrap="square">
            <a:spAutoFit/>
          </a:bodyPr>
          <a:lstStyle/>
          <a:p>
            <a:pPr>
              <a:spcBef>
                <a:spcPts val="0"/>
              </a:spcBef>
              <a:spcAft>
                <a:spcPts val="0"/>
              </a:spcAft>
            </a:pPr>
            <a:r>
              <a:rPr sz="1600" b="1">
                <a:solidFill>
                  <a:srgbClr val="4ADE80"/>
                </a:solidFill>
                <a:latin typeface="Segoe UI"/>
              </a:rPr>
              <a:t>✅  Step 3 · Rewrite</a:t>
            </a:r>
          </a:p>
        </p:txBody>
      </p:sp>
      <p:sp>
        <p:nvSpPr>
          <p:cNvPr id="16" name="TextBox 15"/>
          <p:cNvSpPr txBox="1"/>
          <p:nvPr/>
        </p:nvSpPr>
        <p:spPr>
          <a:xfrm>
            <a:off x="8394192" y="2034480"/>
            <a:ext cx="3054096" cy="923040"/>
          </a:xfrm>
          <a:prstGeom prst="rect">
            <a:avLst/>
          </a:prstGeom>
          <a:noFill/>
        </p:spPr>
        <p:txBody>
          <a:bodyPr wrap="square">
            <a:spAutoFit/>
          </a:bodyPr>
          <a:lstStyle/>
          <a:p>
            <a:pPr>
              <a:spcBef>
                <a:spcPts val="250"/>
              </a:spcBef>
              <a:spcAft>
                <a:spcPts val="250"/>
              </a:spcAft>
            </a:pPr>
            <a:r>
              <a:rPr sz="1300" b="0">
                <a:solidFill>
                  <a:srgbClr val="E2E8F0"/>
                </a:solidFill>
                <a:latin typeface="Segoe UI"/>
              </a:rPr>
              <a:t>Rewrite based on its own critique</a:t>
            </a:r>
          </a:p>
          <a:p>
            <a:pPr>
              <a:spcBef>
                <a:spcPts val="250"/>
              </a:spcBef>
              <a:spcAft>
                <a:spcPts val="250"/>
              </a:spcAft>
            </a:pPr>
            <a:r>
              <a:rPr sz="1200" b="0">
                <a:solidFill>
                  <a:srgbClr val="4ADE80"/>
                </a:solidFill>
                <a:latin typeface="Segoe UI"/>
              </a:rPr>
              <a:t>"Remove the listed buzzwords. Tone: confident, human."</a:t>
            </a:r>
          </a:p>
        </p:txBody>
      </p:sp>
      <p:sp>
        <p:nvSpPr>
          <p:cNvPr id="17" name="TextBox 16"/>
          <p:cNvSpPr txBox="1"/>
          <p:nvPr/>
        </p:nvSpPr>
        <p:spPr>
          <a:xfrm>
            <a:off x="731520" y="3154680"/>
            <a:ext cx="10881360" cy="400000"/>
          </a:xfrm>
          <a:prstGeom prst="rect">
            <a:avLst/>
          </a:prstGeom>
          <a:noFill/>
        </p:spPr>
        <p:txBody>
          <a:bodyPr wrap="square">
            <a:spAutoFit/>
          </a:bodyPr>
          <a:lstStyle/>
          <a:p>
            <a:pPr>
              <a:spcBef>
                <a:spcPts val="0"/>
              </a:spcBef>
              <a:spcAft>
                <a:spcPts val="0"/>
              </a:spcAft>
            </a:pPr>
            <a:r>
              <a:rPr sz="1800" b="1" dirty="0">
                <a:solidFill>
                  <a:srgbClr val="FBBF24"/>
                </a:solidFill>
                <a:latin typeface="Segoe UI"/>
              </a:rPr>
              <a:t>💡  Why This Technique Works</a:t>
            </a:r>
          </a:p>
        </p:txBody>
      </p:sp>
      <p:sp>
        <p:nvSpPr>
          <p:cNvPr id="18" name="Rounded Rectangle 17"/>
          <p:cNvSpPr/>
          <p:nvPr/>
        </p:nvSpPr>
        <p:spPr>
          <a:xfrm>
            <a:off x="731520" y="3611880"/>
            <a:ext cx="3505200" cy="228600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3703320"/>
            <a:ext cx="3176016" cy="365760"/>
          </a:xfrm>
          <a:prstGeom prst="rect">
            <a:avLst/>
          </a:prstGeom>
          <a:noFill/>
        </p:spPr>
        <p:txBody>
          <a:bodyPr wrap="square">
            <a:spAutoFit/>
          </a:bodyPr>
          <a:lstStyle/>
          <a:p>
            <a:pPr>
              <a:spcBef>
                <a:spcPts val="0"/>
              </a:spcBef>
              <a:spcAft>
                <a:spcPts val="0"/>
              </a:spcAft>
            </a:pPr>
            <a:r>
              <a:rPr sz="1600" b="1" dirty="0">
                <a:solidFill>
                  <a:srgbClr val="38BDF8"/>
                </a:solidFill>
                <a:latin typeface="Segoe UI"/>
              </a:rPr>
              <a:t>🩹  Cures First-Draft Syndrome</a:t>
            </a:r>
          </a:p>
        </p:txBody>
      </p:sp>
      <p:sp>
        <p:nvSpPr>
          <p:cNvPr id="20" name="TextBox 19"/>
          <p:cNvSpPr txBox="1"/>
          <p:nvPr/>
        </p:nvSpPr>
        <p:spPr>
          <a:xfrm>
            <a:off x="896112" y="4111880"/>
            <a:ext cx="3176016" cy="1726000"/>
          </a:xfrm>
          <a:prstGeom prst="rect">
            <a:avLst/>
          </a:prstGeom>
          <a:noFill/>
        </p:spPr>
        <p:txBody>
          <a:bodyPr wrap="square">
            <a:spAutoFit/>
          </a:bodyPr>
          <a:lstStyle/>
          <a:p>
            <a:pPr>
              <a:spcBef>
                <a:spcPts val="300"/>
              </a:spcBef>
              <a:spcAft>
                <a:spcPts val="300"/>
              </a:spcAft>
            </a:pPr>
            <a:r>
              <a:rPr sz="1200" b="0" dirty="0">
                <a:solidFill>
                  <a:srgbClr val="E2E8F0"/>
                </a:solidFill>
                <a:latin typeface="Segoe UI"/>
              </a:rPr>
              <a:t>Zero-shot output is usually average: begging tone, marketing fluff</a:t>
            </a:r>
          </a:p>
          <a:p>
            <a:pPr>
              <a:spcBef>
                <a:spcPts val="300"/>
              </a:spcBef>
              <a:spcAft>
                <a:spcPts val="300"/>
              </a:spcAft>
            </a:pPr>
            <a:r>
              <a:rPr sz="1200" b="0" dirty="0">
                <a:solidFill>
                  <a:srgbClr val="E2E8F0"/>
                </a:solidFill>
                <a:latin typeface="Segoe UI"/>
              </a:rPr>
              <a:t>Self-evaluation gives the model extra compute to see its weak draft and improve it</a:t>
            </a:r>
          </a:p>
          <a:p>
            <a:pPr>
              <a:spcBef>
                <a:spcPts val="300"/>
              </a:spcBef>
              <a:spcAft>
                <a:spcPts val="300"/>
              </a:spcAft>
            </a:pPr>
            <a:r>
              <a:rPr sz="1200" b="0" dirty="0">
                <a:solidFill>
                  <a:srgbClr val="22D3EE"/>
                </a:solidFill>
                <a:latin typeface="Segoe UI"/>
              </a:rPr>
              <a:t>Average draft → polished final version</a:t>
            </a:r>
          </a:p>
        </p:txBody>
      </p:sp>
      <p:sp>
        <p:nvSpPr>
          <p:cNvPr id="21" name="Rounded Rectangle 20"/>
          <p:cNvSpPr/>
          <p:nvPr/>
        </p:nvSpPr>
        <p:spPr>
          <a:xfrm>
            <a:off x="4419600" y="3611880"/>
            <a:ext cx="3505200" cy="228600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84192" y="3703320"/>
            <a:ext cx="3176016" cy="365760"/>
          </a:xfrm>
          <a:prstGeom prst="rect">
            <a:avLst/>
          </a:prstGeom>
          <a:noFill/>
        </p:spPr>
        <p:txBody>
          <a:bodyPr wrap="square">
            <a:spAutoFit/>
          </a:bodyPr>
          <a:lstStyle/>
          <a:p>
            <a:pPr>
              <a:spcBef>
                <a:spcPts val="0"/>
              </a:spcBef>
              <a:spcAft>
                <a:spcPts val="0"/>
              </a:spcAft>
            </a:pPr>
            <a:r>
              <a:rPr sz="1600" b="1" dirty="0">
                <a:solidFill>
                  <a:srgbClr val="38BDF8"/>
                </a:solidFill>
                <a:latin typeface="Segoe UI"/>
              </a:rPr>
              <a:t>🧠  Engages Analytical Mode</a:t>
            </a:r>
          </a:p>
        </p:txBody>
      </p:sp>
      <p:sp>
        <p:nvSpPr>
          <p:cNvPr id="23" name="TextBox 22"/>
          <p:cNvSpPr txBox="1"/>
          <p:nvPr/>
        </p:nvSpPr>
        <p:spPr>
          <a:xfrm>
            <a:off x="4584192" y="4111880"/>
            <a:ext cx="3176016" cy="1726000"/>
          </a:xfrm>
          <a:prstGeom prst="rect">
            <a:avLst/>
          </a:prstGeom>
          <a:noFill/>
        </p:spPr>
        <p:txBody>
          <a:bodyPr wrap="square">
            <a:spAutoFit/>
          </a:bodyPr>
          <a:lstStyle/>
          <a:p>
            <a:pPr>
              <a:spcBef>
                <a:spcPts val="300"/>
              </a:spcBef>
              <a:spcAft>
                <a:spcPts val="300"/>
              </a:spcAft>
            </a:pPr>
            <a:r>
              <a:rPr sz="1200" b="0" dirty="0">
                <a:solidFill>
                  <a:srgbClr val="E2E8F0"/>
                </a:solidFill>
                <a:latin typeface="Segoe UI"/>
              </a:rPr>
              <a:t>"Just write" → creative mode, prone to exaggeration and hallucination</a:t>
            </a:r>
          </a:p>
          <a:p>
            <a:pPr>
              <a:spcBef>
                <a:spcPts val="300"/>
              </a:spcBef>
              <a:spcAft>
                <a:spcPts val="300"/>
              </a:spcAft>
            </a:pPr>
            <a:r>
              <a:rPr sz="1200" b="0" dirty="0">
                <a:solidFill>
                  <a:srgbClr val="E2E8F0"/>
                </a:solidFill>
                <a:latin typeface="Segoe UI"/>
              </a:rPr>
              <a:t>"Score it and list the words" → analytical, logical mode</a:t>
            </a:r>
          </a:p>
          <a:p>
            <a:pPr>
              <a:spcBef>
                <a:spcPts val="300"/>
              </a:spcBef>
              <a:spcAft>
                <a:spcPts val="300"/>
              </a:spcAft>
            </a:pPr>
            <a:r>
              <a:rPr sz="1200" b="0" dirty="0">
                <a:solidFill>
                  <a:srgbClr val="22D3EE"/>
                </a:solidFill>
                <a:latin typeface="Segoe UI"/>
              </a:rPr>
              <a:t>One flow combines both strengths</a:t>
            </a:r>
          </a:p>
        </p:txBody>
      </p:sp>
      <p:sp>
        <p:nvSpPr>
          <p:cNvPr id="24" name="Rounded Rectangle 23"/>
          <p:cNvSpPr/>
          <p:nvPr/>
        </p:nvSpPr>
        <p:spPr>
          <a:xfrm>
            <a:off x="8107680" y="3611880"/>
            <a:ext cx="3505200" cy="228600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72272" y="3703320"/>
            <a:ext cx="3176016" cy="365760"/>
          </a:xfrm>
          <a:prstGeom prst="rect">
            <a:avLst/>
          </a:prstGeom>
          <a:noFill/>
        </p:spPr>
        <p:txBody>
          <a:bodyPr wrap="square">
            <a:spAutoFit/>
          </a:bodyPr>
          <a:lstStyle/>
          <a:p>
            <a:pPr>
              <a:spcBef>
                <a:spcPts val="0"/>
              </a:spcBef>
              <a:spcAft>
                <a:spcPts val="0"/>
              </a:spcAft>
            </a:pPr>
            <a:r>
              <a:rPr sz="1600" b="1">
                <a:solidFill>
                  <a:srgbClr val="38BDF8"/>
                </a:solidFill>
                <a:latin typeface="Segoe UI"/>
              </a:rPr>
              <a:t>🔎  Transparent Reasoning</a:t>
            </a:r>
          </a:p>
        </p:txBody>
      </p:sp>
      <p:sp>
        <p:nvSpPr>
          <p:cNvPr id="26" name="TextBox 25"/>
          <p:cNvSpPr txBox="1"/>
          <p:nvPr/>
        </p:nvSpPr>
        <p:spPr>
          <a:xfrm>
            <a:off x="8272272" y="4111880"/>
            <a:ext cx="3176016" cy="1726000"/>
          </a:xfrm>
          <a:prstGeom prst="rect">
            <a:avLst/>
          </a:prstGeom>
          <a:noFill/>
        </p:spPr>
        <p:txBody>
          <a:bodyPr wrap="square">
            <a:spAutoFit/>
          </a:bodyPr>
          <a:lstStyle/>
          <a:p>
            <a:pPr>
              <a:spcBef>
                <a:spcPts val="300"/>
              </a:spcBef>
              <a:spcAft>
                <a:spcPts val="300"/>
              </a:spcAft>
            </a:pPr>
            <a:r>
              <a:rPr sz="1200" b="0" dirty="0">
                <a:solidFill>
                  <a:srgbClr val="E2E8F0"/>
                </a:solidFill>
                <a:latin typeface="Segoe UI"/>
              </a:rPr>
              <a:t>Step 2 forces the model to list its flaws explicitly</a:t>
            </a:r>
          </a:p>
          <a:p>
            <a:pPr>
              <a:spcBef>
                <a:spcPts val="300"/>
              </a:spcBef>
              <a:spcAft>
                <a:spcPts val="300"/>
              </a:spcAft>
            </a:pPr>
            <a:r>
              <a:rPr sz="1200" b="0" dirty="0">
                <a:solidFill>
                  <a:srgbClr val="E2E8F0"/>
                </a:solidFill>
                <a:latin typeface="Segoe UI"/>
              </a:rPr>
              <a:t>You can see why each change was made and verify the critique</a:t>
            </a:r>
          </a:p>
          <a:p>
            <a:pPr>
              <a:spcBef>
                <a:spcPts val="300"/>
              </a:spcBef>
              <a:spcAft>
                <a:spcPts val="300"/>
              </a:spcAft>
            </a:pPr>
            <a:r>
              <a:rPr sz="1200" b="0" dirty="0" err="1">
                <a:solidFill>
                  <a:srgbClr val="22D3EE"/>
                </a:solidFill>
                <a:latin typeface="Segoe UI"/>
              </a:rPr>
              <a:t>Debuggable</a:t>
            </a:r>
            <a:r>
              <a:rPr sz="1200" b="0" dirty="0">
                <a:solidFill>
                  <a:srgbClr val="22D3EE"/>
                </a:solidFill>
                <a:latin typeface="Segoe UI"/>
              </a:rPr>
              <a:t>: fix the critique, not just the output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P spid="9" grpId="0"/>
      <p:bldP spid="10" grpId="0" animBg="1"/>
      <p:bldP spid="11" grpId="0"/>
      <p:bldP spid="12" grpId="0"/>
      <p:bldP spid="13" grpId="0"/>
      <p:bldP spid="14" grpId="0" animBg="1"/>
      <p:bldP spid="15" grpId="0"/>
      <p:bldP spid="16" grpId="0"/>
      <p:bldP spid="17" grpId="0"/>
      <p:bldP spid="18" grpId="0" animBg="1"/>
      <p:bldP spid="19" grpId="0"/>
      <p:bldP spid="20" grpId="0"/>
      <p:bldP spid="21" grpId="0" animBg="1"/>
      <p:bldP spid="22" grpId="0"/>
      <p:bldP spid="23" grpId="0"/>
      <p:bldP spid="24" grpId="0" animBg="1"/>
      <p:bldP spid="25" grpId="0"/>
      <p:bldP spid="26"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7</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7: Investor Pitch Email</a:t>
            </a:r>
          </a:p>
        </p:txBody>
      </p:sp>
      <p:sp>
        <p:nvSpPr>
          <p:cNvPr id="4" name="Rectangle 3"/>
          <p:cNvSpPr/>
          <p:nvPr/>
        </p:nvSpPr>
        <p:spPr>
          <a:xfrm>
            <a:off x="731520" y="960120"/>
            <a:ext cx="3657600" cy="50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22D3EE"/>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You're a logistics AI startup founder writing a</a:t>
            </a:r>
            <a:br/>
            <a:r>
              <a:t>pitch email to an investor.</a:t>
            </a:r>
            <a:br/>
            <a:br/>
            <a:r>
              <a:t>Design a 3-step Prompt Chain:</a:t>
            </a:r>
            <a:br/>
            <a:r>
              <a:t>  Step 1: Initial draft with context</a:t>
            </a:r>
            <a:br/>
            <a:r>
              <a:t>  Step 2: Force AI to self-critique (score 1-10,</a:t>
            </a:r>
            <a:br/>
            <a:r>
              <a:t>          list banned/exaggerated words)</a:t>
            </a:r>
            <a:br/>
            <a:r>
              <a:t>  Step 3: Rewrite using the critique results</a:t>
            </a:r>
            <a:br/>
            <a:br/>
            <a:r>
              <a:t>Cannot be done as a one-shot prompt!</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Chain Separation (30): 3 sequential prompts</a:t>
            </a:r>
          </a:p>
          <a:p>
            <a:pPr>
              <a:spcBef>
                <a:spcPts val="300"/>
              </a:spcBef>
              <a:spcAft>
                <a:spcPts val="300"/>
              </a:spcAft>
              <a:defRPr sz="1300">
                <a:solidFill>
                  <a:srgbClr val="E2E8F0"/>
                </a:solidFill>
                <a:latin typeface="Segoe UI"/>
              </a:defRPr>
            </a:pPr>
            <a:r>
              <a:t>Evaluation Metric (20): scoring method</a:t>
            </a:r>
          </a:p>
          <a:p>
            <a:pPr>
              <a:spcBef>
                <a:spcPts val="300"/>
              </a:spcBef>
              <a:spcAft>
                <a:spcPts val="300"/>
              </a:spcAft>
              <a:defRPr sz="1300">
                <a:solidFill>
                  <a:srgbClr val="E2E8F0"/>
                </a:solidFill>
                <a:latin typeface="Segoe UI"/>
              </a:defRPr>
            </a:pPr>
            <a:r>
              <a:t>Flaw Identification (20): lists specific flaws</a:t>
            </a:r>
          </a:p>
          <a:p>
            <a:pPr>
              <a:spcBef>
                <a:spcPts val="300"/>
              </a:spcBef>
              <a:spcAft>
                <a:spcPts val="300"/>
              </a:spcAft>
              <a:defRPr sz="1300">
                <a:solidFill>
                  <a:srgbClr val="E2E8F0"/>
                </a:solidFill>
                <a:latin typeface="Segoe UI"/>
              </a:defRPr>
            </a:pPr>
            <a:r>
              <a:t>Chain Connection (30): rewrite uses critique</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t>⏱  20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100000" cy="502920"/>
          </a:xfrm>
          <a:prstGeom prst="roundRect">
            <a:avLst>
              <a:gd name="adj" fmla="val 6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72A"/>
                </a:solidFill>
                <a:latin typeface="Segoe UI"/>
              </a:rPr>
              <a:t>Chapter 8</a:t>
            </a:r>
          </a:p>
        </p:txBody>
      </p:sp>
      <p:sp>
        <p:nvSpPr>
          <p:cNvPr id="3" name="TextBox 2"/>
          <p:cNvSpPr txBox="1"/>
          <p:nvPr/>
        </p:nvSpPr>
        <p:spPr>
          <a:xfrm>
            <a:off x="1950000" y="320040"/>
            <a:ext cx="9601200" cy="548640"/>
          </a:xfrm>
          <a:prstGeom prst="rect">
            <a:avLst/>
          </a:prstGeom>
          <a:noFill/>
        </p:spPr>
        <p:txBody>
          <a:bodyPr wrap="square">
            <a:spAutoFit/>
          </a:bodyPr>
          <a:lstStyle/>
          <a:p>
            <a:pPr>
              <a:spcBef>
                <a:spcPts val="0"/>
              </a:spcBef>
              <a:spcAft>
                <a:spcPts val="0"/>
              </a:spcAft>
            </a:pPr>
            <a:r>
              <a:rPr sz="3200" b="1" dirty="0">
                <a:solidFill>
                  <a:srgbClr val="FFFFFF"/>
                </a:solidFill>
                <a:latin typeface="Segoe UI"/>
              </a:rPr>
              <a:t>Hallucination &amp; Giving an Out</a:t>
            </a:r>
          </a:p>
        </p:txBody>
      </p:sp>
      <p:sp>
        <p:nvSpPr>
          <p:cNvPr id="4" name="Rectangle 3"/>
          <p:cNvSpPr/>
          <p:nvPr/>
        </p:nvSpPr>
        <p:spPr>
          <a:xfrm>
            <a:off x="731520" y="960120"/>
            <a:ext cx="3657600" cy="508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60000"/>
            <a:ext cx="10881360" cy="380000"/>
          </a:xfrm>
          <a:prstGeom prst="rect">
            <a:avLst/>
          </a:prstGeom>
          <a:noFill/>
        </p:spPr>
        <p:txBody>
          <a:bodyPr wrap="square">
            <a:spAutoFit/>
          </a:bodyPr>
          <a:lstStyle/>
          <a:p>
            <a:pPr>
              <a:spcBef>
                <a:spcPts val="0"/>
              </a:spcBef>
              <a:spcAft>
                <a:spcPts val="0"/>
              </a:spcAft>
            </a:pPr>
            <a:r>
              <a:rPr sz="1500" b="0" dirty="0">
                <a:solidFill>
                  <a:srgbClr val="94A3B8"/>
                </a:solidFill>
                <a:latin typeface="Segoe UI"/>
              </a:rPr>
              <a:t>AI's biggest weakness is "Hallucination": confidently stating falsehoods to avoid disappointing the user.</a:t>
            </a:r>
          </a:p>
        </p:txBody>
      </p:sp>
      <p:sp>
        <p:nvSpPr>
          <p:cNvPr id="6" name="Rounded Rectangle 5"/>
          <p:cNvSpPr/>
          <p:nvPr/>
        </p:nvSpPr>
        <p:spPr>
          <a:xfrm>
            <a:off x="731520" y="1600000"/>
            <a:ext cx="10881360" cy="150000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0000" y="1750000"/>
            <a:ext cx="10500000" cy="1000000"/>
          </a:xfrm>
          <a:prstGeom prst="rect">
            <a:avLst/>
          </a:prstGeom>
          <a:noFill/>
        </p:spPr>
        <p:txBody>
          <a:bodyPr wrap="square">
            <a:spAutoFit/>
          </a:bodyPr>
          <a:lstStyle/>
          <a:p>
            <a:pPr>
              <a:spcBef>
                <a:spcPts val="250"/>
              </a:spcBef>
              <a:spcAft>
                <a:spcPts val="250"/>
              </a:spcAft>
            </a:pPr>
            <a:r>
              <a:rPr sz="1800" b="1" dirty="0">
                <a:solidFill>
                  <a:srgbClr val="F87171"/>
                </a:solidFill>
                <a:latin typeface="Segoe UI"/>
              </a:rPr>
              <a:t>??  Why AI Hallucinates</a:t>
            </a:r>
          </a:p>
          <a:p>
            <a:pPr>
              <a:spcBef>
                <a:spcPts val="250"/>
              </a:spcBef>
              <a:spcAft>
                <a:spcPts val="250"/>
              </a:spcAft>
            </a:pPr>
            <a:r>
              <a:rPr sz="1400" b="0" dirty="0">
                <a:solidFill>
                  <a:srgbClr val="E2E8F0"/>
                </a:solidFill>
                <a:latin typeface="Segoe UI"/>
              </a:rPr>
              <a:t>AI is like a polite student whose main goal is to "help you". When it doesn't know the answer, its default instinct is:</a:t>
            </a:r>
          </a:p>
          <a:p>
            <a:pPr>
              <a:spcBef>
                <a:spcPts val="250"/>
              </a:spcBef>
              <a:spcAft>
                <a:spcPts val="250"/>
              </a:spcAft>
            </a:pPr>
            <a:r>
              <a:rPr sz="1400" b="1" dirty="0">
                <a:solidFill>
                  <a:srgbClr val="FBBF24"/>
                </a:solidFill>
                <a:latin typeface="Segoe UI"/>
              </a:rPr>
              <a:t>"If I say I don't know, the user will be upset! Let me guess or make something up so it sounds natural!"</a:t>
            </a:r>
          </a:p>
        </p:txBody>
      </p:sp>
      <p:sp>
        <p:nvSpPr>
          <p:cNvPr id="8" name="Rounded Rectangle 7"/>
          <p:cNvSpPr/>
          <p:nvPr/>
        </p:nvSpPr>
        <p:spPr>
          <a:xfrm>
            <a:off x="731520" y="3300000"/>
            <a:ext cx="10881360" cy="260000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00000" y="3450000"/>
            <a:ext cx="10500000" cy="2000000"/>
          </a:xfrm>
          <a:prstGeom prst="rect">
            <a:avLst/>
          </a:prstGeom>
          <a:noFill/>
        </p:spPr>
        <p:txBody>
          <a:bodyPr wrap="square">
            <a:spAutoFit/>
          </a:bodyPr>
          <a:lstStyle/>
          <a:p>
            <a:pPr>
              <a:spcBef>
                <a:spcPts val="250"/>
              </a:spcBef>
              <a:spcAft>
                <a:spcPts val="250"/>
              </a:spcAft>
            </a:pPr>
            <a:r>
              <a:rPr sz="1800" b="1" dirty="0">
                <a:solidFill>
                  <a:srgbClr val="4ADE80"/>
                </a:solidFill>
                <a:latin typeface="Segoe UI"/>
              </a:rPr>
              <a:t>??  Technique 1: "Giving an Out"</a:t>
            </a:r>
          </a:p>
          <a:p>
            <a:pPr>
              <a:spcBef>
                <a:spcPts val="250"/>
              </a:spcBef>
              <a:spcAft>
                <a:spcPts val="250"/>
              </a:spcAft>
            </a:pPr>
            <a:r>
              <a:rPr sz="1400" b="0" dirty="0">
                <a:solidFill>
                  <a:srgbClr val="E2E8F0"/>
                </a:solidFill>
                <a:latin typeface="Segoe UI"/>
              </a:rPr>
              <a:t>The simplest way to prevent hallucinations: explicitly give the model permission to say "I don't know"!</a:t>
            </a:r>
          </a:p>
        </p:txBody>
      </p:sp>
      <p:sp>
        <p:nvSpPr>
          <p:cNvPr id="10" name="Rounded Rectangle 9"/>
          <p:cNvSpPr/>
          <p:nvPr/>
        </p:nvSpPr>
        <p:spPr>
          <a:xfrm>
            <a:off x="900000" y="4200000"/>
            <a:ext cx="5100000" cy="1400000"/>
          </a:xfrm>
          <a:prstGeom prst="roundRect">
            <a:avLst>
              <a:gd name="adj" fmla="val 6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0000" y="4350000"/>
            <a:ext cx="4900000" cy="1200000"/>
          </a:xfrm>
          <a:prstGeom prst="rect">
            <a:avLst/>
          </a:prstGeom>
          <a:noFill/>
        </p:spPr>
        <p:txBody>
          <a:bodyPr wrap="square">
            <a:spAutoFit/>
          </a:bodyPr>
          <a:lstStyle/>
          <a:p>
            <a:pPr>
              <a:spcBef>
                <a:spcPts val="200"/>
              </a:spcBef>
              <a:spcAft>
                <a:spcPts val="200"/>
              </a:spcAft>
            </a:pPr>
            <a:r>
              <a:rPr sz="1400" b="1">
                <a:solidFill>
                  <a:srgbClr val="F87171"/>
                </a:solidFill>
                <a:latin typeface="Segoe UI"/>
              </a:rPr>
              <a:t>?  Without technique (Hallucinates)</a:t>
            </a:r>
          </a:p>
          <a:p>
            <a:pPr>
              <a:spcBef>
                <a:spcPts val="200"/>
              </a:spcBef>
              <a:spcAft>
                <a:spcPts val="200"/>
              </a:spcAft>
            </a:pPr>
            <a:r>
              <a:rPr sz="1200" b="0">
                <a:solidFill>
                  <a:srgbClr val="E2E8F0"/>
                </a:solidFill>
                <a:latin typeface="Segoe UI"/>
              </a:rPr>
              <a:t>Q: "What year was Beyoncé's 8th studio album released?"</a:t>
            </a:r>
          </a:p>
          <a:p>
            <a:pPr>
              <a:spcBef>
                <a:spcPts val="200"/>
              </a:spcBef>
              <a:spcAft>
                <a:spcPts val="200"/>
              </a:spcAft>
            </a:pPr>
            <a:r>
              <a:rPr sz="1200" b="0">
                <a:solidFill>
                  <a:srgbClr val="94A3B8"/>
                </a:solidFill>
                <a:latin typeface="Segoe UI"/>
              </a:rPr>
              <a:t>A: "Beyoncé's 8th studio album was released in 2024..." (Invented fact, since she only had 7 at the time!)</a:t>
            </a:r>
          </a:p>
        </p:txBody>
      </p:sp>
      <p:sp>
        <p:nvSpPr>
          <p:cNvPr id="12" name="Rounded Rectangle 11"/>
          <p:cNvSpPr/>
          <p:nvPr/>
        </p:nvSpPr>
        <p:spPr>
          <a:xfrm>
            <a:off x="6200000" y="4200000"/>
            <a:ext cx="5200000" cy="1400000"/>
          </a:xfrm>
          <a:prstGeom prst="roundRect">
            <a:avLst>
              <a:gd name="adj" fmla="val 6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00000" y="4350000"/>
            <a:ext cx="5000000" cy="1200000"/>
          </a:xfrm>
          <a:prstGeom prst="rect">
            <a:avLst/>
          </a:prstGeom>
          <a:noFill/>
        </p:spPr>
        <p:txBody>
          <a:bodyPr wrap="square">
            <a:spAutoFit/>
          </a:bodyPr>
          <a:lstStyle/>
          <a:p>
            <a:pPr>
              <a:spcBef>
                <a:spcPts val="200"/>
              </a:spcBef>
              <a:spcAft>
                <a:spcPts val="200"/>
              </a:spcAft>
            </a:pPr>
            <a:r>
              <a:rPr sz="1400" b="1">
                <a:solidFill>
                  <a:srgbClr val="4ADE80"/>
                </a:solidFill>
                <a:latin typeface="Segoe UI"/>
              </a:rPr>
              <a:t>?  With technique (Tells the truth)</a:t>
            </a:r>
          </a:p>
          <a:p>
            <a:pPr>
              <a:spcBef>
                <a:spcPts val="200"/>
              </a:spcBef>
              <a:spcAft>
                <a:spcPts val="200"/>
              </a:spcAft>
            </a:pPr>
            <a:r>
              <a:rPr sz="1200" b="0">
                <a:solidFill>
                  <a:srgbClr val="E2E8F0"/>
                </a:solidFill>
                <a:latin typeface="Segoe UI"/>
              </a:rPr>
              <a:t>Q: "What year was Beyoncé's 8th album released? If no such album exists, explicitly say so."</a:t>
            </a:r>
          </a:p>
          <a:p>
            <a:pPr>
              <a:spcBef>
                <a:spcPts val="200"/>
              </a:spcBef>
              <a:spcAft>
                <a:spcPts val="200"/>
              </a:spcAft>
            </a:pPr>
            <a:r>
              <a:rPr sz="1200" b="0">
                <a:solidFill>
                  <a:srgbClr val="94A3B8"/>
                </a:solidFill>
                <a:latin typeface="Segoe UI"/>
              </a:rPr>
              <a:t>A: "Beyoncé has not released an 8th studio album..."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animBg="1"/>
      <p:bldP spid="9" grpId="0"/>
      <p:bldP spid="10" grpId="0" animBg="1"/>
      <p:bldP spid="11" grpId="0"/>
      <p:bldP spid="12" grpId="0" animBg="1"/>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100000" cy="502920"/>
          </a:xfrm>
          <a:prstGeom prst="roundRect">
            <a:avLst>
              <a:gd name="adj" fmla="val 6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72A"/>
                </a:solidFill>
                <a:latin typeface="Segoe UI"/>
              </a:rPr>
              <a:t>Chapter 8</a:t>
            </a:r>
          </a:p>
        </p:txBody>
      </p:sp>
      <p:sp>
        <p:nvSpPr>
          <p:cNvPr id="3" name="TextBox 2"/>
          <p:cNvSpPr txBox="1"/>
          <p:nvPr/>
        </p:nvSpPr>
        <p:spPr>
          <a:xfrm>
            <a:off x="1950000" y="320040"/>
            <a:ext cx="9601200" cy="548640"/>
          </a:xfrm>
          <a:prstGeom prst="rect">
            <a:avLst/>
          </a:prstGeom>
          <a:noFill/>
        </p:spPr>
        <p:txBody>
          <a:bodyPr wrap="square">
            <a:spAutoFit/>
          </a:bodyPr>
          <a:lstStyle/>
          <a:p>
            <a:pPr>
              <a:spcBef>
                <a:spcPts val="0"/>
              </a:spcBef>
              <a:spcAft>
                <a:spcPts val="0"/>
              </a:spcAft>
            </a:pPr>
            <a:r>
              <a:rPr sz="3200" b="1">
                <a:solidFill>
                  <a:srgbClr val="FFFFFF"/>
                </a:solidFill>
                <a:latin typeface="Segoe UI"/>
              </a:rPr>
              <a:t>Evidence Extraction &amp; Temperature</a:t>
            </a:r>
          </a:p>
        </p:txBody>
      </p:sp>
      <p:sp>
        <p:nvSpPr>
          <p:cNvPr id="4" name="Rectangle 3"/>
          <p:cNvSpPr/>
          <p:nvPr/>
        </p:nvSpPr>
        <p:spPr>
          <a:xfrm>
            <a:off x="731520" y="960120"/>
            <a:ext cx="3657600" cy="508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60000"/>
            <a:ext cx="10881360" cy="380000"/>
          </a:xfrm>
          <a:prstGeom prst="rect">
            <a:avLst/>
          </a:prstGeom>
          <a:noFill/>
        </p:spPr>
        <p:txBody>
          <a:bodyPr wrap="square">
            <a:spAutoFit/>
          </a:bodyPr>
          <a:lstStyle/>
          <a:p>
            <a:pPr>
              <a:spcBef>
                <a:spcPts val="0"/>
              </a:spcBef>
              <a:spcAft>
                <a:spcPts val="0"/>
              </a:spcAft>
            </a:pPr>
            <a:r>
              <a:rPr sz="1500" b="0" dirty="0">
                <a:solidFill>
                  <a:srgbClr val="94A3B8"/>
                </a:solidFill>
                <a:latin typeface="Segoe UI"/>
              </a:rPr>
              <a:t>Forcing the model to quote exact text before answering prevents it from falling for distractors.</a:t>
            </a:r>
          </a:p>
        </p:txBody>
      </p:sp>
      <p:sp>
        <p:nvSpPr>
          <p:cNvPr id="6" name="Rounded Rectangle 5"/>
          <p:cNvSpPr/>
          <p:nvPr/>
        </p:nvSpPr>
        <p:spPr>
          <a:xfrm>
            <a:off x="731520" y="1600000"/>
            <a:ext cx="10881360" cy="320000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0000" y="1750000"/>
            <a:ext cx="10500000" cy="1500000"/>
          </a:xfrm>
          <a:prstGeom prst="rect">
            <a:avLst/>
          </a:prstGeom>
          <a:noFill/>
        </p:spPr>
        <p:txBody>
          <a:bodyPr wrap="square">
            <a:spAutoFit/>
          </a:bodyPr>
          <a:lstStyle/>
          <a:p>
            <a:pPr>
              <a:spcBef>
                <a:spcPts val="250"/>
              </a:spcBef>
              <a:spcAft>
                <a:spcPts val="250"/>
              </a:spcAft>
            </a:pPr>
            <a:r>
              <a:rPr sz="1800" b="1" dirty="0">
                <a:solidFill>
                  <a:srgbClr val="38BDF8"/>
                </a:solidFill>
                <a:latin typeface="Segoe UI"/>
              </a:rPr>
              <a:t>??  Technique 2: "Evidence Extraction / Scratchpad"</a:t>
            </a:r>
          </a:p>
          <a:p>
            <a:pPr>
              <a:spcBef>
                <a:spcPts val="250"/>
              </a:spcBef>
              <a:spcAft>
                <a:spcPts val="250"/>
              </a:spcAft>
            </a:pPr>
            <a:r>
              <a:rPr sz="1400" b="0" dirty="0">
                <a:solidFill>
                  <a:srgbClr val="E2E8F0"/>
                </a:solidFill>
                <a:latin typeface="Segoe UI"/>
              </a:rPr>
              <a:t>When analyzing long documents (e.g., Matterport Financial PDF), the model might confuse dates and facts.</a:t>
            </a:r>
          </a:p>
          <a:p>
            <a:pPr>
              <a:spcBef>
                <a:spcPts val="250"/>
              </a:spcBef>
              <a:spcAft>
                <a:spcPts val="250"/>
              </a:spcAft>
            </a:pPr>
            <a:r>
              <a:rPr sz="1400" b="0" dirty="0">
                <a:solidFill>
                  <a:srgbClr val="E2E8F0"/>
                </a:solidFill>
                <a:latin typeface="Segoe UI"/>
              </a:rPr>
              <a:t>Instead of asking for the answer directly, ask for quotes first:</a:t>
            </a:r>
          </a:p>
        </p:txBody>
      </p:sp>
      <p:sp>
        <p:nvSpPr>
          <p:cNvPr id="8" name="Rounded Rectangle 7"/>
          <p:cNvSpPr/>
          <p:nvPr/>
        </p:nvSpPr>
        <p:spPr>
          <a:xfrm>
            <a:off x="900000" y="2750000"/>
            <a:ext cx="10500000" cy="1850000"/>
          </a:xfrm>
          <a:prstGeom prst="roundRect">
            <a:avLst>
              <a:gd name="adj" fmla="val 6000"/>
            </a:avLst>
          </a:prstGeom>
          <a:solidFill>
            <a:srgbClr val="0B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00000" y="2850000"/>
            <a:ext cx="10100000" cy="1650000"/>
          </a:xfrm>
          <a:prstGeom prst="rect">
            <a:avLst/>
          </a:prstGeom>
          <a:noFill/>
        </p:spPr>
        <p:txBody>
          <a:bodyPr wrap="square">
            <a:spAutoFit/>
          </a:bodyPr>
          <a:lstStyle/>
          <a:p>
            <a:pPr>
              <a:spcBef>
                <a:spcPts val="150"/>
              </a:spcBef>
              <a:spcAft>
                <a:spcPts val="150"/>
              </a:spcAft>
            </a:pPr>
            <a:r>
              <a:rPr sz="1300" b="0" dirty="0">
                <a:solidFill>
                  <a:srgbClr val="4ADE80"/>
                </a:solidFill>
                <a:latin typeface="Segoe UI"/>
              </a:rPr>
              <a:t>"Read the text and answer the question.</a:t>
            </a:r>
          </a:p>
          <a:p>
            <a:pPr>
              <a:spcBef>
                <a:spcPts val="150"/>
              </a:spcBef>
              <a:spcAft>
                <a:spcPts val="150"/>
              </a:spcAft>
            </a:pPr>
            <a:r>
              <a:rPr sz="1300" b="0" dirty="0">
                <a:solidFill>
                  <a:srgbClr val="4ADE80"/>
                </a:solidFill>
                <a:latin typeface="Segoe UI"/>
              </a:rPr>
              <a:t>First, inside &lt;scratchpad&gt; tags, quote the most relevant sentences exactly as they appear in the text, and evaluate if they actually contain the answer.</a:t>
            </a:r>
          </a:p>
          <a:p>
            <a:pPr>
              <a:spcBef>
                <a:spcPts val="150"/>
              </a:spcBef>
              <a:spcAft>
                <a:spcPts val="150"/>
              </a:spcAft>
            </a:pPr>
            <a:r>
              <a:rPr sz="1300" b="0" dirty="0">
                <a:solidFill>
                  <a:srgbClr val="4ADE80"/>
                </a:solidFill>
                <a:latin typeface="Segoe UI"/>
              </a:rPr>
              <a:t>Then, provide your final answer in &lt;answer&gt; tags. If there isn't enough info, say so."</a:t>
            </a:r>
          </a:p>
        </p:txBody>
      </p:sp>
      <p:sp>
        <p:nvSpPr>
          <p:cNvPr id="10" name="Rounded Rectangle 9"/>
          <p:cNvSpPr/>
          <p:nvPr/>
        </p:nvSpPr>
        <p:spPr>
          <a:xfrm>
            <a:off x="731520" y="5000000"/>
            <a:ext cx="10881360" cy="140000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0000" y="5150000"/>
            <a:ext cx="10500000" cy="1100000"/>
          </a:xfrm>
          <a:prstGeom prst="rect">
            <a:avLst/>
          </a:prstGeom>
          <a:noFill/>
        </p:spPr>
        <p:txBody>
          <a:bodyPr wrap="square">
            <a:spAutoFit/>
          </a:bodyPr>
          <a:lstStyle/>
          <a:p>
            <a:pPr>
              <a:spcBef>
                <a:spcPts val="200"/>
              </a:spcBef>
              <a:spcAft>
                <a:spcPts val="200"/>
              </a:spcAft>
            </a:pPr>
            <a:r>
              <a:rPr sz="1800" b="1">
                <a:solidFill>
                  <a:srgbClr val="FBBF24"/>
                </a:solidFill>
                <a:latin typeface="Segoe UI"/>
              </a:rPr>
              <a:t>???  Bonus: Temperature = 0</a:t>
            </a:r>
          </a:p>
          <a:p>
            <a:pPr>
              <a:spcBef>
                <a:spcPts val="200"/>
              </a:spcBef>
              <a:spcAft>
                <a:spcPts val="200"/>
              </a:spcAft>
            </a:pPr>
            <a:r>
              <a:rPr sz="1400" b="0">
                <a:solidFill>
                  <a:srgbClr val="E2E8F0"/>
                </a:solidFill>
                <a:latin typeface="Segoe UI"/>
              </a:rPr>
              <a:t>Temperature controls creativity and randomness (0.0 to 1.0).</a:t>
            </a:r>
          </a:p>
          <a:p>
            <a:pPr>
              <a:spcBef>
                <a:spcPts val="200"/>
              </a:spcBef>
              <a:spcAft>
                <a:spcPts val="200"/>
              </a:spcAft>
            </a:pPr>
            <a:r>
              <a:rPr sz="1400" b="0">
                <a:solidFill>
                  <a:srgbClr val="E2E8F0"/>
                </a:solidFill>
                <a:latin typeface="Segoe UI"/>
              </a:rPr>
              <a:t>High (0.8+): Great for poems and brainstorming, but high risk of hallucination.</a:t>
            </a:r>
          </a:p>
          <a:p>
            <a:pPr>
              <a:spcBef>
                <a:spcPts val="200"/>
              </a:spcBef>
              <a:spcAft>
                <a:spcPts val="200"/>
              </a:spcAft>
            </a:pPr>
            <a:r>
              <a:rPr sz="1400" b="1">
                <a:solidFill>
                  <a:srgbClr val="22D3EE"/>
                </a:solidFill>
                <a:latin typeface="Segoe UI"/>
              </a:rPr>
              <a:t>Zero (0.0): Turns the AI into a strict, logical machine. Always use 0 for data extraction and analytical tasks!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animBg="1"/>
      <p:bldP spid="9" grpId="0"/>
      <p:bldP spid="10" grpId="0" animBg="1"/>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29E5DE49-77FF-002C-61FF-504801E2ED81}"/>
              </a:ext>
            </a:extLst>
          </p:cNvPr>
          <p:cNvPicPr>
            <a:picLocks noChangeAspect="1"/>
          </p:cNvPicPr>
          <p:nvPr/>
        </p:nvPicPr>
        <p:blipFill>
          <a:blip r:embed="rId2"/>
          <a:stretch>
            <a:fillRect/>
          </a:stretch>
        </p:blipFill>
        <p:spPr>
          <a:xfrm>
            <a:off x="433899" y="0"/>
            <a:ext cx="11324202"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1195F4A8-A93C-DABF-CAB8-B95FDB7B74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C50E02F-AF0D-A2D8-17AC-B7CE57590A83}"/>
              </a:ext>
            </a:extLst>
          </p:cNvPr>
          <p:cNvPicPr>
            <a:picLocks noChangeAspect="1"/>
          </p:cNvPicPr>
          <p:nvPr/>
        </p:nvPicPr>
        <p:blipFill>
          <a:blip r:embed="rId2"/>
          <a:stretch>
            <a:fillRect/>
          </a:stretch>
        </p:blipFill>
        <p:spPr>
          <a:xfrm>
            <a:off x="0" y="1353386"/>
            <a:ext cx="12192000" cy="4151227"/>
          </a:xfrm>
          <a:prstGeom prst="rect">
            <a:avLst/>
          </a:prstGeom>
        </p:spPr>
      </p:pic>
    </p:spTree>
    <p:extLst>
      <p:ext uri="{BB962C8B-B14F-4D97-AF65-F5344CB8AC3E}">
        <p14:creationId xmlns:p14="http://schemas.microsoft.com/office/powerpoint/2010/main" val="26122310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8F022CC1-5EC1-5C9C-FE3D-955CCDEC93C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689D9C6-7994-31A2-BD96-24CD8B77C93A}"/>
              </a:ext>
            </a:extLst>
          </p:cNvPr>
          <p:cNvPicPr>
            <a:picLocks noChangeAspect="1"/>
          </p:cNvPicPr>
          <p:nvPr/>
        </p:nvPicPr>
        <p:blipFill>
          <a:blip r:embed="rId2"/>
          <a:stretch>
            <a:fillRect/>
          </a:stretch>
        </p:blipFill>
        <p:spPr>
          <a:xfrm>
            <a:off x="0" y="612347"/>
            <a:ext cx="12192000" cy="5633306"/>
          </a:xfrm>
          <a:prstGeom prst="rect">
            <a:avLst/>
          </a:prstGeom>
        </p:spPr>
      </p:pic>
    </p:spTree>
    <p:extLst>
      <p:ext uri="{BB962C8B-B14F-4D97-AF65-F5344CB8AC3E}">
        <p14:creationId xmlns:p14="http://schemas.microsoft.com/office/powerpoint/2010/main" val="659903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B485A6EC-9AF0-6745-1F0E-E7A58422128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A5DB424-8389-E1F4-4A7E-325BE7D34D0F}"/>
              </a:ext>
            </a:extLst>
          </p:cNvPr>
          <p:cNvPicPr>
            <a:picLocks noChangeAspect="1"/>
          </p:cNvPicPr>
          <p:nvPr/>
        </p:nvPicPr>
        <p:blipFill>
          <a:blip r:embed="rId2"/>
          <a:stretch>
            <a:fillRect/>
          </a:stretch>
        </p:blipFill>
        <p:spPr>
          <a:xfrm>
            <a:off x="0" y="381000"/>
            <a:ext cx="12192000" cy="6096000"/>
          </a:xfrm>
          <a:prstGeom prst="rect">
            <a:avLst/>
          </a:prstGeom>
        </p:spPr>
      </p:pic>
    </p:spTree>
    <p:extLst>
      <p:ext uri="{BB962C8B-B14F-4D97-AF65-F5344CB8AC3E}">
        <p14:creationId xmlns:p14="http://schemas.microsoft.com/office/powerpoint/2010/main" val="18939465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Toolkit &amp; Resources</a:t>
            </a:r>
          </a:p>
        </p:txBody>
      </p:sp>
      <p:sp>
        <p:nvSpPr>
          <p:cNvPr id="3" name="Rectangle 2"/>
          <p:cNvSpPr/>
          <p:nvPr/>
        </p:nvSpPr>
        <p:spPr>
          <a:xfrm>
            <a:off x="731520" y="100584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371600"/>
            <a:ext cx="338328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371600"/>
            <a:ext cx="3383280" cy="50800"/>
          </a:xfrm>
          <a:prstGeom prst="roundRect">
            <a:avLst>
              <a:gd name="adj" fmla="val 4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3017520" cy="457200"/>
          </a:xfrm>
          <a:prstGeom prst="rect">
            <a:avLst/>
          </a:prstGeom>
          <a:noFill/>
        </p:spPr>
        <p:txBody>
          <a:bodyPr wrap="square">
            <a:spAutoFit/>
          </a:bodyPr>
          <a:lstStyle/>
          <a:p>
            <a:pPr algn="l">
              <a:defRPr sz="2000" b="1">
                <a:solidFill>
                  <a:srgbClr val="38BDF8"/>
                </a:solidFill>
                <a:latin typeface="Segoe UI"/>
              </a:defRPr>
            </a:pPr>
            <a:r>
              <a:t>📚  Prompt Libraries</a:t>
            </a:r>
          </a:p>
        </p:txBody>
      </p:sp>
      <p:sp>
        <p:nvSpPr>
          <p:cNvPr id="7" name="TextBox 6"/>
          <p:cNvSpPr txBox="1"/>
          <p:nvPr/>
        </p:nvSpPr>
        <p:spPr>
          <a:xfrm>
            <a:off x="914400" y="2194560"/>
            <a:ext cx="3017520" cy="2743200"/>
          </a:xfrm>
          <a:prstGeom prst="rect">
            <a:avLst/>
          </a:prstGeom>
          <a:noFill/>
        </p:spPr>
        <p:txBody>
          <a:bodyPr wrap="square">
            <a:spAutoFit/>
          </a:bodyPr>
          <a:lstStyle/>
          <a:p>
            <a:endParaRPr/>
          </a:p>
          <a:p>
            <a:pPr>
              <a:spcBef>
                <a:spcPts val="300"/>
              </a:spcBef>
              <a:spcAft>
                <a:spcPts val="300"/>
              </a:spcAft>
              <a:defRPr sz="1400">
                <a:solidFill>
                  <a:srgbClr val="E2E8F0"/>
                </a:solidFill>
                <a:latin typeface="Segoe UI"/>
              </a:defRPr>
            </a:pPr>
            <a:r>
              <a:t>PromptBase</a:t>
            </a:r>
          </a:p>
          <a:p>
            <a:pPr>
              <a:spcBef>
                <a:spcPts val="300"/>
              </a:spcBef>
              <a:spcAft>
                <a:spcPts val="300"/>
              </a:spcAft>
              <a:defRPr sz="1400">
                <a:solidFill>
                  <a:srgbClr val="E2E8F0"/>
                </a:solidFill>
                <a:latin typeface="Segoe UI"/>
              </a:defRPr>
            </a:pPr>
            <a:r>
              <a:t>FlowGPT</a:t>
            </a:r>
          </a:p>
          <a:p>
            <a:pPr>
              <a:spcBef>
                <a:spcPts val="300"/>
              </a:spcBef>
              <a:spcAft>
                <a:spcPts val="300"/>
              </a:spcAft>
              <a:defRPr sz="1400">
                <a:solidFill>
                  <a:srgbClr val="E2E8F0"/>
                </a:solidFill>
                <a:latin typeface="Segoe UI"/>
              </a:defRPr>
            </a:pPr>
            <a:r>
              <a:t>OpenAI examples</a:t>
            </a:r>
          </a:p>
          <a:p>
            <a:pPr>
              <a:spcBef>
                <a:spcPts val="300"/>
              </a:spcBef>
              <a:spcAft>
                <a:spcPts val="300"/>
              </a:spcAft>
              <a:defRPr sz="1400">
                <a:solidFill>
                  <a:srgbClr val="E2E8F0"/>
                </a:solidFill>
                <a:latin typeface="Segoe UI"/>
              </a:defRPr>
            </a:pPr>
            <a:r>
              <a:t>Anthropic prompt library</a:t>
            </a:r>
          </a:p>
          <a:p>
            <a:pPr>
              <a:spcBef>
                <a:spcPts val="300"/>
              </a:spcBef>
              <a:spcAft>
                <a:spcPts val="300"/>
              </a:spcAft>
              <a:defRPr sz="1400">
                <a:solidFill>
                  <a:srgbClr val="E2E8F0"/>
                </a:solidFill>
                <a:latin typeface="Segoe UI"/>
              </a:defRPr>
            </a:pPr>
            <a:r>
              <a:t>Save &amp; adapt templates for your roles</a:t>
            </a:r>
          </a:p>
        </p:txBody>
      </p:sp>
      <p:sp>
        <p:nvSpPr>
          <p:cNvPr id="8" name="Rounded Rectangle 7"/>
          <p:cNvSpPr/>
          <p:nvPr/>
        </p:nvSpPr>
        <p:spPr>
          <a:xfrm>
            <a:off x="4389120" y="1371600"/>
            <a:ext cx="338328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89120" y="1371600"/>
            <a:ext cx="3383280" cy="50800"/>
          </a:xfrm>
          <a:prstGeom prst="roundRect">
            <a:avLst>
              <a:gd name="adj" fmla="val 4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1645920"/>
            <a:ext cx="3017520" cy="457200"/>
          </a:xfrm>
          <a:prstGeom prst="rect">
            <a:avLst/>
          </a:prstGeom>
          <a:noFill/>
        </p:spPr>
        <p:txBody>
          <a:bodyPr wrap="square">
            <a:spAutoFit/>
          </a:bodyPr>
          <a:lstStyle/>
          <a:p>
            <a:pPr algn="l">
              <a:defRPr sz="2000" b="1">
                <a:solidFill>
                  <a:srgbClr val="4ADE80"/>
                </a:solidFill>
                <a:latin typeface="Segoe UI"/>
              </a:defRPr>
            </a:pPr>
            <a:r>
              <a:t>📖  Official Guides</a:t>
            </a:r>
          </a:p>
        </p:txBody>
      </p:sp>
      <p:sp>
        <p:nvSpPr>
          <p:cNvPr id="11" name="TextBox 10"/>
          <p:cNvSpPr txBox="1"/>
          <p:nvPr/>
        </p:nvSpPr>
        <p:spPr>
          <a:xfrm>
            <a:off x="4572000" y="2194560"/>
            <a:ext cx="3017520" cy="2743200"/>
          </a:xfrm>
          <a:prstGeom prst="rect">
            <a:avLst/>
          </a:prstGeom>
          <a:noFill/>
        </p:spPr>
        <p:txBody>
          <a:bodyPr wrap="square">
            <a:spAutoFit/>
          </a:bodyPr>
          <a:lstStyle/>
          <a:p>
            <a:endParaRPr/>
          </a:p>
          <a:p>
            <a:pPr>
              <a:spcBef>
                <a:spcPts val="300"/>
              </a:spcBef>
              <a:spcAft>
                <a:spcPts val="300"/>
              </a:spcAft>
              <a:defRPr sz="1400">
                <a:solidFill>
                  <a:srgbClr val="E2E8F0"/>
                </a:solidFill>
                <a:latin typeface="Segoe UI"/>
              </a:defRPr>
            </a:pPr>
            <a:r>
              <a:t>Anthropic — prompting docs &amp; safety</a:t>
            </a:r>
          </a:p>
          <a:p>
            <a:pPr>
              <a:spcBef>
                <a:spcPts val="300"/>
              </a:spcBef>
              <a:spcAft>
                <a:spcPts val="300"/>
              </a:spcAft>
              <a:defRPr sz="1400">
                <a:solidFill>
                  <a:srgbClr val="E2E8F0"/>
                </a:solidFill>
                <a:latin typeface="Segoe UI"/>
              </a:defRPr>
            </a:pPr>
            <a:r>
              <a:t>OpenAI — prompt engineering guide</a:t>
            </a:r>
          </a:p>
          <a:p>
            <a:pPr>
              <a:spcBef>
                <a:spcPts val="300"/>
              </a:spcBef>
              <a:spcAft>
                <a:spcPts val="300"/>
              </a:spcAft>
              <a:defRPr sz="1400">
                <a:solidFill>
                  <a:srgbClr val="E2E8F0"/>
                </a:solidFill>
                <a:latin typeface="Segoe UI"/>
              </a:defRPr>
            </a:pPr>
            <a:r>
              <a:t>Google — Gemini API best practices</a:t>
            </a:r>
          </a:p>
          <a:p>
            <a:pPr>
              <a:spcBef>
                <a:spcPts val="300"/>
              </a:spcBef>
              <a:spcAft>
                <a:spcPts val="300"/>
              </a:spcAft>
              <a:defRPr sz="1400">
                <a:solidFill>
                  <a:srgbClr val="E2E8F0"/>
                </a:solidFill>
                <a:latin typeface="Segoe UI"/>
              </a:defRPr>
            </a:pPr>
            <a:r>
              <a:t>Check model-specific tips &amp; limits</a:t>
            </a:r>
          </a:p>
        </p:txBody>
      </p:sp>
      <p:sp>
        <p:nvSpPr>
          <p:cNvPr id="12" name="Rounded Rectangle 11"/>
          <p:cNvSpPr/>
          <p:nvPr/>
        </p:nvSpPr>
        <p:spPr>
          <a:xfrm>
            <a:off x="8046720" y="1371600"/>
            <a:ext cx="338328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046720" y="1371600"/>
            <a:ext cx="3383280" cy="50800"/>
          </a:xfrm>
          <a:prstGeom prst="roundRect">
            <a:avLst>
              <a:gd name="adj" fmla="val 4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0" y="1645920"/>
            <a:ext cx="3017520" cy="457200"/>
          </a:xfrm>
          <a:prstGeom prst="rect">
            <a:avLst/>
          </a:prstGeom>
          <a:noFill/>
        </p:spPr>
        <p:txBody>
          <a:bodyPr wrap="square">
            <a:spAutoFit/>
          </a:bodyPr>
          <a:lstStyle/>
          <a:p>
            <a:pPr algn="l">
              <a:defRPr sz="2000" b="1">
                <a:solidFill>
                  <a:srgbClr val="FBBF24"/>
                </a:solidFill>
                <a:latin typeface="Segoe UI"/>
              </a:defRPr>
            </a:pPr>
            <a:r>
              <a:t>📓  Prompt Journal</a:t>
            </a:r>
          </a:p>
        </p:txBody>
      </p:sp>
      <p:sp>
        <p:nvSpPr>
          <p:cNvPr id="15" name="TextBox 14"/>
          <p:cNvSpPr txBox="1"/>
          <p:nvPr/>
        </p:nvSpPr>
        <p:spPr>
          <a:xfrm>
            <a:off x="8229600" y="2194560"/>
            <a:ext cx="3017520" cy="2743200"/>
          </a:xfrm>
          <a:prstGeom prst="rect">
            <a:avLst/>
          </a:prstGeom>
          <a:noFill/>
        </p:spPr>
        <p:txBody>
          <a:bodyPr wrap="square">
            <a:spAutoFit/>
          </a:bodyPr>
          <a:lstStyle/>
          <a:p>
            <a:endParaRPr/>
          </a:p>
          <a:p>
            <a:pPr>
              <a:spcBef>
                <a:spcPts val="300"/>
              </a:spcBef>
              <a:spcAft>
                <a:spcPts val="300"/>
              </a:spcAft>
              <a:defRPr sz="1400">
                <a:solidFill>
                  <a:srgbClr val="E2E8F0"/>
                </a:solidFill>
                <a:latin typeface="Segoe UI"/>
              </a:defRPr>
            </a:pPr>
            <a:r>
              <a:t>Save prompts that work well</a:t>
            </a:r>
          </a:p>
          <a:p>
            <a:pPr>
              <a:spcBef>
                <a:spcPts val="300"/>
              </a:spcBef>
              <a:spcAft>
                <a:spcPts val="300"/>
              </a:spcAft>
              <a:defRPr sz="1400">
                <a:solidFill>
                  <a:srgbClr val="E2E8F0"/>
                </a:solidFill>
                <a:latin typeface="Segoe UI"/>
              </a:defRPr>
            </a:pPr>
            <a:r>
              <a:t>Note model + settings used</a:t>
            </a:r>
          </a:p>
          <a:p>
            <a:pPr>
              <a:spcBef>
                <a:spcPts val="300"/>
              </a:spcBef>
              <a:spcAft>
                <a:spcPts val="300"/>
              </a:spcAft>
              <a:defRPr sz="1400">
                <a:solidFill>
                  <a:srgbClr val="E2E8F0"/>
                </a:solidFill>
                <a:latin typeface="Segoe UI"/>
              </a:defRPr>
            </a:pPr>
            <a:r>
              <a:t>Record what you changed</a:t>
            </a:r>
          </a:p>
          <a:p>
            <a:pPr>
              <a:spcBef>
                <a:spcPts val="300"/>
              </a:spcBef>
              <a:spcAft>
                <a:spcPts val="300"/>
              </a:spcAft>
              <a:defRPr sz="1400">
                <a:solidFill>
                  <a:srgbClr val="E2E8F0"/>
                </a:solidFill>
                <a:latin typeface="Segoe UI"/>
              </a:defRPr>
            </a:pPr>
            <a:r>
              <a:t>Build a personal library</a:t>
            </a:r>
          </a:p>
          <a:p>
            <a:pPr>
              <a:spcBef>
                <a:spcPts val="300"/>
              </a:spcBef>
              <a:spcAft>
                <a:spcPts val="300"/>
              </a:spcAft>
              <a:defRPr sz="1400">
                <a:solidFill>
                  <a:srgbClr val="E2E8F0"/>
                </a:solidFill>
                <a:latin typeface="Segoe UI"/>
              </a:defRPr>
            </a:pPr>
            <a:r>
              <a:t>"support" / "outline" / "summarize"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Key Takeaways</a:t>
            </a:r>
          </a:p>
        </p:txBody>
      </p:sp>
      <p:sp>
        <p:nvSpPr>
          <p:cNvPr id="3" name="Rectangle 2"/>
          <p:cNvSpPr/>
          <p:nvPr/>
        </p:nvSpPr>
        <p:spPr>
          <a:xfrm>
            <a:off x="731520" y="100584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371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371600"/>
            <a:ext cx="2606040" cy="50800"/>
          </a:xfrm>
          <a:prstGeom prst="roundRect">
            <a:avLst>
              <a:gd name="adj" fmla="val 4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508760"/>
            <a:ext cx="2331720" cy="457200"/>
          </a:xfrm>
          <a:prstGeom prst="rect">
            <a:avLst/>
          </a:prstGeom>
          <a:noFill/>
        </p:spPr>
        <p:txBody>
          <a:bodyPr wrap="square">
            <a:spAutoFit/>
          </a:bodyPr>
          <a:lstStyle/>
          <a:p>
            <a:pPr algn="l">
              <a:defRPr sz="1800" b="1">
                <a:solidFill>
                  <a:srgbClr val="38BDF8"/>
                </a:solidFill>
                <a:latin typeface="Segoe UI"/>
              </a:defRPr>
            </a:pPr>
            <a:r>
              <a:t>🎯  Be Specific</a:t>
            </a:r>
          </a:p>
        </p:txBody>
      </p:sp>
      <p:sp>
        <p:nvSpPr>
          <p:cNvPr id="7" name="TextBox 6"/>
          <p:cNvSpPr txBox="1"/>
          <p:nvPr/>
        </p:nvSpPr>
        <p:spPr>
          <a:xfrm>
            <a:off x="594360" y="2011680"/>
            <a:ext cx="2331720" cy="914400"/>
          </a:xfrm>
          <a:prstGeom prst="rect">
            <a:avLst/>
          </a:prstGeom>
          <a:noFill/>
        </p:spPr>
        <p:txBody>
          <a:bodyPr wrap="square">
            <a:spAutoFit/>
          </a:bodyPr>
          <a:lstStyle/>
          <a:p>
            <a:pPr algn="l">
              <a:defRPr sz="1400" b="0">
                <a:solidFill>
                  <a:srgbClr val="E2E8F0"/>
                </a:solidFill>
                <a:latin typeface="Segoe UI"/>
              </a:defRPr>
            </a:pPr>
            <a:r>
              <a:t>Role, audience, tone, format — every time</a:t>
            </a:r>
          </a:p>
        </p:txBody>
      </p:sp>
      <p:sp>
        <p:nvSpPr>
          <p:cNvPr id="8" name="Rounded Rectangle 7"/>
          <p:cNvSpPr/>
          <p:nvPr/>
        </p:nvSpPr>
        <p:spPr>
          <a:xfrm>
            <a:off x="3291840" y="1371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291840" y="1371600"/>
            <a:ext cx="2606040" cy="50800"/>
          </a:xfrm>
          <a:prstGeom prst="roundRect">
            <a:avLst>
              <a:gd name="adj" fmla="val 4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29000" y="1508760"/>
            <a:ext cx="2331720" cy="457200"/>
          </a:xfrm>
          <a:prstGeom prst="rect">
            <a:avLst/>
          </a:prstGeom>
          <a:noFill/>
        </p:spPr>
        <p:txBody>
          <a:bodyPr wrap="square">
            <a:spAutoFit/>
          </a:bodyPr>
          <a:lstStyle/>
          <a:p>
            <a:pPr algn="l">
              <a:defRPr sz="1800" b="1">
                <a:solidFill>
                  <a:srgbClr val="4ADE80"/>
                </a:solidFill>
                <a:latin typeface="Segoe UI"/>
              </a:defRPr>
            </a:pPr>
            <a:r>
              <a:t>📋  Use Examples</a:t>
            </a:r>
          </a:p>
        </p:txBody>
      </p:sp>
      <p:sp>
        <p:nvSpPr>
          <p:cNvPr id="11" name="TextBox 10"/>
          <p:cNvSpPr txBox="1"/>
          <p:nvPr/>
        </p:nvSpPr>
        <p:spPr>
          <a:xfrm>
            <a:off x="3429000" y="2011680"/>
            <a:ext cx="2331720" cy="914400"/>
          </a:xfrm>
          <a:prstGeom prst="rect">
            <a:avLst/>
          </a:prstGeom>
          <a:noFill/>
        </p:spPr>
        <p:txBody>
          <a:bodyPr wrap="square">
            <a:spAutoFit/>
          </a:bodyPr>
          <a:lstStyle/>
          <a:p>
            <a:pPr algn="l">
              <a:defRPr sz="1400" b="0">
                <a:solidFill>
                  <a:srgbClr val="E2E8F0"/>
                </a:solidFill>
                <a:latin typeface="Segoe UI"/>
              </a:defRPr>
            </a:pPr>
            <a:r>
              <a:t>Few-shot examples teach patterns reliably</a:t>
            </a:r>
          </a:p>
        </p:txBody>
      </p:sp>
      <p:sp>
        <p:nvSpPr>
          <p:cNvPr id="12" name="Rounded Rectangle 11"/>
          <p:cNvSpPr/>
          <p:nvPr/>
        </p:nvSpPr>
        <p:spPr>
          <a:xfrm>
            <a:off x="6126480" y="1371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26480" y="1371600"/>
            <a:ext cx="2606040" cy="50800"/>
          </a:xfrm>
          <a:prstGeom prst="roundRect">
            <a:avLst>
              <a:gd name="adj" fmla="val 4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3640" y="1508760"/>
            <a:ext cx="2331720" cy="457200"/>
          </a:xfrm>
          <a:prstGeom prst="rect">
            <a:avLst/>
          </a:prstGeom>
          <a:noFill/>
        </p:spPr>
        <p:txBody>
          <a:bodyPr wrap="square">
            <a:spAutoFit/>
          </a:bodyPr>
          <a:lstStyle/>
          <a:p>
            <a:pPr algn="l">
              <a:defRPr sz="1800" b="1">
                <a:solidFill>
                  <a:srgbClr val="FBBF24"/>
                </a:solidFill>
                <a:latin typeface="Segoe UI"/>
              </a:defRPr>
            </a:pPr>
            <a:r>
              <a:t>🧠  Ask for Reasoning</a:t>
            </a:r>
          </a:p>
        </p:txBody>
      </p:sp>
      <p:sp>
        <p:nvSpPr>
          <p:cNvPr id="15" name="TextBox 14"/>
          <p:cNvSpPr txBox="1"/>
          <p:nvPr/>
        </p:nvSpPr>
        <p:spPr>
          <a:xfrm>
            <a:off x="6263640" y="2011680"/>
            <a:ext cx="2331720" cy="914400"/>
          </a:xfrm>
          <a:prstGeom prst="rect">
            <a:avLst/>
          </a:prstGeom>
          <a:noFill/>
        </p:spPr>
        <p:txBody>
          <a:bodyPr wrap="square">
            <a:spAutoFit/>
          </a:bodyPr>
          <a:lstStyle/>
          <a:p>
            <a:pPr algn="l">
              <a:defRPr sz="1400" b="0">
                <a:solidFill>
                  <a:srgbClr val="E2E8F0"/>
                </a:solidFill>
                <a:latin typeface="Segoe UI"/>
              </a:defRPr>
            </a:pPr>
            <a:r>
              <a:t>Chain-of-thought for logic &amp; multi-step</a:t>
            </a:r>
          </a:p>
        </p:txBody>
      </p:sp>
      <p:sp>
        <p:nvSpPr>
          <p:cNvPr id="16" name="Rounded Rectangle 15"/>
          <p:cNvSpPr/>
          <p:nvPr/>
        </p:nvSpPr>
        <p:spPr>
          <a:xfrm>
            <a:off x="8961120" y="1371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961120" y="1371600"/>
            <a:ext cx="2606040" cy="50800"/>
          </a:xfrm>
          <a:prstGeom prst="roundRect">
            <a:avLst>
              <a:gd name="adj" fmla="val 4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098280" y="1508760"/>
            <a:ext cx="2331720" cy="457200"/>
          </a:xfrm>
          <a:prstGeom prst="rect">
            <a:avLst/>
          </a:prstGeom>
          <a:noFill/>
        </p:spPr>
        <p:txBody>
          <a:bodyPr wrap="square">
            <a:spAutoFit/>
          </a:bodyPr>
          <a:lstStyle/>
          <a:p>
            <a:pPr algn="l">
              <a:defRPr sz="1800" b="1">
                <a:solidFill>
                  <a:srgbClr val="A78BFA"/>
                </a:solidFill>
                <a:latin typeface="Segoe UI"/>
              </a:defRPr>
            </a:pPr>
            <a:r>
              <a:t>📊  Request Structure</a:t>
            </a:r>
          </a:p>
        </p:txBody>
      </p:sp>
      <p:sp>
        <p:nvSpPr>
          <p:cNvPr id="19" name="TextBox 18"/>
          <p:cNvSpPr txBox="1"/>
          <p:nvPr/>
        </p:nvSpPr>
        <p:spPr>
          <a:xfrm>
            <a:off x="9098280" y="2011680"/>
            <a:ext cx="2331720" cy="914400"/>
          </a:xfrm>
          <a:prstGeom prst="rect">
            <a:avLst/>
          </a:prstGeom>
          <a:noFill/>
        </p:spPr>
        <p:txBody>
          <a:bodyPr wrap="square">
            <a:spAutoFit/>
          </a:bodyPr>
          <a:lstStyle/>
          <a:p>
            <a:pPr algn="l">
              <a:defRPr sz="1400" b="0">
                <a:solidFill>
                  <a:srgbClr val="E2E8F0"/>
                </a:solidFill>
                <a:latin typeface="Segoe UI"/>
              </a:defRPr>
            </a:pPr>
            <a:r>
              <a:t>JSON/markdown — parseable outputs</a:t>
            </a:r>
          </a:p>
        </p:txBody>
      </p:sp>
      <p:sp>
        <p:nvSpPr>
          <p:cNvPr id="20" name="Rounded Rectangle 19"/>
          <p:cNvSpPr/>
          <p:nvPr/>
        </p:nvSpPr>
        <p:spPr>
          <a:xfrm>
            <a:off x="457200" y="3657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57200" y="3657600"/>
            <a:ext cx="2606040" cy="50800"/>
          </a:xfrm>
          <a:prstGeom prst="roundRect">
            <a:avLst>
              <a:gd name="adj" fmla="val 4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3794760"/>
            <a:ext cx="2331720" cy="457200"/>
          </a:xfrm>
          <a:prstGeom prst="rect">
            <a:avLst/>
          </a:prstGeom>
          <a:noFill/>
        </p:spPr>
        <p:txBody>
          <a:bodyPr wrap="square">
            <a:spAutoFit/>
          </a:bodyPr>
          <a:lstStyle/>
          <a:p>
            <a:pPr algn="l">
              <a:defRPr sz="1800" b="1">
                <a:solidFill>
                  <a:srgbClr val="F87171"/>
                </a:solidFill>
                <a:latin typeface="Segoe UI"/>
              </a:defRPr>
            </a:pPr>
            <a:r>
              <a:t>🚫  Set Constraints</a:t>
            </a:r>
          </a:p>
        </p:txBody>
      </p:sp>
      <p:sp>
        <p:nvSpPr>
          <p:cNvPr id="23" name="TextBox 22"/>
          <p:cNvSpPr txBox="1"/>
          <p:nvPr/>
        </p:nvSpPr>
        <p:spPr>
          <a:xfrm>
            <a:off x="594360" y="4297680"/>
            <a:ext cx="2331720" cy="914400"/>
          </a:xfrm>
          <a:prstGeom prst="rect">
            <a:avLst/>
          </a:prstGeom>
          <a:noFill/>
        </p:spPr>
        <p:txBody>
          <a:bodyPr wrap="square">
            <a:spAutoFit/>
          </a:bodyPr>
          <a:lstStyle/>
          <a:p>
            <a:pPr algn="l">
              <a:defRPr sz="1400" b="0">
                <a:solidFill>
                  <a:srgbClr val="E2E8F0"/>
                </a:solidFill>
                <a:latin typeface="Segoe UI"/>
              </a:defRPr>
            </a:pPr>
            <a:r>
              <a:t>Say what you don't want + iterate</a:t>
            </a:r>
          </a:p>
        </p:txBody>
      </p:sp>
      <p:sp>
        <p:nvSpPr>
          <p:cNvPr id="24" name="Rounded Rectangle 23"/>
          <p:cNvSpPr/>
          <p:nvPr/>
        </p:nvSpPr>
        <p:spPr>
          <a:xfrm>
            <a:off x="3291840" y="3657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291840" y="3657600"/>
            <a:ext cx="2606040" cy="50800"/>
          </a:xfrm>
          <a:prstGeom prst="roundRect">
            <a:avLst>
              <a:gd name="adj" fmla="val 4000"/>
            </a:avLst>
          </a:prstGeom>
          <a:solidFill>
            <a:srgbClr val="E87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429000" y="3794760"/>
            <a:ext cx="2331720" cy="457200"/>
          </a:xfrm>
          <a:prstGeom prst="rect">
            <a:avLst/>
          </a:prstGeom>
          <a:noFill/>
        </p:spPr>
        <p:txBody>
          <a:bodyPr wrap="square">
            <a:spAutoFit/>
          </a:bodyPr>
          <a:lstStyle/>
          <a:p>
            <a:pPr algn="l">
              <a:defRPr sz="1800" b="1">
                <a:solidFill>
                  <a:srgbClr val="E879F9"/>
                </a:solidFill>
                <a:latin typeface="Segoe UI"/>
              </a:defRPr>
            </a:pPr>
            <a:r>
              <a:t>🎤  Let It Ask</a:t>
            </a:r>
          </a:p>
        </p:txBody>
      </p:sp>
      <p:sp>
        <p:nvSpPr>
          <p:cNvPr id="27" name="TextBox 26"/>
          <p:cNvSpPr txBox="1"/>
          <p:nvPr/>
        </p:nvSpPr>
        <p:spPr>
          <a:xfrm>
            <a:off x="3429000" y="4297680"/>
            <a:ext cx="2331720" cy="914400"/>
          </a:xfrm>
          <a:prstGeom prst="rect">
            <a:avLst/>
          </a:prstGeom>
          <a:noFill/>
        </p:spPr>
        <p:txBody>
          <a:bodyPr wrap="square">
            <a:spAutoFit/>
          </a:bodyPr>
          <a:lstStyle/>
          <a:p>
            <a:pPr algn="l">
              <a:defRPr sz="1400" b="0">
                <a:solidFill>
                  <a:srgbClr val="E2E8F0"/>
                </a:solidFill>
                <a:latin typeface="Segoe UI"/>
              </a:defRPr>
            </a:pPr>
            <a:r>
              <a:t>Interview-style for complex tasks</a:t>
            </a:r>
          </a:p>
        </p:txBody>
      </p:sp>
      <p:sp>
        <p:nvSpPr>
          <p:cNvPr id="28" name="Rounded Rectangle 27"/>
          <p:cNvSpPr/>
          <p:nvPr/>
        </p:nvSpPr>
        <p:spPr>
          <a:xfrm>
            <a:off x="6126480" y="3657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126480" y="3657600"/>
            <a:ext cx="2606040" cy="50800"/>
          </a:xfrm>
          <a:prstGeom prst="roundRect">
            <a:avLst>
              <a:gd name="adj" fmla="val 4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63640" y="3794760"/>
            <a:ext cx="2331720" cy="457200"/>
          </a:xfrm>
          <a:prstGeom prst="rect">
            <a:avLst/>
          </a:prstGeom>
          <a:noFill/>
        </p:spPr>
        <p:txBody>
          <a:bodyPr wrap="square">
            <a:spAutoFit/>
          </a:bodyPr>
          <a:lstStyle/>
          <a:p>
            <a:pPr algn="l">
              <a:defRPr sz="1800" b="1">
                <a:solidFill>
                  <a:srgbClr val="22D3EE"/>
                </a:solidFill>
                <a:latin typeface="Segoe UI"/>
              </a:defRPr>
            </a:pPr>
            <a:r>
              <a:t>🔗  Chain Steps</a:t>
            </a:r>
          </a:p>
        </p:txBody>
      </p:sp>
      <p:sp>
        <p:nvSpPr>
          <p:cNvPr id="31" name="TextBox 30"/>
          <p:cNvSpPr txBox="1"/>
          <p:nvPr/>
        </p:nvSpPr>
        <p:spPr>
          <a:xfrm>
            <a:off x="6263640" y="4297680"/>
            <a:ext cx="2331720" cy="914400"/>
          </a:xfrm>
          <a:prstGeom prst="rect">
            <a:avLst/>
          </a:prstGeom>
          <a:noFill/>
        </p:spPr>
        <p:txBody>
          <a:bodyPr wrap="square">
            <a:spAutoFit/>
          </a:bodyPr>
          <a:lstStyle/>
          <a:p>
            <a:pPr algn="l">
              <a:defRPr sz="1400" b="0">
                <a:solidFill>
                  <a:srgbClr val="E2E8F0"/>
                </a:solidFill>
                <a:latin typeface="Segoe UI"/>
              </a:defRPr>
            </a:pPr>
            <a:r>
              <a:t>Break big tasks into pipeline stages</a:t>
            </a:r>
          </a:p>
        </p:txBody>
      </p:sp>
      <p:sp>
        <p:nvSpPr>
          <p:cNvPr id="32" name="Rounded Rectangle 31"/>
          <p:cNvSpPr/>
          <p:nvPr/>
        </p:nvSpPr>
        <p:spPr>
          <a:xfrm>
            <a:off x="8961120" y="3657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961120" y="3657600"/>
            <a:ext cx="2606040" cy="50800"/>
          </a:xfrm>
          <a:prstGeom prst="roundRect">
            <a:avLst>
              <a:gd name="adj" fmla="val 4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98280" y="3794760"/>
            <a:ext cx="2331720" cy="457200"/>
          </a:xfrm>
          <a:prstGeom prst="rect">
            <a:avLst/>
          </a:prstGeom>
          <a:noFill/>
        </p:spPr>
        <p:txBody>
          <a:bodyPr wrap="square">
            <a:spAutoFit/>
          </a:bodyPr>
          <a:lstStyle/>
          <a:p>
            <a:pPr algn="l">
              <a:defRPr sz="1800" b="1">
                <a:solidFill>
                  <a:srgbClr val="FBBF24"/>
                </a:solidFill>
                <a:latin typeface="Segoe UI"/>
              </a:defRPr>
            </a:pPr>
            <a:r>
              <a:t>📓  Keep a Journal</a:t>
            </a:r>
          </a:p>
        </p:txBody>
      </p:sp>
      <p:sp>
        <p:nvSpPr>
          <p:cNvPr id="35" name="TextBox 34"/>
          <p:cNvSpPr txBox="1"/>
          <p:nvPr/>
        </p:nvSpPr>
        <p:spPr>
          <a:xfrm>
            <a:off x="9098280" y="4297680"/>
            <a:ext cx="2331720" cy="914400"/>
          </a:xfrm>
          <a:prstGeom prst="rect">
            <a:avLst/>
          </a:prstGeom>
          <a:noFill/>
        </p:spPr>
        <p:txBody>
          <a:bodyPr wrap="square">
            <a:spAutoFit/>
          </a:bodyPr>
          <a:lstStyle/>
          <a:p>
            <a:pPr algn="l">
              <a:defRPr sz="1400" b="0">
                <a:solidFill>
                  <a:srgbClr val="E2E8F0"/>
                </a:solidFill>
                <a:latin typeface="Segoe UI"/>
              </a:defRPr>
            </a:pPr>
            <a:r>
              <a:t>Save, version, and improve prompts</a:t>
            </a:r>
          </a:p>
        </p:txBody>
      </p:sp>
      <p:sp>
        <p:nvSpPr>
          <p:cNvPr id="36" name="Rounded Rectangle 35"/>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05840" y="5760720"/>
            <a:ext cx="10058400" cy="548640"/>
          </a:xfrm>
          <a:prstGeom prst="rect">
            <a:avLst/>
          </a:prstGeom>
          <a:noFill/>
        </p:spPr>
        <p:txBody>
          <a:bodyPr wrap="square">
            <a:spAutoFit/>
          </a:bodyPr>
          <a:lstStyle/>
          <a:p>
            <a:pPr algn="l">
              <a:defRPr sz="1700" b="0">
                <a:solidFill>
                  <a:srgbClr val="38BDF8"/>
                </a:solidFill>
                <a:latin typeface="Segoe UI"/>
              </a:defRPr>
            </a:pPr>
            <a:r>
              <a:t>🚀  Next step: Pick ONE technique and try it on a task you do every week. Save the prompt that works.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val 1"/>
          <p:cNvSpPr/>
          <p:nvPr/>
        </p:nvSpPr>
        <p:spPr>
          <a:xfrm>
            <a:off x="-914400" y="-914400"/>
            <a:ext cx="3200400" cy="32004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601200" y="4572000"/>
            <a:ext cx="3657600" cy="36576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1828800"/>
            <a:ext cx="9144000" cy="914400"/>
          </a:xfrm>
          <a:prstGeom prst="rect">
            <a:avLst/>
          </a:prstGeom>
          <a:noFill/>
        </p:spPr>
        <p:txBody>
          <a:bodyPr wrap="square">
            <a:spAutoFit/>
          </a:bodyPr>
          <a:lstStyle/>
          <a:p>
            <a:pPr algn="ctr">
              <a:defRPr sz="5600" b="1">
                <a:solidFill>
                  <a:srgbClr val="FFFFFF"/>
                </a:solidFill>
                <a:latin typeface="Segoe UI"/>
              </a:defRPr>
            </a:pPr>
            <a:r>
              <a:t>Thank You!</a:t>
            </a:r>
          </a:p>
        </p:txBody>
      </p:sp>
      <p:sp>
        <p:nvSpPr>
          <p:cNvPr id="5" name="Rectangle 4"/>
          <p:cNvSpPr/>
          <p:nvPr/>
        </p:nvSpPr>
        <p:spPr>
          <a:xfrm>
            <a:off x="4572000" y="2880360"/>
            <a:ext cx="301752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3108960"/>
            <a:ext cx="9144000" cy="640080"/>
          </a:xfrm>
          <a:prstGeom prst="rect">
            <a:avLst/>
          </a:prstGeom>
          <a:noFill/>
        </p:spPr>
        <p:txBody>
          <a:bodyPr wrap="square">
            <a:spAutoFit/>
          </a:bodyPr>
          <a:lstStyle/>
          <a:p>
            <a:pPr algn="ctr">
              <a:defRPr sz="2800" b="0">
                <a:solidFill>
                  <a:srgbClr val="22D3EE"/>
                </a:solidFill>
                <a:latin typeface="Segoe UI"/>
              </a:defRPr>
            </a:pPr>
            <a:r>
              <a:t>Prompt Engineering Workshop</a:t>
            </a:r>
          </a:p>
        </p:txBody>
      </p:sp>
      <p:sp>
        <p:nvSpPr>
          <p:cNvPr id="7" name="TextBox 6"/>
          <p:cNvSpPr txBox="1"/>
          <p:nvPr/>
        </p:nvSpPr>
        <p:spPr>
          <a:xfrm>
            <a:off x="1371600" y="3931920"/>
            <a:ext cx="9144000" cy="548640"/>
          </a:xfrm>
          <a:prstGeom prst="rect">
            <a:avLst/>
          </a:prstGeom>
          <a:noFill/>
        </p:spPr>
        <p:txBody>
          <a:bodyPr wrap="square">
            <a:spAutoFit/>
          </a:bodyPr>
          <a:lstStyle/>
          <a:p>
            <a:pPr algn="ctr">
              <a:defRPr sz="2000" b="0">
                <a:solidFill>
                  <a:srgbClr val="94A3B8"/>
                </a:solidFill>
                <a:latin typeface="Segoe UI"/>
              </a:defRPr>
            </a:pPr>
            <a:r>
              <a:t>Share your best prompt from today's labs!</a:t>
            </a:r>
          </a:p>
        </p:txBody>
      </p:sp>
      <p:sp>
        <p:nvSpPr>
          <p:cNvPr id="8" name="Rounded Rectangle 7"/>
          <p:cNvSpPr/>
          <p:nvPr/>
        </p:nvSpPr>
        <p:spPr>
          <a:xfrm>
            <a:off x="1828800" y="4846320"/>
            <a:ext cx="25603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65960" y="4956048"/>
            <a:ext cx="2286000" cy="457200"/>
          </a:xfrm>
          <a:prstGeom prst="rect">
            <a:avLst/>
          </a:prstGeom>
          <a:noFill/>
        </p:spPr>
        <p:txBody>
          <a:bodyPr wrap="square">
            <a:spAutoFit/>
          </a:bodyPr>
          <a:lstStyle/>
          <a:p>
            <a:pPr algn="ctr">
              <a:defRPr sz="1500" b="0">
                <a:solidFill>
                  <a:srgbClr val="38BDF8"/>
                </a:solidFill>
                <a:latin typeface="Segoe UI"/>
              </a:defRPr>
            </a:pPr>
            <a:r>
              <a:t>📓  Save your journal</a:t>
            </a:r>
          </a:p>
        </p:txBody>
      </p:sp>
      <p:sp>
        <p:nvSpPr>
          <p:cNvPr id="10" name="Rounded Rectangle 9"/>
          <p:cNvSpPr/>
          <p:nvPr/>
        </p:nvSpPr>
        <p:spPr>
          <a:xfrm>
            <a:off x="4754880" y="4846320"/>
            <a:ext cx="25603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92040" y="4956048"/>
            <a:ext cx="2286000" cy="457200"/>
          </a:xfrm>
          <a:prstGeom prst="rect">
            <a:avLst/>
          </a:prstGeom>
          <a:noFill/>
        </p:spPr>
        <p:txBody>
          <a:bodyPr wrap="square">
            <a:spAutoFit/>
          </a:bodyPr>
          <a:lstStyle/>
          <a:p>
            <a:pPr algn="ctr">
              <a:defRPr sz="1500" b="0">
                <a:solidFill>
                  <a:srgbClr val="38BDF8"/>
                </a:solidFill>
                <a:latin typeface="Segoe UI"/>
              </a:defRPr>
            </a:pPr>
            <a:r>
              <a:t>🔁  Practice weekly</a:t>
            </a:r>
          </a:p>
        </p:txBody>
      </p:sp>
      <p:sp>
        <p:nvSpPr>
          <p:cNvPr id="12" name="Rounded Rectangle 11"/>
          <p:cNvSpPr/>
          <p:nvPr/>
        </p:nvSpPr>
        <p:spPr>
          <a:xfrm>
            <a:off x="7680960" y="4846320"/>
            <a:ext cx="25603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18120" y="4956048"/>
            <a:ext cx="2286000" cy="457200"/>
          </a:xfrm>
          <a:prstGeom prst="rect">
            <a:avLst/>
          </a:prstGeom>
          <a:noFill/>
        </p:spPr>
        <p:txBody>
          <a:bodyPr wrap="square">
            <a:spAutoFit/>
          </a:bodyPr>
          <a:lstStyle/>
          <a:p>
            <a:pPr algn="ctr">
              <a:defRPr sz="1500" b="0">
                <a:solidFill>
                  <a:srgbClr val="38BDF8"/>
                </a:solidFill>
                <a:latin typeface="Segoe UI"/>
              </a:defRPr>
            </a:pPr>
            <a:r>
              <a:t>🧪  Experiment &amp; iterate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707</TotalTime>
  <Words>9704</Words>
  <Application>Microsoft Office PowerPoint</Application>
  <PresentationFormat>Widescreen</PresentationFormat>
  <Paragraphs>774</Paragraphs>
  <Slides>38</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Cascadia Code</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mahdi mansourikhah</cp:lastModifiedBy>
  <cp:revision>42</cp:revision>
  <dcterms:created xsi:type="dcterms:W3CDTF">2013-01-27T09:14:16Z</dcterms:created>
  <dcterms:modified xsi:type="dcterms:W3CDTF">2026-10-04T09:36:27Z</dcterms:modified>
  <cp:category/>
</cp:coreProperties>
</file>